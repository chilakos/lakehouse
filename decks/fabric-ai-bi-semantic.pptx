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1628"/>
          </a:solidFill>
          <a:ln w="12700">
            <a:solidFill>
              <a:srgbClr val="0A1628"/>
            </a:solidFill>
            <a:prstDash val="solid"/>
          </a:ln>
        </p:spPr>
      </p:sp>
      <p:sp>
        <p:nvSpPr>
          <p:cNvPr id="3" name="Shape 1"/>
          <p:cNvSpPr/>
          <p:nvPr/>
        </p:nvSpPr>
        <p:spPr>
          <a:xfrm>
            <a:off x="0" y="0"/>
            <a:ext cx="320040" cy="6858000"/>
          </a:xfrm>
          <a:prstGeom prst="rect">
            <a:avLst/>
          </a:prstGeom>
          <a:solidFill>
            <a:srgbClr val="2AD2C9"/>
          </a:solidFill>
          <a:ln w="12700">
            <a:solidFill>
              <a:srgbClr val="2AD2C9"/>
            </a:solidFill>
            <a:prstDash val="solid"/>
          </a:ln>
        </p:spPr>
      </p:sp>
      <p:sp>
        <p:nvSpPr>
          <p:cNvPr id="4" name="Shape 2"/>
          <p:cNvSpPr/>
          <p:nvPr/>
        </p:nvSpPr>
        <p:spPr>
          <a:xfrm>
            <a:off x="0" y="6492240"/>
            <a:ext cx="12188952" cy="365760"/>
          </a:xfrm>
          <a:prstGeom prst="rect">
            <a:avLst/>
          </a:prstGeom>
          <a:solidFill>
            <a:srgbClr val="FEDF01"/>
          </a:solidFill>
          <a:ln w="12700">
            <a:solidFill>
              <a:srgbClr val="FEDF01"/>
            </a:solidFill>
            <a:prstDash val="solid"/>
          </a:ln>
        </p:spPr>
      </p:sp>
      <p:sp>
        <p:nvSpPr>
          <p:cNvPr id="5" name="Text 3"/>
          <p:cNvSpPr/>
          <p:nvPr/>
        </p:nvSpPr>
        <p:spPr>
          <a:xfrm>
            <a:off x="685800" y="1371600"/>
            <a:ext cx="7315200" cy="2194560"/>
          </a:xfrm>
          <a:prstGeom prst="rect">
            <a:avLst/>
          </a:prstGeom>
          <a:noFill/>
          <a:ln/>
        </p:spPr>
        <p:txBody>
          <a:bodyPr wrap="square" rtlCol="0" anchor="ctr"/>
          <a:lstStyle/>
          <a:p>
            <a:pPr indent="0" marL="0">
              <a:buNone/>
            </a:pPr>
            <a:r>
              <a:rPr lang="en-US" sz="4400" b="1" dirty="0">
                <a:solidFill>
                  <a:srgbClr val="FFFFFF"/>
                </a:solidFill>
                <a:latin typeface="Arial" pitchFamily="34" charset="0"/>
                <a:ea typeface="Arial" pitchFamily="34" charset="-122"/>
                <a:cs typeface="Arial" pitchFamily="34" charset="-120"/>
              </a:rPr>
              <a:t>Define Once,</a:t>
            </a:r>
            <a:endParaRPr lang="en-US" sz="4400" dirty="0"/>
          </a:p>
          <a:p>
            <a:pPr indent="0" marL="0">
              <a:buNone/>
            </a:pPr>
            <a:r>
              <a:rPr lang="en-US" sz="4400" b="1" dirty="0">
                <a:solidFill>
                  <a:srgbClr val="FFFFFF"/>
                </a:solidFill>
                <a:latin typeface="Arial" pitchFamily="34" charset="0"/>
                <a:ea typeface="Arial" pitchFamily="34" charset="-122"/>
                <a:cs typeface="Arial" pitchFamily="34" charset="-120"/>
              </a:rPr>
              <a:t>Serve AI &amp; BI</a:t>
            </a:r>
            <a:endParaRPr lang="en-US" sz="4400" dirty="0"/>
          </a:p>
        </p:txBody>
      </p:sp>
      <p:sp>
        <p:nvSpPr>
          <p:cNvPr id="6" name="Text 4"/>
          <p:cNvSpPr/>
          <p:nvPr/>
        </p:nvSpPr>
        <p:spPr>
          <a:xfrm>
            <a:off x="685800" y="3566160"/>
            <a:ext cx="7772400" cy="731520"/>
          </a:xfrm>
          <a:prstGeom prst="rect">
            <a:avLst/>
          </a:prstGeom>
          <a:noFill/>
          <a:ln/>
        </p:spPr>
        <p:txBody>
          <a:bodyPr wrap="square" rtlCol="0" anchor="ctr"/>
          <a:lstStyle/>
          <a:p>
            <a:pPr indent="0" marL="0">
              <a:buNone/>
            </a:pPr>
            <a:r>
              <a:rPr lang="en-US" sz="1600" dirty="0">
                <a:solidFill>
                  <a:srgbClr val="2AD2C9"/>
                </a:solidFill>
                <a:latin typeface="Arial" pitchFamily="34" charset="0"/>
                <a:ea typeface="Arial" pitchFamily="34" charset="-122"/>
                <a:cs typeface="Arial" pitchFamily="34" charset="-120"/>
              </a:rPr>
              <a:t>Fabric as the unified semantic layer for Power BI and RBC Assist</a:t>
            </a:r>
            <a:endParaRPr lang="en-US" sz="1600" dirty="0"/>
          </a:p>
        </p:txBody>
      </p:sp>
      <p:sp>
        <p:nvSpPr>
          <p:cNvPr id="7" name="Shape 5"/>
          <p:cNvSpPr/>
          <p:nvPr/>
        </p:nvSpPr>
        <p:spPr>
          <a:xfrm>
            <a:off x="8961120" y="1097280"/>
            <a:ext cx="2926080" cy="4389120"/>
          </a:xfrm>
          <a:prstGeom prst="rect">
            <a:avLst>
              <a:gd name="adj" fmla="val 3125"/>
            </a:avLst>
          </a:prstGeom>
          <a:solidFill>
            <a:srgbClr val="0F1E35"/>
          </a:solidFill>
          <a:ln w="12700">
            <a:solidFill>
              <a:srgbClr val="2AD2C9"/>
            </a:solidFill>
            <a:prstDash val="solid"/>
          </a:ln>
        </p:spPr>
      </p:sp>
      <p:sp>
        <p:nvSpPr>
          <p:cNvPr id="8" name="Text 6"/>
          <p:cNvSpPr/>
          <p:nvPr/>
        </p:nvSpPr>
        <p:spPr>
          <a:xfrm>
            <a:off x="8961120" y="1234440"/>
            <a:ext cx="2926080" cy="320040"/>
          </a:xfrm>
          <a:prstGeom prst="rect">
            <a:avLst/>
          </a:prstGeom>
          <a:noFill/>
          <a:ln/>
        </p:spPr>
        <p:txBody>
          <a:bodyPr wrap="square" rtlCol="0" anchor="ctr"/>
          <a:lstStyle/>
          <a:p>
            <a:pPr algn="ctr" indent="0" marL="0">
              <a:buNone/>
            </a:pPr>
            <a:r>
              <a:rPr lang="en-US" sz="850" b="1" dirty="0">
                <a:solidFill>
                  <a:srgbClr val="2AD2C9"/>
                </a:solidFill>
                <a:latin typeface="Arial" pitchFamily="34" charset="0"/>
                <a:ea typeface="Arial" pitchFamily="34" charset="-122"/>
                <a:cs typeface="Arial" pitchFamily="34" charset="-120"/>
              </a:rPr>
              <a:t>Architecture Status</a:t>
            </a:r>
            <a:endParaRPr lang="en-US" sz="850" dirty="0"/>
          </a:p>
        </p:txBody>
      </p:sp>
      <p:sp>
        <p:nvSpPr>
          <p:cNvPr id="9" name="Shape 7"/>
          <p:cNvSpPr/>
          <p:nvPr/>
        </p:nvSpPr>
        <p:spPr>
          <a:xfrm>
            <a:off x="9144000" y="1554480"/>
            <a:ext cx="2560320" cy="9144"/>
          </a:xfrm>
          <a:prstGeom prst="rect">
            <a:avLst/>
          </a:prstGeom>
          <a:solidFill>
            <a:srgbClr val="2AD2C9"/>
          </a:solidFill>
          <a:ln w="12700">
            <a:solidFill>
              <a:srgbClr val="2AD2C9"/>
            </a:solidFill>
            <a:prstDash val="solid"/>
          </a:ln>
        </p:spPr>
      </p:sp>
      <p:sp>
        <p:nvSpPr>
          <p:cNvPr id="10" name="Shape 8"/>
          <p:cNvSpPr/>
          <p:nvPr/>
        </p:nvSpPr>
        <p:spPr>
          <a:xfrm>
            <a:off x="9235440" y="1691640"/>
            <a:ext cx="2377440" cy="530352"/>
          </a:xfrm>
          <a:prstGeom prst="rect">
            <a:avLst>
              <a:gd name="adj" fmla="val 10345"/>
            </a:avLst>
          </a:prstGeom>
          <a:solidFill>
            <a:srgbClr val="162334"/>
          </a:solidFill>
          <a:ln w="6350">
            <a:solidFill>
              <a:srgbClr val="00B050"/>
            </a:solidFill>
            <a:prstDash val="solid"/>
          </a:ln>
        </p:spPr>
      </p:sp>
      <p:sp>
        <p:nvSpPr>
          <p:cNvPr id="11" name="Shape 9"/>
          <p:cNvSpPr/>
          <p:nvPr/>
        </p:nvSpPr>
        <p:spPr>
          <a:xfrm>
            <a:off x="9326880" y="1847088"/>
            <a:ext cx="201168" cy="201168"/>
          </a:xfrm>
          <a:prstGeom prst="ellipse">
            <a:avLst/>
          </a:prstGeom>
          <a:solidFill>
            <a:srgbClr val="00B050"/>
          </a:solidFill>
          <a:ln w="12700">
            <a:solidFill>
              <a:srgbClr val="00B050"/>
            </a:solidFill>
            <a:prstDash val="solid"/>
          </a:ln>
        </p:spPr>
      </p:sp>
      <p:sp>
        <p:nvSpPr>
          <p:cNvPr id="12" name="Text 10"/>
          <p:cNvSpPr/>
          <p:nvPr/>
        </p:nvSpPr>
        <p:spPr>
          <a:xfrm>
            <a:off x="9601200" y="1691640"/>
            <a:ext cx="1463040" cy="274320"/>
          </a:xfrm>
          <a:prstGeom prst="rect">
            <a:avLst/>
          </a:prstGeom>
          <a:noFill/>
          <a:ln/>
        </p:spPr>
        <p:txBody>
          <a:bodyPr wrap="square" lIns="0" tIns="0" rIns="0" bIns="0" rtlCol="0" anchor="b"/>
          <a:lstStyle/>
          <a:p>
            <a:pPr indent="0" marL="0">
              <a:buNone/>
            </a:pPr>
            <a:r>
              <a:rPr lang="en-US" sz="900" b="1" dirty="0">
                <a:solidFill>
                  <a:srgbClr val="FFFFFF"/>
                </a:solidFill>
                <a:latin typeface="Arial" pitchFamily="34" charset="0"/>
                <a:ea typeface="Arial" pitchFamily="34" charset="-122"/>
                <a:cs typeface="Arial" pitchFamily="34" charset="-120"/>
              </a:rPr>
              <a:t>ADR-010</a:t>
            </a:r>
            <a:endParaRPr lang="en-US" sz="900" dirty="0"/>
          </a:p>
        </p:txBody>
      </p:sp>
      <p:sp>
        <p:nvSpPr>
          <p:cNvPr id="13" name="Text 11"/>
          <p:cNvSpPr/>
          <p:nvPr/>
        </p:nvSpPr>
        <p:spPr>
          <a:xfrm>
            <a:off x="9601200" y="1947672"/>
            <a:ext cx="1463040" cy="228600"/>
          </a:xfrm>
          <a:prstGeom prst="rect">
            <a:avLst/>
          </a:prstGeom>
          <a:noFill/>
          <a:ln/>
        </p:spPr>
        <p:txBody>
          <a:bodyPr wrap="square" lIns="0" tIns="0" rIns="0" bIns="0" rtlCol="0" anchor="t"/>
          <a:lstStyle/>
          <a:p>
            <a:pPr indent="0" marL="0">
              <a:buNone/>
            </a:pPr>
            <a:r>
              <a:rPr lang="en-US" sz="750" dirty="0">
                <a:solidFill>
                  <a:srgbClr val="87AFBF"/>
                </a:solidFill>
                <a:latin typeface="Arial" pitchFamily="34" charset="0"/>
                <a:ea typeface="Arial" pitchFamily="34" charset="-122"/>
                <a:cs typeface="Arial" pitchFamily="34" charset="-120"/>
              </a:rPr>
              <a:t>Confirmed</a:t>
            </a:r>
            <a:endParaRPr lang="en-US" sz="750" dirty="0"/>
          </a:p>
        </p:txBody>
      </p:sp>
      <p:sp>
        <p:nvSpPr>
          <p:cNvPr id="14" name="Shape 12"/>
          <p:cNvSpPr/>
          <p:nvPr/>
        </p:nvSpPr>
        <p:spPr>
          <a:xfrm>
            <a:off x="9235440" y="2350008"/>
            <a:ext cx="2377440" cy="530352"/>
          </a:xfrm>
          <a:prstGeom prst="rect">
            <a:avLst>
              <a:gd name="adj" fmla="val 10345"/>
            </a:avLst>
          </a:prstGeom>
          <a:solidFill>
            <a:srgbClr val="162334"/>
          </a:solidFill>
          <a:ln w="6350">
            <a:solidFill>
              <a:srgbClr val="00B050"/>
            </a:solidFill>
            <a:prstDash val="solid"/>
          </a:ln>
        </p:spPr>
      </p:sp>
      <p:sp>
        <p:nvSpPr>
          <p:cNvPr id="15" name="Shape 13"/>
          <p:cNvSpPr/>
          <p:nvPr/>
        </p:nvSpPr>
        <p:spPr>
          <a:xfrm>
            <a:off x="9326880" y="2505456"/>
            <a:ext cx="201168" cy="201168"/>
          </a:xfrm>
          <a:prstGeom prst="ellipse">
            <a:avLst/>
          </a:prstGeom>
          <a:solidFill>
            <a:srgbClr val="00B050"/>
          </a:solidFill>
          <a:ln w="12700">
            <a:solidFill>
              <a:srgbClr val="00B050"/>
            </a:solidFill>
            <a:prstDash val="solid"/>
          </a:ln>
        </p:spPr>
      </p:sp>
      <p:sp>
        <p:nvSpPr>
          <p:cNvPr id="16" name="Text 14"/>
          <p:cNvSpPr/>
          <p:nvPr/>
        </p:nvSpPr>
        <p:spPr>
          <a:xfrm>
            <a:off x="9601200" y="2350008"/>
            <a:ext cx="1463040" cy="274320"/>
          </a:xfrm>
          <a:prstGeom prst="rect">
            <a:avLst/>
          </a:prstGeom>
          <a:noFill/>
          <a:ln/>
        </p:spPr>
        <p:txBody>
          <a:bodyPr wrap="square" lIns="0" tIns="0" rIns="0" bIns="0" rtlCol="0" anchor="b"/>
          <a:lstStyle/>
          <a:p>
            <a:pPr indent="0" marL="0">
              <a:buNone/>
            </a:pPr>
            <a:r>
              <a:rPr lang="en-US" sz="900" b="1" dirty="0">
                <a:solidFill>
                  <a:srgbClr val="FFFFFF"/>
                </a:solidFill>
                <a:latin typeface="Arial" pitchFamily="34" charset="0"/>
                <a:ea typeface="Arial" pitchFamily="34" charset="-122"/>
                <a:cs typeface="Arial" pitchFamily="34" charset="-120"/>
              </a:rPr>
              <a:t>Import mode</a:t>
            </a:r>
            <a:endParaRPr lang="en-US" sz="900" dirty="0"/>
          </a:p>
        </p:txBody>
      </p:sp>
      <p:sp>
        <p:nvSpPr>
          <p:cNvPr id="17" name="Text 15"/>
          <p:cNvSpPr/>
          <p:nvPr/>
        </p:nvSpPr>
        <p:spPr>
          <a:xfrm>
            <a:off x="9601200" y="2606040"/>
            <a:ext cx="1463040" cy="228600"/>
          </a:xfrm>
          <a:prstGeom prst="rect">
            <a:avLst/>
          </a:prstGeom>
          <a:noFill/>
          <a:ln/>
        </p:spPr>
        <p:txBody>
          <a:bodyPr wrap="square" lIns="0" tIns="0" rIns="0" bIns="0" rtlCol="0" anchor="t"/>
          <a:lstStyle/>
          <a:p>
            <a:pPr indent="0" marL="0">
              <a:buNone/>
            </a:pPr>
            <a:r>
              <a:rPr lang="en-US" sz="750" dirty="0">
                <a:solidFill>
                  <a:srgbClr val="87AFBF"/>
                </a:solidFill>
                <a:latin typeface="Arial" pitchFamily="34" charset="0"/>
                <a:ea typeface="Arial" pitchFamily="34" charset="-122"/>
                <a:cs typeface="Arial" pitchFamily="34" charset="-120"/>
              </a:rPr>
              <a:t>Mandatory</a:t>
            </a:r>
            <a:endParaRPr lang="en-US" sz="750" dirty="0"/>
          </a:p>
        </p:txBody>
      </p:sp>
      <p:sp>
        <p:nvSpPr>
          <p:cNvPr id="18" name="Shape 16"/>
          <p:cNvSpPr/>
          <p:nvPr/>
        </p:nvSpPr>
        <p:spPr>
          <a:xfrm>
            <a:off x="9235440" y="3008376"/>
            <a:ext cx="2377440" cy="530352"/>
          </a:xfrm>
          <a:prstGeom prst="rect">
            <a:avLst>
              <a:gd name="adj" fmla="val 10345"/>
            </a:avLst>
          </a:prstGeom>
          <a:solidFill>
            <a:srgbClr val="162334"/>
          </a:solidFill>
          <a:ln w="6350">
            <a:solidFill>
              <a:srgbClr val="00B050"/>
            </a:solidFill>
            <a:prstDash val="solid"/>
          </a:ln>
        </p:spPr>
      </p:sp>
      <p:sp>
        <p:nvSpPr>
          <p:cNvPr id="19" name="Shape 17"/>
          <p:cNvSpPr/>
          <p:nvPr/>
        </p:nvSpPr>
        <p:spPr>
          <a:xfrm>
            <a:off x="9326880" y="3163824"/>
            <a:ext cx="201168" cy="201168"/>
          </a:xfrm>
          <a:prstGeom prst="ellipse">
            <a:avLst/>
          </a:prstGeom>
          <a:solidFill>
            <a:srgbClr val="00B050"/>
          </a:solidFill>
          <a:ln w="12700">
            <a:solidFill>
              <a:srgbClr val="00B050"/>
            </a:solidFill>
            <a:prstDash val="solid"/>
          </a:ln>
        </p:spPr>
      </p:sp>
      <p:sp>
        <p:nvSpPr>
          <p:cNvPr id="20" name="Text 18"/>
          <p:cNvSpPr/>
          <p:nvPr/>
        </p:nvSpPr>
        <p:spPr>
          <a:xfrm>
            <a:off x="9601200" y="3008376"/>
            <a:ext cx="1463040" cy="274320"/>
          </a:xfrm>
          <a:prstGeom prst="rect">
            <a:avLst/>
          </a:prstGeom>
          <a:noFill/>
          <a:ln/>
        </p:spPr>
        <p:txBody>
          <a:bodyPr wrap="square" lIns="0" tIns="0" rIns="0" bIns="0" rtlCol="0" anchor="b"/>
          <a:lstStyle/>
          <a:p>
            <a:pPr indent="0" marL="0">
              <a:buNone/>
            </a:pPr>
            <a:r>
              <a:rPr lang="en-US" sz="900" b="1" dirty="0">
                <a:solidFill>
                  <a:srgbClr val="FFFFFF"/>
                </a:solidFill>
                <a:latin typeface="Arial" pitchFamily="34" charset="0"/>
                <a:ea typeface="Arial" pitchFamily="34" charset="-122"/>
                <a:cs typeface="Arial" pitchFamily="34" charset="-120"/>
              </a:rPr>
              <a:t>RBC Assist</a:t>
            </a:r>
            <a:endParaRPr lang="en-US" sz="900" dirty="0"/>
          </a:p>
        </p:txBody>
      </p:sp>
      <p:sp>
        <p:nvSpPr>
          <p:cNvPr id="21" name="Text 19"/>
          <p:cNvSpPr/>
          <p:nvPr/>
        </p:nvSpPr>
        <p:spPr>
          <a:xfrm>
            <a:off x="9601200" y="3264408"/>
            <a:ext cx="1463040" cy="228600"/>
          </a:xfrm>
          <a:prstGeom prst="rect">
            <a:avLst/>
          </a:prstGeom>
          <a:noFill/>
          <a:ln/>
        </p:spPr>
        <p:txBody>
          <a:bodyPr wrap="square" lIns="0" tIns="0" rIns="0" bIns="0" rtlCol="0" anchor="t"/>
          <a:lstStyle/>
          <a:p>
            <a:pPr indent="0" marL="0">
              <a:buNone/>
            </a:pPr>
            <a:r>
              <a:rPr lang="en-US" sz="750" dirty="0">
                <a:solidFill>
                  <a:srgbClr val="87AFBF"/>
                </a:solidFill>
                <a:latin typeface="Arial" pitchFamily="34" charset="0"/>
                <a:ea typeface="Arial" pitchFamily="34" charset="-122"/>
                <a:cs typeface="Arial" pitchFamily="34" charset="-120"/>
              </a:rPr>
              <a:t>Connected</a:t>
            </a:r>
            <a:endParaRPr lang="en-US" sz="750" dirty="0"/>
          </a:p>
        </p:txBody>
      </p:sp>
      <p:sp>
        <p:nvSpPr>
          <p:cNvPr id="22" name="Shape 20"/>
          <p:cNvSpPr/>
          <p:nvPr/>
        </p:nvSpPr>
        <p:spPr>
          <a:xfrm>
            <a:off x="9235440" y="3666744"/>
            <a:ext cx="2377440" cy="530352"/>
          </a:xfrm>
          <a:prstGeom prst="rect">
            <a:avLst>
              <a:gd name="adj" fmla="val 10345"/>
            </a:avLst>
          </a:prstGeom>
          <a:solidFill>
            <a:srgbClr val="162334"/>
          </a:solidFill>
          <a:ln w="6350">
            <a:solidFill>
              <a:srgbClr val="00B050"/>
            </a:solidFill>
            <a:prstDash val="solid"/>
          </a:ln>
        </p:spPr>
      </p:sp>
      <p:sp>
        <p:nvSpPr>
          <p:cNvPr id="23" name="Shape 21"/>
          <p:cNvSpPr/>
          <p:nvPr/>
        </p:nvSpPr>
        <p:spPr>
          <a:xfrm>
            <a:off x="9326880" y="3822192"/>
            <a:ext cx="201168" cy="201168"/>
          </a:xfrm>
          <a:prstGeom prst="ellipse">
            <a:avLst/>
          </a:prstGeom>
          <a:solidFill>
            <a:srgbClr val="00B050"/>
          </a:solidFill>
          <a:ln w="12700">
            <a:solidFill>
              <a:srgbClr val="00B050"/>
            </a:solidFill>
            <a:prstDash val="solid"/>
          </a:ln>
        </p:spPr>
      </p:sp>
      <p:sp>
        <p:nvSpPr>
          <p:cNvPr id="24" name="Text 22"/>
          <p:cNvSpPr/>
          <p:nvPr/>
        </p:nvSpPr>
        <p:spPr>
          <a:xfrm>
            <a:off x="9601200" y="3666744"/>
            <a:ext cx="1463040" cy="274320"/>
          </a:xfrm>
          <a:prstGeom prst="rect">
            <a:avLst/>
          </a:prstGeom>
          <a:noFill/>
          <a:ln/>
        </p:spPr>
        <p:txBody>
          <a:bodyPr wrap="square" lIns="0" tIns="0" rIns="0" bIns="0" rtlCol="0" anchor="b"/>
          <a:lstStyle/>
          <a:p>
            <a:pPr indent="0" marL="0">
              <a:buNone/>
            </a:pPr>
            <a:r>
              <a:rPr lang="en-US" sz="900" b="1" dirty="0">
                <a:solidFill>
                  <a:srgbClr val="FFFFFF"/>
                </a:solidFill>
                <a:latin typeface="Arial" pitchFamily="34" charset="0"/>
                <a:ea typeface="Arial" pitchFamily="34" charset="-122"/>
                <a:cs typeface="Arial" pitchFamily="34" charset="-120"/>
              </a:rPr>
              <a:t>Power BI</a:t>
            </a:r>
            <a:endParaRPr lang="en-US" sz="900" dirty="0"/>
          </a:p>
        </p:txBody>
      </p:sp>
      <p:sp>
        <p:nvSpPr>
          <p:cNvPr id="25" name="Text 23"/>
          <p:cNvSpPr/>
          <p:nvPr/>
        </p:nvSpPr>
        <p:spPr>
          <a:xfrm>
            <a:off x="9601200" y="3922776"/>
            <a:ext cx="1463040" cy="228600"/>
          </a:xfrm>
          <a:prstGeom prst="rect">
            <a:avLst/>
          </a:prstGeom>
          <a:noFill/>
          <a:ln/>
        </p:spPr>
        <p:txBody>
          <a:bodyPr wrap="square" lIns="0" tIns="0" rIns="0" bIns="0" rtlCol="0" anchor="t"/>
          <a:lstStyle/>
          <a:p>
            <a:pPr indent="0" marL="0">
              <a:buNone/>
            </a:pPr>
            <a:r>
              <a:rPr lang="en-US" sz="750" dirty="0">
                <a:solidFill>
                  <a:srgbClr val="87AFBF"/>
                </a:solidFill>
                <a:latin typeface="Arial" pitchFamily="34" charset="0"/>
                <a:ea typeface="Arial" pitchFamily="34" charset="-122"/>
                <a:cs typeface="Arial" pitchFamily="34" charset="-120"/>
              </a:rPr>
              <a:t>1,000+ reports</a:t>
            </a:r>
            <a:endParaRPr lang="en-US" sz="750" dirty="0"/>
          </a:p>
        </p:txBody>
      </p:sp>
      <p:sp>
        <p:nvSpPr>
          <p:cNvPr id="26" name="Shape 24"/>
          <p:cNvSpPr/>
          <p:nvPr/>
        </p:nvSpPr>
        <p:spPr>
          <a:xfrm>
            <a:off x="9235440" y="4325112"/>
            <a:ext cx="2377440" cy="530352"/>
          </a:xfrm>
          <a:prstGeom prst="rect">
            <a:avLst>
              <a:gd name="adj" fmla="val 10345"/>
            </a:avLst>
          </a:prstGeom>
          <a:solidFill>
            <a:srgbClr val="162334"/>
          </a:solidFill>
          <a:ln w="6350">
            <a:solidFill>
              <a:srgbClr val="F26B43"/>
            </a:solidFill>
            <a:prstDash val="solid"/>
          </a:ln>
        </p:spPr>
      </p:sp>
      <p:sp>
        <p:nvSpPr>
          <p:cNvPr id="27" name="Shape 25"/>
          <p:cNvSpPr/>
          <p:nvPr/>
        </p:nvSpPr>
        <p:spPr>
          <a:xfrm>
            <a:off x="9326880" y="4480560"/>
            <a:ext cx="201168" cy="201168"/>
          </a:xfrm>
          <a:prstGeom prst="ellipse">
            <a:avLst/>
          </a:prstGeom>
          <a:solidFill>
            <a:srgbClr val="F26B43"/>
          </a:solidFill>
          <a:ln w="12700">
            <a:solidFill>
              <a:srgbClr val="F26B43"/>
            </a:solidFill>
            <a:prstDash val="solid"/>
          </a:ln>
        </p:spPr>
      </p:sp>
      <p:sp>
        <p:nvSpPr>
          <p:cNvPr id="28" name="Text 26"/>
          <p:cNvSpPr/>
          <p:nvPr/>
        </p:nvSpPr>
        <p:spPr>
          <a:xfrm>
            <a:off x="9601200" y="4325112"/>
            <a:ext cx="1463040" cy="274320"/>
          </a:xfrm>
          <a:prstGeom prst="rect">
            <a:avLst/>
          </a:prstGeom>
          <a:noFill/>
          <a:ln/>
        </p:spPr>
        <p:txBody>
          <a:bodyPr wrap="square" lIns="0" tIns="0" rIns="0" bIns="0" rtlCol="0" anchor="b"/>
          <a:lstStyle/>
          <a:p>
            <a:pPr indent="0" marL="0">
              <a:buNone/>
            </a:pPr>
            <a:r>
              <a:rPr lang="en-US" sz="900" b="1" dirty="0">
                <a:solidFill>
                  <a:srgbClr val="FFFFFF"/>
                </a:solidFill>
                <a:latin typeface="Arial" pitchFamily="34" charset="0"/>
                <a:ea typeface="Arial" pitchFamily="34" charset="-122"/>
                <a:cs typeface="Arial" pitchFamily="34" charset="-120"/>
              </a:rPr>
              <a:t>Cube.dev</a:t>
            </a:r>
            <a:endParaRPr lang="en-US" sz="900" dirty="0"/>
          </a:p>
        </p:txBody>
      </p:sp>
      <p:sp>
        <p:nvSpPr>
          <p:cNvPr id="29" name="Text 27"/>
          <p:cNvSpPr/>
          <p:nvPr/>
        </p:nvSpPr>
        <p:spPr>
          <a:xfrm>
            <a:off x="9601200" y="4581144"/>
            <a:ext cx="1463040" cy="228600"/>
          </a:xfrm>
          <a:prstGeom prst="rect">
            <a:avLst/>
          </a:prstGeom>
          <a:noFill/>
          <a:ln/>
        </p:spPr>
        <p:txBody>
          <a:bodyPr wrap="square" lIns="0" tIns="0" rIns="0" bIns="0" rtlCol="0" anchor="t"/>
          <a:lstStyle/>
          <a:p>
            <a:pPr indent="0" marL="0">
              <a:buNone/>
            </a:pPr>
            <a:r>
              <a:rPr lang="en-US" sz="750" dirty="0">
                <a:solidFill>
                  <a:srgbClr val="87AFBF"/>
                </a:solidFill>
                <a:latin typeface="Arial" pitchFamily="34" charset="0"/>
                <a:ea typeface="Arial" pitchFamily="34" charset="-122"/>
                <a:cs typeface="Arial" pitchFamily="34" charset="-120"/>
              </a:rPr>
              <a:t>Retiring</a:t>
            </a:r>
            <a:endParaRPr lang="en-US" sz="750" dirty="0"/>
          </a:p>
        </p:txBody>
      </p:sp>
      <p:sp>
        <p:nvSpPr>
          <p:cNvPr id="30" name="Text 28"/>
          <p:cNvSpPr/>
          <p:nvPr/>
        </p:nvSpPr>
        <p:spPr>
          <a:xfrm>
            <a:off x="685800" y="6446520"/>
            <a:ext cx="7315200" cy="201168"/>
          </a:xfrm>
          <a:prstGeom prst="rect">
            <a:avLst/>
          </a:prstGeom>
          <a:noFill/>
          <a:ln/>
        </p:spPr>
        <p:txBody>
          <a:bodyPr wrap="square" rtlCol="0" anchor="ctr"/>
          <a:lstStyle/>
          <a:p>
            <a:pPr indent="0" marL="0">
              <a:buNone/>
            </a:pPr>
            <a:r>
              <a:rPr lang="en-US" sz="800" dirty="0">
                <a:solidFill>
                  <a:srgbClr val="0A1628"/>
                </a:solidFill>
                <a:latin typeface="Arial" pitchFamily="34" charset="0"/>
                <a:ea typeface="Arial" pitchFamily="34" charset="-122"/>
                <a:cs typeface="Arial" pitchFamily="34" charset="-120"/>
              </a:rPr>
              <a:t>April 2026 · Lumina Enterprise Data</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3F4FB"/>
          </a:solidFill>
          <a:ln w="12700">
            <a:solidFill>
              <a:srgbClr val="F3F4FB"/>
            </a:solidFill>
            <a:prstDash val="solid"/>
          </a:ln>
        </p:spPr>
      </p:sp>
      <p:sp>
        <p:nvSpPr>
          <p:cNvPr id="3" name="Text 1"/>
          <p:cNvSpPr/>
          <p:nvPr/>
        </p:nvSpPr>
        <p:spPr>
          <a:xfrm>
            <a:off x="274320" y="45720"/>
            <a:ext cx="6400800" cy="164592"/>
          </a:xfrm>
          <a:prstGeom prst="rect">
            <a:avLst/>
          </a:prstGeom>
          <a:noFill/>
          <a:ln/>
        </p:spPr>
        <p:txBody>
          <a:bodyPr wrap="square" rtlCol="0" anchor="ctr"/>
          <a:lstStyle/>
          <a:p>
            <a:pPr indent="0" marL="0">
              <a:buNone/>
            </a:pPr>
            <a:r>
              <a:rPr lang="en-US" sz="700" dirty="0">
                <a:solidFill>
                  <a:srgbClr val="87AFBF"/>
                </a:solidFill>
                <a:latin typeface="Arial" pitchFamily="34" charset="0"/>
                <a:ea typeface="Arial" pitchFamily="34" charset="-122"/>
                <a:cs typeface="Arial" pitchFamily="34" charset="-120"/>
              </a:rPr>
              <a:t>Confidential — Internal Use Only</a:t>
            </a:r>
            <a:endParaRPr lang="en-US" sz="700" dirty="0"/>
          </a:p>
        </p:txBody>
      </p:sp>
      <p:sp>
        <p:nvSpPr>
          <p:cNvPr id="4" name="Text 2"/>
          <p:cNvSpPr/>
          <p:nvPr/>
        </p:nvSpPr>
        <p:spPr>
          <a:xfrm>
            <a:off x="8686800" y="45720"/>
            <a:ext cx="3291840" cy="164592"/>
          </a:xfrm>
          <a:prstGeom prst="rect">
            <a:avLst/>
          </a:prstGeom>
          <a:noFill/>
          <a:ln/>
        </p:spPr>
        <p:txBody>
          <a:bodyPr wrap="square" rtlCol="0" anchor="ctr"/>
          <a:lstStyle/>
          <a:p>
            <a:pPr algn="r" indent="0" marL="0">
              <a:buNone/>
            </a:pPr>
            <a:r>
              <a:rPr lang="en-US" sz="700" dirty="0">
                <a:solidFill>
                  <a:srgbClr val="87AFBF"/>
                </a:solidFill>
                <a:latin typeface="Arial" pitchFamily="34" charset="0"/>
                <a:ea typeface="Arial" pitchFamily="34" charset="-122"/>
                <a:cs typeface="Arial" pitchFamily="34" charset="-120"/>
              </a:rPr>
              <a:t>Lumina · RBC Enterprise Data</a:t>
            </a:r>
            <a:endParaRPr lang="en-US" sz="700" dirty="0"/>
          </a:p>
        </p:txBody>
      </p:sp>
      <p:sp>
        <p:nvSpPr>
          <p:cNvPr id="5" name="Text 3"/>
          <p:cNvSpPr/>
          <p:nvPr/>
        </p:nvSpPr>
        <p:spPr>
          <a:xfrm>
            <a:off x="11704320" y="6583680"/>
            <a:ext cx="365760" cy="182880"/>
          </a:xfrm>
          <a:prstGeom prst="rect">
            <a:avLst/>
          </a:prstGeom>
          <a:noFill/>
          <a:ln/>
        </p:spPr>
        <p:txBody>
          <a:bodyPr wrap="square" rtlCol="0" anchor="ctr"/>
          <a:lstStyle/>
          <a:p>
            <a:pPr algn="r" indent="0" marL="0">
              <a:buNone/>
            </a:pPr>
            <a:r>
              <a:rPr lang="en-US" sz="900" dirty="0">
                <a:solidFill>
                  <a:srgbClr val="87AFBF"/>
                </a:solidFill>
                <a:latin typeface="Arial" pitchFamily="34" charset="0"/>
                <a:ea typeface="Arial" pitchFamily="34" charset="-122"/>
                <a:cs typeface="Arial" pitchFamily="34" charset="-120"/>
              </a:rPr>
              <a:t>2</a:t>
            </a:r>
            <a:endParaRPr lang="en-US" sz="900" dirty="0"/>
          </a:p>
        </p:txBody>
      </p:sp>
      <p:sp>
        <p:nvSpPr>
          <p:cNvPr id="6" name="Text 4"/>
          <p:cNvSpPr/>
          <p:nvPr/>
        </p:nvSpPr>
        <p:spPr>
          <a:xfrm>
            <a:off x="457200" y="347472"/>
            <a:ext cx="8229600" cy="502920"/>
          </a:xfrm>
          <a:prstGeom prst="rect">
            <a:avLst/>
          </a:prstGeom>
          <a:noFill/>
          <a:ln/>
        </p:spPr>
        <p:txBody>
          <a:bodyPr wrap="square" rtlCol="0" anchor="ctr"/>
          <a:lstStyle/>
          <a:p>
            <a:pPr indent="0" marL="0">
              <a:buNone/>
            </a:pPr>
            <a:r>
              <a:rPr lang="en-US" sz="2800" b="1" dirty="0">
                <a:solidFill>
                  <a:srgbClr val="003068"/>
                </a:solidFill>
                <a:latin typeface="Arial" pitchFamily="34" charset="0"/>
                <a:ea typeface="Arial" pitchFamily="34" charset="-122"/>
                <a:cs typeface="Arial" pitchFamily="34" charset="-120"/>
              </a:rPr>
              <a:t>The Core Insight</a:t>
            </a:r>
            <a:endParaRPr lang="en-US" sz="2800" dirty="0"/>
          </a:p>
        </p:txBody>
      </p:sp>
      <p:sp>
        <p:nvSpPr>
          <p:cNvPr id="7" name="Shape 5"/>
          <p:cNvSpPr/>
          <p:nvPr/>
        </p:nvSpPr>
        <p:spPr>
          <a:xfrm>
            <a:off x="457200" y="877824"/>
            <a:ext cx="11274552" cy="22860"/>
          </a:xfrm>
          <a:prstGeom prst="rect">
            <a:avLst/>
          </a:prstGeom>
          <a:solidFill>
            <a:srgbClr val="87AFBF"/>
          </a:solidFill>
          <a:ln w="12700">
            <a:solidFill>
              <a:srgbClr val="87AFBF"/>
            </a:solidFill>
            <a:prstDash val="solid"/>
          </a:ln>
        </p:spPr>
      </p:sp>
      <p:sp>
        <p:nvSpPr>
          <p:cNvPr id="8" name="Shape 6"/>
          <p:cNvSpPr/>
          <p:nvPr/>
        </p:nvSpPr>
        <p:spPr>
          <a:xfrm>
            <a:off x="457200" y="1051560"/>
            <a:ext cx="11274552" cy="1691640"/>
          </a:xfrm>
          <a:prstGeom prst="rect">
            <a:avLst>
              <a:gd name="adj" fmla="val 5405"/>
            </a:avLst>
          </a:prstGeom>
          <a:solidFill>
            <a:srgbClr val="003068"/>
          </a:solidFill>
          <a:ln w="12700">
            <a:solidFill>
              <a:srgbClr val="003068"/>
            </a:solidFill>
            <a:prstDash val="solid"/>
          </a:ln>
        </p:spPr>
      </p:sp>
      <p:sp>
        <p:nvSpPr>
          <p:cNvPr id="9" name="Shape 7"/>
          <p:cNvSpPr/>
          <p:nvPr/>
        </p:nvSpPr>
        <p:spPr>
          <a:xfrm>
            <a:off x="457200" y="1051560"/>
            <a:ext cx="320040" cy="1691640"/>
          </a:xfrm>
          <a:prstGeom prst="rect">
            <a:avLst/>
          </a:prstGeom>
          <a:solidFill>
            <a:srgbClr val="2AD2C9"/>
          </a:solidFill>
          <a:ln w="12700">
            <a:solidFill>
              <a:srgbClr val="2AD2C9"/>
            </a:solidFill>
            <a:prstDash val="solid"/>
          </a:ln>
        </p:spPr>
      </p:sp>
      <p:sp>
        <p:nvSpPr>
          <p:cNvPr id="10" name="Text 8"/>
          <p:cNvSpPr/>
          <p:nvPr/>
        </p:nvSpPr>
        <p:spPr>
          <a:xfrm>
            <a:off x="914400" y="1115568"/>
            <a:ext cx="10607040" cy="1554480"/>
          </a:xfrm>
          <a:prstGeom prst="rect">
            <a:avLst/>
          </a:prstGeom>
          <a:noFill/>
          <a:ln/>
        </p:spPr>
        <p:txBody>
          <a:bodyPr wrap="square" rtlCol="0" anchor="ctr"/>
          <a:lstStyle/>
          <a:p>
            <a:pPr indent="0" marL="0">
              <a:buNone/>
            </a:pPr>
            <a:r>
              <a:rPr lang="en-US" sz="2000" dirty="0">
                <a:solidFill>
                  <a:srgbClr val="FFFFFF"/>
                </a:solidFill>
                <a:latin typeface="Arial" pitchFamily="34" charset="0"/>
                <a:ea typeface="Arial" pitchFamily="34" charset="-122"/>
                <a:cs typeface="Arial" pitchFamily="34" charset="-120"/>
              </a:rPr>
              <a:t>Fabric already solves "define once, serve AI and BI" for the Power BI + RBC Assist pair today.</a:t>
            </a:r>
            <a:endParaRPr lang="en-US" sz="2000" dirty="0"/>
          </a:p>
        </p:txBody>
      </p:sp>
      <p:sp>
        <p:nvSpPr>
          <p:cNvPr id="11" name="Shape 9"/>
          <p:cNvSpPr/>
          <p:nvPr/>
        </p:nvSpPr>
        <p:spPr>
          <a:xfrm>
            <a:off x="457200" y="2926080"/>
            <a:ext cx="3566160" cy="3639312"/>
          </a:xfrm>
          <a:prstGeom prst="rect">
            <a:avLst>
              <a:gd name="adj" fmla="val 2564"/>
            </a:avLst>
          </a:prstGeom>
          <a:solidFill>
            <a:srgbClr val="F3F4FB"/>
          </a:solidFill>
          <a:ln w="12700">
            <a:solidFill>
              <a:srgbClr val="3068FF"/>
            </a:solidFill>
            <a:prstDash val="solid"/>
          </a:ln>
        </p:spPr>
      </p:sp>
      <p:sp>
        <p:nvSpPr>
          <p:cNvPr id="12" name="Shape 10"/>
          <p:cNvSpPr/>
          <p:nvPr/>
        </p:nvSpPr>
        <p:spPr>
          <a:xfrm>
            <a:off x="640080" y="3072384"/>
            <a:ext cx="502920" cy="502920"/>
          </a:xfrm>
          <a:prstGeom prst="ellipse">
            <a:avLst/>
          </a:prstGeom>
          <a:solidFill>
            <a:srgbClr val="3068FF"/>
          </a:solidFill>
          <a:ln w="12700">
            <a:solidFill>
              <a:srgbClr val="3068FF"/>
            </a:solidFill>
            <a:prstDash val="solid"/>
          </a:ln>
        </p:spPr>
      </p:sp>
      <p:sp>
        <p:nvSpPr>
          <p:cNvPr id="13" name="Text 11"/>
          <p:cNvSpPr/>
          <p:nvPr/>
        </p:nvSpPr>
        <p:spPr>
          <a:xfrm>
            <a:off x="640080" y="3072384"/>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①</a:t>
            </a:r>
            <a:endParaRPr lang="en-US" sz="1400" dirty="0"/>
          </a:p>
        </p:txBody>
      </p:sp>
      <p:sp>
        <p:nvSpPr>
          <p:cNvPr id="14" name="Text 12"/>
          <p:cNvSpPr/>
          <p:nvPr/>
        </p:nvSpPr>
        <p:spPr>
          <a:xfrm>
            <a:off x="1234440" y="3072384"/>
            <a:ext cx="2606040" cy="502920"/>
          </a:xfrm>
          <a:prstGeom prst="rect">
            <a:avLst/>
          </a:prstGeom>
          <a:noFill/>
          <a:ln/>
        </p:spPr>
        <p:txBody>
          <a:bodyPr wrap="square" lIns="0" tIns="0" rIns="0" bIns="0" rtlCol="0" anchor="ctr"/>
          <a:lstStyle/>
          <a:p>
            <a:pPr indent="0" marL="0">
              <a:buNone/>
            </a:pPr>
            <a:r>
              <a:rPr lang="en-US" sz="1300" b="1" dirty="0">
                <a:solidFill>
                  <a:srgbClr val="003068"/>
                </a:solidFill>
                <a:latin typeface="Arial" pitchFamily="34" charset="0"/>
                <a:ea typeface="Arial" pitchFamily="34" charset="-122"/>
                <a:cs typeface="Arial" pitchFamily="34" charset="-120"/>
              </a:rPr>
              <a:t>One metric definition</a:t>
            </a:r>
            <a:endParaRPr lang="en-US" sz="1300" dirty="0"/>
          </a:p>
        </p:txBody>
      </p:sp>
      <p:sp>
        <p:nvSpPr>
          <p:cNvPr id="15" name="Text 13"/>
          <p:cNvSpPr/>
          <p:nvPr/>
        </p:nvSpPr>
        <p:spPr>
          <a:xfrm>
            <a:off x="640080" y="3657600"/>
            <a:ext cx="3200400" cy="1691640"/>
          </a:xfrm>
          <a:prstGeom prst="rect">
            <a:avLst/>
          </a:prstGeom>
          <a:noFill/>
          <a:ln/>
        </p:spPr>
        <p:txBody>
          <a:bodyPr wrap="square" rtlCol="0" anchor="t"/>
          <a:lstStyle/>
          <a:p>
            <a:pPr indent="0" marL="0">
              <a:buNone/>
            </a:pPr>
            <a:r>
              <a:rPr lang="en-US" sz="1050" dirty="0">
                <a:solidFill>
                  <a:srgbClr val="222730"/>
                </a:solidFill>
                <a:latin typeface="Arial" pitchFamily="34" charset="0"/>
                <a:ea typeface="Arial" pitchFamily="34" charset="-122"/>
                <a:cs typeface="Arial" pitchFamily="34" charset="-120"/>
              </a:rPr>
              <a:t>DAX measures in the Fabric semantic model are the single source of truth. Net Interest Income, VaR 95, LCR Ratio — defined once, consumed by every tool that reads the Fabric model. Change a definition once and every dashboard and AI query updates in the same refresh cycle.</a:t>
            </a:r>
            <a:endParaRPr lang="en-US" sz="1050" dirty="0"/>
          </a:p>
        </p:txBody>
      </p:sp>
      <p:sp>
        <p:nvSpPr>
          <p:cNvPr id="16" name="Shape 14"/>
          <p:cNvSpPr/>
          <p:nvPr/>
        </p:nvSpPr>
        <p:spPr>
          <a:xfrm>
            <a:off x="594360" y="5486400"/>
            <a:ext cx="3291840" cy="868680"/>
          </a:xfrm>
          <a:prstGeom prst="rect">
            <a:avLst>
              <a:gd name="adj" fmla="val 6316"/>
            </a:avLst>
          </a:prstGeom>
          <a:solidFill>
            <a:srgbClr val="DEE5EF"/>
          </a:solidFill>
          <a:ln w="6350">
            <a:solidFill>
              <a:srgbClr val="87AFBF"/>
            </a:solidFill>
            <a:prstDash val="solid"/>
          </a:ln>
        </p:spPr>
      </p:sp>
      <p:sp>
        <p:nvSpPr>
          <p:cNvPr id="17" name="Shape 15"/>
          <p:cNvSpPr/>
          <p:nvPr/>
        </p:nvSpPr>
        <p:spPr>
          <a:xfrm>
            <a:off x="594360" y="5486400"/>
            <a:ext cx="54864" cy="868680"/>
          </a:xfrm>
          <a:prstGeom prst="rect">
            <a:avLst/>
          </a:prstGeom>
          <a:solidFill>
            <a:srgbClr val="3068FF"/>
          </a:solidFill>
          <a:ln w="12700">
            <a:solidFill>
              <a:srgbClr val="3068FF"/>
            </a:solidFill>
            <a:prstDash val="solid"/>
          </a:ln>
        </p:spPr>
      </p:sp>
      <p:sp>
        <p:nvSpPr>
          <p:cNvPr id="18" name="Text 16"/>
          <p:cNvSpPr/>
          <p:nvPr/>
        </p:nvSpPr>
        <p:spPr>
          <a:xfrm>
            <a:off x="713232" y="5513832"/>
            <a:ext cx="3063240" cy="804672"/>
          </a:xfrm>
          <a:prstGeom prst="rect">
            <a:avLst/>
          </a:prstGeom>
          <a:noFill/>
          <a:ln/>
        </p:spPr>
        <p:txBody>
          <a:bodyPr wrap="square" rtlCol="0" anchor="t"/>
          <a:lstStyle/>
          <a:p>
            <a:pPr indent="0" marL="0">
              <a:buNone/>
            </a:pPr>
            <a:r>
              <a:rPr lang="en-US" sz="850" b="1" dirty="0">
                <a:solidFill>
                  <a:srgbClr val="003068"/>
                </a:solidFill>
                <a:latin typeface="Arial" pitchFamily="34" charset="0"/>
                <a:ea typeface="Arial" pitchFamily="34" charset="-122"/>
                <a:cs typeface="Arial" pitchFamily="34" charset="-120"/>
              </a:rPr>
              <a:t>Governance: </a:t>
            </a:r>
            <a:pPr indent="0" marL="0">
              <a:buNone/>
            </a:pPr>
            <a:r>
              <a:rPr lang="en-US" sz="850" dirty="0">
                <a:solidFill>
                  <a:srgbClr val="222730"/>
                </a:solidFill>
                <a:latin typeface="Arial" pitchFamily="34" charset="0"/>
                <a:ea typeface="Arial" pitchFamily="34" charset="-122"/>
                <a:cs typeface="Arial" pitchFamily="34" charset="-120"/>
              </a:rPr>
              <a:t>Finance, Risk, and Compliance agree on one definition. Audit question "how is NII calculated?" has a single answer.</a:t>
            </a:r>
            <a:endParaRPr lang="en-US" sz="850" dirty="0"/>
          </a:p>
        </p:txBody>
      </p:sp>
      <p:sp>
        <p:nvSpPr>
          <p:cNvPr id="19" name="Shape 17"/>
          <p:cNvSpPr/>
          <p:nvPr/>
        </p:nvSpPr>
        <p:spPr>
          <a:xfrm>
            <a:off x="4261104" y="2926080"/>
            <a:ext cx="3566160" cy="3639312"/>
          </a:xfrm>
          <a:prstGeom prst="rect">
            <a:avLst>
              <a:gd name="adj" fmla="val 2564"/>
            </a:avLst>
          </a:prstGeom>
          <a:solidFill>
            <a:srgbClr val="F3F4FB"/>
          </a:solidFill>
          <a:ln w="12700">
            <a:solidFill>
              <a:srgbClr val="2AD2C9"/>
            </a:solidFill>
            <a:prstDash val="solid"/>
          </a:ln>
        </p:spPr>
      </p:sp>
      <p:sp>
        <p:nvSpPr>
          <p:cNvPr id="20" name="Shape 18"/>
          <p:cNvSpPr/>
          <p:nvPr/>
        </p:nvSpPr>
        <p:spPr>
          <a:xfrm>
            <a:off x="4443984" y="3072384"/>
            <a:ext cx="502920" cy="502920"/>
          </a:xfrm>
          <a:prstGeom prst="ellipse">
            <a:avLst/>
          </a:prstGeom>
          <a:solidFill>
            <a:srgbClr val="2AD2C9"/>
          </a:solidFill>
          <a:ln w="12700">
            <a:solidFill>
              <a:srgbClr val="2AD2C9"/>
            </a:solidFill>
            <a:prstDash val="solid"/>
          </a:ln>
        </p:spPr>
      </p:sp>
      <p:sp>
        <p:nvSpPr>
          <p:cNvPr id="21" name="Text 19"/>
          <p:cNvSpPr/>
          <p:nvPr/>
        </p:nvSpPr>
        <p:spPr>
          <a:xfrm>
            <a:off x="4443984" y="3072384"/>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②</a:t>
            </a:r>
            <a:endParaRPr lang="en-US" sz="1400" dirty="0"/>
          </a:p>
        </p:txBody>
      </p:sp>
      <p:sp>
        <p:nvSpPr>
          <p:cNvPr id="22" name="Text 20"/>
          <p:cNvSpPr/>
          <p:nvPr/>
        </p:nvSpPr>
        <p:spPr>
          <a:xfrm>
            <a:off x="5038344" y="3072384"/>
            <a:ext cx="2606040" cy="502920"/>
          </a:xfrm>
          <a:prstGeom prst="rect">
            <a:avLst/>
          </a:prstGeom>
          <a:noFill/>
          <a:ln/>
        </p:spPr>
        <p:txBody>
          <a:bodyPr wrap="square" lIns="0" tIns="0" rIns="0" bIns="0" rtlCol="0" anchor="ctr"/>
          <a:lstStyle/>
          <a:p>
            <a:pPr indent="0" marL="0">
              <a:buNone/>
            </a:pPr>
            <a:r>
              <a:rPr lang="en-US" sz="1300" b="1" dirty="0">
                <a:solidFill>
                  <a:srgbClr val="003068"/>
                </a:solidFill>
                <a:latin typeface="Arial" pitchFamily="34" charset="0"/>
                <a:ea typeface="Arial" pitchFamily="34" charset="-122"/>
                <a:cs typeface="Arial" pitchFamily="34" charset="-120"/>
              </a:rPr>
              <a:t>Same number, BI and AI</a:t>
            </a:r>
            <a:endParaRPr lang="en-US" sz="1300" dirty="0"/>
          </a:p>
        </p:txBody>
      </p:sp>
      <p:sp>
        <p:nvSpPr>
          <p:cNvPr id="23" name="Text 21"/>
          <p:cNvSpPr/>
          <p:nvPr/>
        </p:nvSpPr>
        <p:spPr>
          <a:xfrm>
            <a:off x="4443984" y="3657600"/>
            <a:ext cx="3200400" cy="1691640"/>
          </a:xfrm>
          <a:prstGeom prst="rect">
            <a:avLst/>
          </a:prstGeom>
          <a:noFill/>
          <a:ln/>
        </p:spPr>
        <p:txBody>
          <a:bodyPr wrap="square" rtlCol="0" anchor="t"/>
          <a:lstStyle/>
          <a:p>
            <a:pPr indent="0" marL="0">
              <a:buNone/>
            </a:pPr>
            <a:r>
              <a:rPr lang="en-US" sz="1050" dirty="0">
                <a:solidFill>
                  <a:srgbClr val="222730"/>
                </a:solidFill>
                <a:latin typeface="Arial" pitchFamily="34" charset="0"/>
                <a:ea typeface="Arial" pitchFamily="34" charset="-122"/>
                <a:cs typeface="Arial" pitchFamily="34" charset="-120"/>
              </a:rPr>
              <a:t>A Power BI visual and an RBC Assist NL query call the identical DAX measure. The Fabric Data Agent translates natural language to DAX — the same certified calculation. Both surfaces return the same number, calculated the same way, from the same Gold source table.</a:t>
            </a:r>
            <a:endParaRPr lang="en-US" sz="1050" dirty="0"/>
          </a:p>
        </p:txBody>
      </p:sp>
      <p:sp>
        <p:nvSpPr>
          <p:cNvPr id="24" name="Shape 22"/>
          <p:cNvSpPr/>
          <p:nvPr/>
        </p:nvSpPr>
        <p:spPr>
          <a:xfrm>
            <a:off x="4398264" y="5486400"/>
            <a:ext cx="3291840" cy="868680"/>
          </a:xfrm>
          <a:prstGeom prst="rect">
            <a:avLst>
              <a:gd name="adj" fmla="val 6316"/>
            </a:avLst>
          </a:prstGeom>
          <a:solidFill>
            <a:srgbClr val="DEE5EF"/>
          </a:solidFill>
          <a:ln w="6350">
            <a:solidFill>
              <a:srgbClr val="87AFBF"/>
            </a:solidFill>
            <a:prstDash val="solid"/>
          </a:ln>
        </p:spPr>
      </p:sp>
      <p:sp>
        <p:nvSpPr>
          <p:cNvPr id="25" name="Shape 23"/>
          <p:cNvSpPr/>
          <p:nvPr/>
        </p:nvSpPr>
        <p:spPr>
          <a:xfrm>
            <a:off x="4398264" y="5486400"/>
            <a:ext cx="54864" cy="868680"/>
          </a:xfrm>
          <a:prstGeom prst="rect">
            <a:avLst/>
          </a:prstGeom>
          <a:solidFill>
            <a:srgbClr val="2AD2C9"/>
          </a:solidFill>
          <a:ln w="12700">
            <a:solidFill>
              <a:srgbClr val="2AD2C9"/>
            </a:solidFill>
            <a:prstDash val="solid"/>
          </a:ln>
        </p:spPr>
      </p:sp>
      <p:sp>
        <p:nvSpPr>
          <p:cNvPr id="26" name="Text 24"/>
          <p:cNvSpPr/>
          <p:nvPr/>
        </p:nvSpPr>
        <p:spPr>
          <a:xfrm>
            <a:off x="4517136" y="5513832"/>
            <a:ext cx="3063240" cy="804672"/>
          </a:xfrm>
          <a:prstGeom prst="rect">
            <a:avLst/>
          </a:prstGeom>
          <a:noFill/>
          <a:ln/>
        </p:spPr>
        <p:txBody>
          <a:bodyPr wrap="square" rtlCol="0" anchor="t"/>
          <a:lstStyle/>
          <a:p>
            <a:pPr indent="0" marL="0">
              <a:buNone/>
            </a:pPr>
            <a:r>
              <a:rPr lang="en-US" sz="850" b="1" dirty="0">
                <a:solidFill>
                  <a:srgbClr val="003068"/>
                </a:solidFill>
                <a:latin typeface="Arial" pitchFamily="34" charset="0"/>
                <a:ea typeface="Arial" pitchFamily="34" charset="-122"/>
                <a:cs typeface="Arial" pitchFamily="34" charset="-120"/>
              </a:rPr>
              <a:t>BCBS 239: </a:t>
            </a:r>
            <a:pPr indent="0" marL="0">
              <a:buNone/>
            </a:pPr>
            <a:r>
              <a:rPr lang="en-US" sz="850" dirty="0">
                <a:solidFill>
                  <a:srgbClr val="222730"/>
                </a:solidFill>
                <a:latin typeface="Arial" pitchFamily="34" charset="0"/>
                <a:ea typeface="Arial" pitchFamily="34" charset="-122"/>
                <a:cs typeface="Arial" pitchFamily="34" charset="-120"/>
              </a:rPr>
              <a:t>Every regulated metric is traceable to one DAX measure, one Gold table, one lineage path. No ambiguity across surfaces.</a:t>
            </a:r>
            <a:endParaRPr lang="en-US" sz="850" dirty="0"/>
          </a:p>
        </p:txBody>
      </p:sp>
      <p:sp>
        <p:nvSpPr>
          <p:cNvPr id="27" name="Shape 25"/>
          <p:cNvSpPr/>
          <p:nvPr/>
        </p:nvSpPr>
        <p:spPr>
          <a:xfrm>
            <a:off x="8065008" y="2926080"/>
            <a:ext cx="3566160" cy="3639312"/>
          </a:xfrm>
          <a:prstGeom prst="rect">
            <a:avLst>
              <a:gd name="adj" fmla="val 2564"/>
            </a:avLst>
          </a:prstGeom>
          <a:solidFill>
            <a:srgbClr val="F3F4FB"/>
          </a:solidFill>
          <a:ln w="12700">
            <a:solidFill>
              <a:srgbClr val="00B050"/>
            </a:solidFill>
            <a:prstDash val="solid"/>
          </a:ln>
        </p:spPr>
      </p:sp>
      <p:sp>
        <p:nvSpPr>
          <p:cNvPr id="28" name="Shape 26"/>
          <p:cNvSpPr/>
          <p:nvPr/>
        </p:nvSpPr>
        <p:spPr>
          <a:xfrm>
            <a:off x="8247888" y="3072384"/>
            <a:ext cx="502920" cy="502920"/>
          </a:xfrm>
          <a:prstGeom prst="ellipse">
            <a:avLst/>
          </a:prstGeom>
          <a:solidFill>
            <a:srgbClr val="00B050"/>
          </a:solidFill>
          <a:ln w="12700">
            <a:solidFill>
              <a:srgbClr val="00B050"/>
            </a:solidFill>
            <a:prstDash val="solid"/>
          </a:ln>
        </p:spPr>
      </p:sp>
      <p:sp>
        <p:nvSpPr>
          <p:cNvPr id="29" name="Text 27"/>
          <p:cNvSpPr/>
          <p:nvPr/>
        </p:nvSpPr>
        <p:spPr>
          <a:xfrm>
            <a:off x="8247888" y="3072384"/>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③</a:t>
            </a:r>
            <a:endParaRPr lang="en-US" sz="1400" dirty="0"/>
          </a:p>
        </p:txBody>
      </p:sp>
      <p:sp>
        <p:nvSpPr>
          <p:cNvPr id="30" name="Text 28"/>
          <p:cNvSpPr/>
          <p:nvPr/>
        </p:nvSpPr>
        <p:spPr>
          <a:xfrm>
            <a:off x="8842248" y="3072384"/>
            <a:ext cx="2606040" cy="502920"/>
          </a:xfrm>
          <a:prstGeom prst="rect">
            <a:avLst/>
          </a:prstGeom>
          <a:noFill/>
          <a:ln/>
        </p:spPr>
        <p:txBody>
          <a:bodyPr wrap="square" lIns="0" tIns="0" rIns="0" bIns="0" rtlCol="0" anchor="ctr"/>
          <a:lstStyle/>
          <a:p>
            <a:pPr indent="0" marL="0">
              <a:buNone/>
            </a:pPr>
            <a:r>
              <a:rPr lang="en-US" sz="1300" b="1" dirty="0">
                <a:solidFill>
                  <a:srgbClr val="003068"/>
                </a:solidFill>
                <a:latin typeface="Arial" pitchFamily="34" charset="0"/>
                <a:ea typeface="Arial" pitchFamily="34" charset="-122"/>
                <a:cs typeface="Arial" pitchFamily="34" charset="-120"/>
              </a:rPr>
              <a:t>Same access control</a:t>
            </a:r>
            <a:endParaRPr lang="en-US" sz="1300" dirty="0"/>
          </a:p>
        </p:txBody>
      </p:sp>
      <p:sp>
        <p:nvSpPr>
          <p:cNvPr id="31" name="Text 29"/>
          <p:cNvSpPr/>
          <p:nvPr/>
        </p:nvSpPr>
        <p:spPr>
          <a:xfrm>
            <a:off x="8247888" y="3657600"/>
            <a:ext cx="3200400" cy="1691640"/>
          </a:xfrm>
          <a:prstGeom prst="rect">
            <a:avLst/>
          </a:prstGeom>
          <a:noFill/>
          <a:ln/>
        </p:spPr>
        <p:txBody>
          <a:bodyPr wrap="square" rtlCol="0" anchor="t"/>
          <a:lstStyle/>
          <a:p>
            <a:pPr indent="0" marL="0">
              <a:buNone/>
            </a:pPr>
            <a:r>
              <a:rPr lang="en-US" sz="1050" dirty="0">
                <a:solidFill>
                  <a:srgbClr val="222730"/>
                </a:solidFill>
                <a:latin typeface="Arial" pitchFamily="34" charset="0"/>
                <a:ea typeface="Arial" pitchFamily="34" charset="-122"/>
                <a:cs typeface="Arial" pitchFamily="34" charset="-120"/>
              </a:rPr>
              <a:t>RLS defined on the semantic model applies equally to Power BI reports and Fabric Data Agent AI queries. The AD group that restricts an analyst's report restricts their AI answer by the same rule. No separate access control model needed for the AI surface.</a:t>
            </a:r>
            <a:endParaRPr lang="en-US" sz="1050" dirty="0"/>
          </a:p>
        </p:txBody>
      </p:sp>
      <p:sp>
        <p:nvSpPr>
          <p:cNvPr id="32" name="Shape 30"/>
          <p:cNvSpPr/>
          <p:nvPr/>
        </p:nvSpPr>
        <p:spPr>
          <a:xfrm>
            <a:off x="8202168" y="5486400"/>
            <a:ext cx="3291840" cy="868680"/>
          </a:xfrm>
          <a:prstGeom prst="rect">
            <a:avLst>
              <a:gd name="adj" fmla="val 6316"/>
            </a:avLst>
          </a:prstGeom>
          <a:solidFill>
            <a:srgbClr val="DEE5EF"/>
          </a:solidFill>
          <a:ln w="6350">
            <a:solidFill>
              <a:srgbClr val="87AFBF"/>
            </a:solidFill>
            <a:prstDash val="solid"/>
          </a:ln>
        </p:spPr>
      </p:sp>
      <p:sp>
        <p:nvSpPr>
          <p:cNvPr id="33" name="Shape 31"/>
          <p:cNvSpPr/>
          <p:nvPr/>
        </p:nvSpPr>
        <p:spPr>
          <a:xfrm>
            <a:off x="8202168" y="5486400"/>
            <a:ext cx="54864" cy="868680"/>
          </a:xfrm>
          <a:prstGeom prst="rect">
            <a:avLst/>
          </a:prstGeom>
          <a:solidFill>
            <a:srgbClr val="00B050"/>
          </a:solidFill>
          <a:ln w="12700">
            <a:solidFill>
              <a:srgbClr val="00B050"/>
            </a:solidFill>
            <a:prstDash val="solid"/>
          </a:ln>
        </p:spPr>
      </p:sp>
      <p:sp>
        <p:nvSpPr>
          <p:cNvPr id="34" name="Text 32"/>
          <p:cNvSpPr/>
          <p:nvPr/>
        </p:nvSpPr>
        <p:spPr>
          <a:xfrm>
            <a:off x="8321040" y="5513832"/>
            <a:ext cx="3063240" cy="804672"/>
          </a:xfrm>
          <a:prstGeom prst="rect">
            <a:avLst/>
          </a:prstGeom>
          <a:noFill/>
          <a:ln/>
        </p:spPr>
        <p:txBody>
          <a:bodyPr wrap="square" rtlCol="0" anchor="t"/>
          <a:lstStyle/>
          <a:p>
            <a:pPr indent="0" marL="0">
              <a:buNone/>
            </a:pPr>
            <a:r>
              <a:rPr lang="en-US" sz="850" b="1" dirty="0">
                <a:solidFill>
                  <a:srgbClr val="003068"/>
                </a:solidFill>
                <a:latin typeface="Arial" pitchFamily="34" charset="0"/>
                <a:ea typeface="Arial" pitchFamily="34" charset="-122"/>
                <a:cs typeface="Arial" pitchFamily="34" charset="-120"/>
              </a:rPr>
              <a:t>AI security: </a:t>
            </a:r>
            <a:pPr indent="0" marL="0">
              <a:buNone/>
            </a:pPr>
            <a:r>
              <a:rPr lang="en-US" sz="850" dirty="0">
                <a:solidFill>
                  <a:srgbClr val="222730"/>
                </a:solidFill>
                <a:latin typeface="Arial" pitchFamily="34" charset="0"/>
                <a:ea typeface="Arial" pitchFamily="34" charset="-122"/>
                <a:cs typeface="Arial" pitchFamily="34" charset="-120"/>
              </a:rPr>
              <a:t>No separate access control model for AI. RLS and T-SQL DDM enforce identically on both the BI and AI surfaces.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3F4FB"/>
          </a:solidFill>
          <a:ln w="12700">
            <a:solidFill>
              <a:srgbClr val="F3F4FB"/>
            </a:solidFill>
            <a:prstDash val="solid"/>
          </a:ln>
        </p:spPr>
      </p:sp>
      <p:sp>
        <p:nvSpPr>
          <p:cNvPr id="3" name="Text 1"/>
          <p:cNvSpPr/>
          <p:nvPr/>
        </p:nvSpPr>
        <p:spPr>
          <a:xfrm>
            <a:off x="274320" y="45720"/>
            <a:ext cx="6400800" cy="164592"/>
          </a:xfrm>
          <a:prstGeom prst="rect">
            <a:avLst/>
          </a:prstGeom>
          <a:noFill/>
          <a:ln/>
        </p:spPr>
        <p:txBody>
          <a:bodyPr wrap="square" rtlCol="0" anchor="ctr"/>
          <a:lstStyle/>
          <a:p>
            <a:pPr indent="0" marL="0">
              <a:buNone/>
            </a:pPr>
            <a:r>
              <a:rPr lang="en-US" sz="700" dirty="0">
                <a:solidFill>
                  <a:srgbClr val="87AFBF"/>
                </a:solidFill>
                <a:latin typeface="Arial" pitchFamily="34" charset="0"/>
                <a:ea typeface="Arial" pitchFamily="34" charset="-122"/>
                <a:cs typeface="Arial" pitchFamily="34" charset="-120"/>
              </a:rPr>
              <a:t>Confidential — Internal Use Only</a:t>
            </a:r>
            <a:endParaRPr lang="en-US" sz="700" dirty="0"/>
          </a:p>
        </p:txBody>
      </p:sp>
      <p:sp>
        <p:nvSpPr>
          <p:cNvPr id="4" name="Text 2"/>
          <p:cNvSpPr/>
          <p:nvPr/>
        </p:nvSpPr>
        <p:spPr>
          <a:xfrm>
            <a:off x="8686800" y="45720"/>
            <a:ext cx="3291840" cy="164592"/>
          </a:xfrm>
          <a:prstGeom prst="rect">
            <a:avLst/>
          </a:prstGeom>
          <a:noFill/>
          <a:ln/>
        </p:spPr>
        <p:txBody>
          <a:bodyPr wrap="square" rtlCol="0" anchor="ctr"/>
          <a:lstStyle/>
          <a:p>
            <a:pPr algn="r" indent="0" marL="0">
              <a:buNone/>
            </a:pPr>
            <a:r>
              <a:rPr lang="en-US" sz="700" dirty="0">
                <a:solidFill>
                  <a:srgbClr val="87AFBF"/>
                </a:solidFill>
                <a:latin typeface="Arial" pitchFamily="34" charset="0"/>
                <a:ea typeface="Arial" pitchFamily="34" charset="-122"/>
                <a:cs typeface="Arial" pitchFamily="34" charset="-120"/>
              </a:rPr>
              <a:t>Lumina · RBC Enterprise Data</a:t>
            </a:r>
            <a:endParaRPr lang="en-US" sz="700" dirty="0"/>
          </a:p>
        </p:txBody>
      </p:sp>
      <p:sp>
        <p:nvSpPr>
          <p:cNvPr id="5" name="Text 3"/>
          <p:cNvSpPr/>
          <p:nvPr/>
        </p:nvSpPr>
        <p:spPr>
          <a:xfrm>
            <a:off x="11704320" y="6583680"/>
            <a:ext cx="365760" cy="182880"/>
          </a:xfrm>
          <a:prstGeom prst="rect">
            <a:avLst/>
          </a:prstGeom>
          <a:noFill/>
          <a:ln/>
        </p:spPr>
        <p:txBody>
          <a:bodyPr wrap="square" rtlCol="0" anchor="ctr"/>
          <a:lstStyle/>
          <a:p>
            <a:pPr algn="r" indent="0" marL="0">
              <a:buNone/>
            </a:pPr>
            <a:r>
              <a:rPr lang="en-US" sz="900" dirty="0">
                <a:solidFill>
                  <a:srgbClr val="87AFBF"/>
                </a:solidFill>
                <a:latin typeface="Arial" pitchFamily="34" charset="0"/>
                <a:ea typeface="Arial" pitchFamily="34" charset="-122"/>
                <a:cs typeface="Arial" pitchFamily="34" charset="-120"/>
              </a:rPr>
              <a:t>3</a:t>
            </a:r>
            <a:endParaRPr lang="en-US" sz="900" dirty="0"/>
          </a:p>
        </p:txBody>
      </p:sp>
      <p:sp>
        <p:nvSpPr>
          <p:cNvPr id="6" name="Text 4"/>
          <p:cNvSpPr/>
          <p:nvPr/>
        </p:nvSpPr>
        <p:spPr>
          <a:xfrm>
            <a:off x="457200" y="347472"/>
            <a:ext cx="10972800" cy="502920"/>
          </a:xfrm>
          <a:prstGeom prst="rect">
            <a:avLst/>
          </a:prstGeom>
          <a:noFill/>
          <a:ln/>
        </p:spPr>
        <p:txBody>
          <a:bodyPr wrap="square" rtlCol="0" anchor="ctr"/>
          <a:lstStyle/>
          <a:p>
            <a:pPr indent="0" marL="0">
              <a:buNone/>
            </a:pPr>
            <a:r>
              <a:rPr lang="en-US" sz="2600" b="1" dirty="0">
                <a:solidFill>
                  <a:srgbClr val="003068"/>
                </a:solidFill>
                <a:latin typeface="Arial" pitchFamily="34" charset="0"/>
                <a:ea typeface="Arial" pitchFamily="34" charset="-122"/>
                <a:cs typeface="Arial" pitchFamily="34" charset="-120"/>
              </a:rPr>
              <a:t>Architecture: Fabric as the Unified Semantic Surface</a:t>
            </a:r>
            <a:endParaRPr lang="en-US" sz="2600" dirty="0"/>
          </a:p>
        </p:txBody>
      </p:sp>
      <p:sp>
        <p:nvSpPr>
          <p:cNvPr id="7" name="Shape 5"/>
          <p:cNvSpPr/>
          <p:nvPr/>
        </p:nvSpPr>
        <p:spPr>
          <a:xfrm>
            <a:off x="457200" y="877824"/>
            <a:ext cx="11274552" cy="22860"/>
          </a:xfrm>
          <a:prstGeom prst="rect">
            <a:avLst/>
          </a:prstGeom>
          <a:solidFill>
            <a:srgbClr val="87AFBF"/>
          </a:solidFill>
          <a:ln w="12700">
            <a:solidFill>
              <a:srgbClr val="87AFBF"/>
            </a:solidFill>
            <a:prstDash val="solid"/>
          </a:ln>
        </p:spPr>
      </p:sp>
      <p:sp>
        <p:nvSpPr>
          <p:cNvPr id="8" name="Shape 6"/>
          <p:cNvSpPr/>
          <p:nvPr/>
        </p:nvSpPr>
        <p:spPr>
          <a:xfrm>
            <a:off x="2926080" y="1051560"/>
            <a:ext cx="6309360" cy="960120"/>
          </a:xfrm>
          <a:prstGeom prst="rect">
            <a:avLst>
              <a:gd name="adj" fmla="val 7619"/>
            </a:avLst>
          </a:prstGeom>
          <a:solidFill>
            <a:srgbClr val="FEFCE8"/>
          </a:solidFill>
          <a:ln w="19050">
            <a:solidFill>
              <a:srgbClr val="FEF08A"/>
            </a:solidFill>
            <a:prstDash val="solid"/>
          </a:ln>
        </p:spPr>
      </p:sp>
      <p:sp>
        <p:nvSpPr>
          <p:cNvPr id="9" name="Text 7"/>
          <p:cNvSpPr/>
          <p:nvPr/>
        </p:nvSpPr>
        <p:spPr>
          <a:xfrm>
            <a:off x="3108960" y="1115568"/>
            <a:ext cx="5943600" cy="320040"/>
          </a:xfrm>
          <a:prstGeom prst="rect">
            <a:avLst/>
          </a:prstGeom>
          <a:noFill/>
          <a:ln/>
        </p:spPr>
        <p:txBody>
          <a:bodyPr wrap="square" lIns="0" tIns="0" rIns="0" bIns="0" rtlCol="0" anchor="ctr"/>
          <a:lstStyle/>
          <a:p>
            <a:pPr indent="0" marL="0">
              <a:buNone/>
            </a:pPr>
            <a:r>
              <a:rPr lang="en-US" sz="1300" b="1" dirty="0">
                <a:solidFill>
                  <a:srgbClr val="713F12"/>
                </a:solidFill>
                <a:latin typeface="Arial" pitchFamily="34" charset="0"/>
                <a:ea typeface="Arial" pitchFamily="34" charset="-122"/>
                <a:cs typeface="Arial" pitchFamily="34" charset="-120"/>
              </a:rPr>
              <a:t>Gold Iceberg (MinIO — on-prem)</a:t>
            </a:r>
            <a:endParaRPr lang="en-US" sz="1300" dirty="0"/>
          </a:p>
        </p:txBody>
      </p:sp>
      <p:sp>
        <p:nvSpPr>
          <p:cNvPr id="10" name="Text 8"/>
          <p:cNvSpPr/>
          <p:nvPr/>
        </p:nvSpPr>
        <p:spPr>
          <a:xfrm>
            <a:off x="3108960" y="1435608"/>
            <a:ext cx="5943600" cy="274320"/>
          </a:xfrm>
          <a:prstGeom prst="rect">
            <a:avLst/>
          </a:prstGeom>
          <a:noFill/>
          <a:ln/>
        </p:spPr>
        <p:txBody>
          <a:bodyPr wrap="square" lIns="0" tIns="0" rIns="0" bIns="0" rtlCol="0" anchor="ctr"/>
          <a:lstStyle/>
          <a:p>
            <a:pPr indent="0" marL="0">
              <a:buNone/>
            </a:pPr>
            <a:r>
              <a:rPr lang="en-US" sz="900" dirty="0">
                <a:solidFill>
                  <a:srgbClr val="92400E"/>
                </a:solidFill>
                <a:latin typeface="Arial" pitchFamily="34" charset="0"/>
                <a:ea typeface="Arial" pitchFamily="34" charset="-122"/>
                <a:cs typeface="Arial" pitchFamily="34" charset="-120"/>
              </a:rPr>
              <a:t>gold.trading_metrics  |  gold.risk_exposure  |  gold.customer_360</a:t>
            </a:r>
            <a:endParaRPr lang="en-US" sz="900" dirty="0"/>
          </a:p>
        </p:txBody>
      </p:sp>
      <p:sp>
        <p:nvSpPr>
          <p:cNvPr id="11" name="Shape 9"/>
          <p:cNvSpPr/>
          <p:nvPr/>
        </p:nvSpPr>
        <p:spPr>
          <a:xfrm>
            <a:off x="6099048" y="2011680"/>
            <a:ext cx="0" cy="502920"/>
          </a:xfrm>
          <a:prstGeom prst="line">
            <a:avLst/>
          </a:prstGeom>
          <a:noFill/>
          <a:ln w="19050">
            <a:solidFill>
              <a:srgbClr val="87AFBF"/>
            </a:solidFill>
            <a:prstDash val="solid"/>
          </a:ln>
        </p:spPr>
      </p:sp>
      <p:sp>
        <p:nvSpPr>
          <p:cNvPr id="12" name="Shape 10"/>
          <p:cNvSpPr/>
          <p:nvPr/>
        </p:nvSpPr>
        <p:spPr>
          <a:xfrm>
            <a:off x="5852160" y="2404872"/>
            <a:ext cx="493776" cy="0"/>
          </a:xfrm>
          <a:prstGeom prst="line">
            <a:avLst/>
          </a:prstGeom>
          <a:noFill/>
          <a:ln w="19050">
            <a:solidFill>
              <a:srgbClr val="87AFBF"/>
            </a:solidFill>
            <a:prstDash val="solid"/>
          </a:ln>
        </p:spPr>
      </p:sp>
      <p:sp>
        <p:nvSpPr>
          <p:cNvPr id="13" name="Shape 11"/>
          <p:cNvSpPr/>
          <p:nvPr/>
        </p:nvSpPr>
        <p:spPr>
          <a:xfrm>
            <a:off x="5852160" y="2404872"/>
            <a:ext cx="246888" cy="201168"/>
          </a:xfrm>
          <a:prstGeom prst="line">
            <a:avLst/>
          </a:prstGeom>
          <a:noFill/>
          <a:ln w="19050">
            <a:solidFill>
              <a:srgbClr val="87AFBF"/>
            </a:solidFill>
            <a:prstDash val="solid"/>
          </a:ln>
        </p:spPr>
      </p:sp>
      <p:sp>
        <p:nvSpPr>
          <p:cNvPr id="14" name="Shape 12"/>
          <p:cNvSpPr/>
          <p:nvPr/>
        </p:nvSpPr>
        <p:spPr>
          <a:xfrm>
            <a:off x="6345936" y="2404872"/>
            <a:ext cx="-246888" cy="201168"/>
          </a:xfrm>
          <a:prstGeom prst="line">
            <a:avLst/>
          </a:prstGeom>
          <a:noFill/>
          <a:ln w="19050">
            <a:solidFill>
              <a:srgbClr val="87AFBF"/>
            </a:solidFill>
            <a:prstDash val="solid"/>
          </a:ln>
        </p:spPr>
      </p:sp>
      <p:sp>
        <p:nvSpPr>
          <p:cNvPr id="15" name="Text 13"/>
          <p:cNvSpPr/>
          <p:nvPr/>
        </p:nvSpPr>
        <p:spPr>
          <a:xfrm>
            <a:off x="6400800" y="2103120"/>
            <a:ext cx="2560320" cy="274320"/>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Delta copy pipeline</a:t>
            </a:r>
            <a:endParaRPr lang="en-US" sz="850" dirty="0"/>
          </a:p>
        </p:txBody>
      </p:sp>
      <p:sp>
        <p:nvSpPr>
          <p:cNvPr id="16" name="Shape 14"/>
          <p:cNvSpPr/>
          <p:nvPr/>
        </p:nvSpPr>
        <p:spPr>
          <a:xfrm>
            <a:off x="2103120" y="2606040"/>
            <a:ext cx="7955280" cy="1874520"/>
          </a:xfrm>
          <a:prstGeom prst="rect">
            <a:avLst>
              <a:gd name="adj" fmla="val 4878"/>
            </a:avLst>
          </a:prstGeom>
          <a:solidFill>
            <a:srgbClr val="F0FDF4"/>
          </a:solidFill>
          <a:ln w="25400">
            <a:solidFill>
              <a:srgbClr val="059669"/>
            </a:solidFill>
            <a:prstDash val="solid"/>
          </a:ln>
        </p:spPr>
      </p:sp>
      <p:sp>
        <p:nvSpPr>
          <p:cNvPr id="17" name="Shape 15"/>
          <p:cNvSpPr/>
          <p:nvPr/>
        </p:nvSpPr>
        <p:spPr>
          <a:xfrm>
            <a:off x="2103120" y="2606040"/>
            <a:ext cx="7955280" cy="365760"/>
          </a:xfrm>
          <a:prstGeom prst="rect">
            <a:avLst>
              <a:gd name="adj" fmla="val 25000"/>
            </a:avLst>
          </a:prstGeom>
          <a:solidFill>
            <a:srgbClr val="059669"/>
          </a:solidFill>
          <a:ln w="12700">
            <a:solidFill>
              <a:srgbClr val="059669"/>
            </a:solidFill>
            <a:prstDash val="solid"/>
          </a:ln>
        </p:spPr>
      </p:sp>
      <p:sp>
        <p:nvSpPr>
          <p:cNvPr id="18" name="Shape 16"/>
          <p:cNvSpPr/>
          <p:nvPr/>
        </p:nvSpPr>
        <p:spPr>
          <a:xfrm>
            <a:off x="2103120" y="2788920"/>
            <a:ext cx="7955280" cy="182880"/>
          </a:xfrm>
          <a:prstGeom prst="rect">
            <a:avLst/>
          </a:prstGeom>
          <a:solidFill>
            <a:srgbClr val="059669"/>
          </a:solidFill>
          <a:ln w="12700">
            <a:solidFill>
              <a:srgbClr val="059669"/>
            </a:solidFill>
            <a:prstDash val="solid"/>
          </a:ln>
        </p:spPr>
      </p:sp>
      <p:sp>
        <p:nvSpPr>
          <p:cNvPr id="19" name="Text 17"/>
          <p:cNvSpPr/>
          <p:nvPr/>
        </p:nvSpPr>
        <p:spPr>
          <a:xfrm>
            <a:off x="2286000" y="2624328"/>
            <a:ext cx="7589520" cy="34747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  Fabric Semantic Model — SINGLE DEFINITION LAYER  (ADR-010 · Import mode)</a:t>
            </a:r>
            <a:endParaRPr lang="en-US" sz="1050" dirty="0"/>
          </a:p>
        </p:txBody>
      </p:sp>
      <p:sp>
        <p:nvSpPr>
          <p:cNvPr id="20" name="Shape 18"/>
          <p:cNvSpPr/>
          <p:nvPr/>
        </p:nvSpPr>
        <p:spPr>
          <a:xfrm>
            <a:off x="2286000" y="3127248"/>
            <a:ext cx="164592" cy="164592"/>
          </a:xfrm>
          <a:prstGeom prst="ellipse">
            <a:avLst/>
          </a:prstGeom>
          <a:solidFill>
            <a:srgbClr val="059669"/>
          </a:solidFill>
          <a:ln w="12700">
            <a:solidFill>
              <a:srgbClr val="059669"/>
            </a:solidFill>
            <a:prstDash val="solid"/>
          </a:ln>
        </p:spPr>
      </p:sp>
      <p:sp>
        <p:nvSpPr>
          <p:cNvPr id="21" name="Text 19"/>
          <p:cNvSpPr/>
          <p:nvPr/>
        </p:nvSpPr>
        <p:spPr>
          <a:xfrm>
            <a:off x="2523744" y="3054096"/>
            <a:ext cx="1463040" cy="320040"/>
          </a:xfrm>
          <a:prstGeom prst="rect">
            <a:avLst/>
          </a:prstGeom>
          <a:noFill/>
          <a:ln/>
        </p:spPr>
        <p:txBody>
          <a:bodyPr wrap="square" lIns="0" tIns="0" rIns="0" bIns="0" rtlCol="0" anchor="ctr"/>
          <a:lstStyle/>
          <a:p>
            <a:pPr indent="0" marL="0">
              <a:buNone/>
            </a:pPr>
            <a:r>
              <a:rPr lang="en-US" sz="900" b="1" dirty="0">
                <a:solidFill>
                  <a:srgbClr val="003068"/>
                </a:solidFill>
                <a:latin typeface="Arial" pitchFamily="34" charset="0"/>
                <a:ea typeface="Arial" pitchFamily="34" charset="-122"/>
                <a:cs typeface="Arial" pitchFamily="34" charset="-120"/>
              </a:rPr>
              <a:t>DAX measures:</a:t>
            </a:r>
            <a:endParaRPr lang="en-US" sz="900" dirty="0"/>
          </a:p>
        </p:txBody>
      </p:sp>
      <p:sp>
        <p:nvSpPr>
          <p:cNvPr id="22" name="Text 20"/>
          <p:cNvSpPr/>
          <p:nvPr/>
        </p:nvSpPr>
        <p:spPr>
          <a:xfrm>
            <a:off x="4023360" y="3054096"/>
            <a:ext cx="5852160" cy="320040"/>
          </a:xfrm>
          <a:prstGeom prst="rect">
            <a:avLst/>
          </a:prstGeom>
          <a:noFill/>
          <a:ln/>
        </p:spPr>
        <p:txBody>
          <a:bodyPr wrap="square" lIns="0" tIns="0" rIns="0" bIns="0" rtlCol="0" anchor="ctr"/>
          <a:lstStyle/>
          <a:p>
            <a:pPr indent="0" marL="0">
              <a:buNone/>
            </a:pPr>
            <a:r>
              <a:rPr lang="en-US" sz="900" dirty="0">
                <a:solidFill>
                  <a:srgbClr val="222730"/>
                </a:solidFill>
                <a:latin typeface="Arial" pitchFamily="34" charset="0"/>
                <a:ea typeface="Arial" pitchFamily="34" charset="-122"/>
                <a:cs typeface="Arial" pitchFamily="34" charset="-120"/>
              </a:rPr>
              <a:t>Net Interest Income · VaR 95/99 · LCR Ratio · Active Customers MTD · defined once</a:t>
            </a:r>
            <a:endParaRPr lang="en-US" sz="900" dirty="0"/>
          </a:p>
        </p:txBody>
      </p:sp>
      <p:sp>
        <p:nvSpPr>
          <p:cNvPr id="23" name="Shape 21"/>
          <p:cNvSpPr/>
          <p:nvPr/>
        </p:nvSpPr>
        <p:spPr>
          <a:xfrm>
            <a:off x="2286000" y="3465576"/>
            <a:ext cx="164592" cy="164592"/>
          </a:xfrm>
          <a:prstGeom prst="ellipse">
            <a:avLst/>
          </a:prstGeom>
          <a:solidFill>
            <a:srgbClr val="059669"/>
          </a:solidFill>
          <a:ln w="12700">
            <a:solidFill>
              <a:srgbClr val="059669"/>
            </a:solidFill>
            <a:prstDash val="solid"/>
          </a:ln>
        </p:spPr>
      </p:sp>
      <p:sp>
        <p:nvSpPr>
          <p:cNvPr id="24" name="Text 22"/>
          <p:cNvSpPr/>
          <p:nvPr/>
        </p:nvSpPr>
        <p:spPr>
          <a:xfrm>
            <a:off x="2523744" y="3392424"/>
            <a:ext cx="1463040" cy="320040"/>
          </a:xfrm>
          <a:prstGeom prst="rect">
            <a:avLst/>
          </a:prstGeom>
          <a:noFill/>
          <a:ln/>
        </p:spPr>
        <p:txBody>
          <a:bodyPr wrap="square" lIns="0" tIns="0" rIns="0" bIns="0" rtlCol="0" anchor="ctr"/>
          <a:lstStyle/>
          <a:p>
            <a:pPr indent="0" marL="0">
              <a:buNone/>
            </a:pPr>
            <a:r>
              <a:rPr lang="en-US" sz="900" b="1" dirty="0">
                <a:solidFill>
                  <a:srgbClr val="003068"/>
                </a:solidFill>
                <a:latin typeface="Arial" pitchFamily="34" charset="0"/>
                <a:ea typeface="Arial" pitchFamily="34" charset="-122"/>
                <a:cs typeface="Arial" pitchFamily="34" charset="-120"/>
              </a:rPr>
              <a:t>RLS enforcement:</a:t>
            </a:r>
            <a:endParaRPr lang="en-US" sz="900" dirty="0"/>
          </a:p>
        </p:txBody>
      </p:sp>
      <p:sp>
        <p:nvSpPr>
          <p:cNvPr id="25" name="Text 23"/>
          <p:cNvSpPr/>
          <p:nvPr/>
        </p:nvSpPr>
        <p:spPr>
          <a:xfrm>
            <a:off x="4023360" y="3392424"/>
            <a:ext cx="5852160" cy="320040"/>
          </a:xfrm>
          <a:prstGeom prst="rect">
            <a:avLst/>
          </a:prstGeom>
          <a:noFill/>
          <a:ln/>
        </p:spPr>
        <p:txBody>
          <a:bodyPr wrap="square" lIns="0" tIns="0" rIns="0" bIns="0" rtlCol="0" anchor="ctr"/>
          <a:lstStyle/>
          <a:p>
            <a:pPr indent="0" marL="0">
              <a:buNone/>
            </a:pPr>
            <a:r>
              <a:rPr lang="en-US" sz="900" dirty="0">
                <a:solidFill>
                  <a:srgbClr val="222730"/>
                </a:solidFill>
                <a:latin typeface="Arial" pitchFamily="34" charset="0"/>
                <a:ea typeface="Arial" pitchFamily="34" charset="-122"/>
                <a:cs typeface="Arial" pitchFamily="34" charset="-120"/>
              </a:rPr>
              <a:t>AD group rules apply identically to Power BI visuals and AI Fabric Data Agent queries</a:t>
            </a:r>
            <a:endParaRPr lang="en-US" sz="900" dirty="0"/>
          </a:p>
        </p:txBody>
      </p:sp>
      <p:sp>
        <p:nvSpPr>
          <p:cNvPr id="26" name="Shape 24"/>
          <p:cNvSpPr/>
          <p:nvPr/>
        </p:nvSpPr>
        <p:spPr>
          <a:xfrm>
            <a:off x="2286000" y="3803904"/>
            <a:ext cx="164592" cy="164592"/>
          </a:xfrm>
          <a:prstGeom prst="ellipse">
            <a:avLst/>
          </a:prstGeom>
          <a:solidFill>
            <a:srgbClr val="059669"/>
          </a:solidFill>
          <a:ln w="12700">
            <a:solidFill>
              <a:srgbClr val="059669"/>
            </a:solidFill>
            <a:prstDash val="solid"/>
          </a:ln>
        </p:spPr>
      </p:sp>
      <p:sp>
        <p:nvSpPr>
          <p:cNvPr id="27" name="Text 25"/>
          <p:cNvSpPr/>
          <p:nvPr/>
        </p:nvSpPr>
        <p:spPr>
          <a:xfrm>
            <a:off x="2523744" y="3730752"/>
            <a:ext cx="1463040" cy="320040"/>
          </a:xfrm>
          <a:prstGeom prst="rect">
            <a:avLst/>
          </a:prstGeom>
          <a:noFill/>
          <a:ln/>
        </p:spPr>
        <p:txBody>
          <a:bodyPr wrap="square" lIns="0" tIns="0" rIns="0" bIns="0" rtlCol="0" anchor="ctr"/>
          <a:lstStyle/>
          <a:p>
            <a:pPr indent="0" marL="0">
              <a:buNone/>
            </a:pPr>
            <a:r>
              <a:rPr lang="en-US" sz="900" b="1" dirty="0">
                <a:solidFill>
                  <a:srgbClr val="003068"/>
                </a:solidFill>
                <a:latin typeface="Arial" pitchFamily="34" charset="0"/>
                <a:ea typeface="Arial" pitchFamily="34" charset="-122"/>
                <a:cs typeface="Arial" pitchFamily="34" charset="-120"/>
              </a:rPr>
              <a:t>T-SQL DDM:</a:t>
            </a:r>
            <a:endParaRPr lang="en-US" sz="900" dirty="0"/>
          </a:p>
        </p:txBody>
      </p:sp>
      <p:sp>
        <p:nvSpPr>
          <p:cNvPr id="28" name="Text 26"/>
          <p:cNvSpPr/>
          <p:nvPr/>
        </p:nvSpPr>
        <p:spPr>
          <a:xfrm>
            <a:off x="4023360" y="3730752"/>
            <a:ext cx="5852160" cy="320040"/>
          </a:xfrm>
          <a:prstGeom prst="rect">
            <a:avLst/>
          </a:prstGeom>
          <a:noFill/>
          <a:ln/>
        </p:spPr>
        <p:txBody>
          <a:bodyPr wrap="square" lIns="0" tIns="0" rIns="0" bIns="0" rtlCol="0" anchor="ctr"/>
          <a:lstStyle/>
          <a:p>
            <a:pPr indent="0" marL="0">
              <a:buNone/>
            </a:pPr>
            <a:r>
              <a:rPr lang="en-US" sz="900" dirty="0">
                <a:solidFill>
                  <a:srgbClr val="222730"/>
                </a:solidFill>
                <a:latin typeface="Arial" pitchFamily="34" charset="0"/>
                <a:ea typeface="Arial" pitchFamily="34" charset="-122"/>
                <a:cs typeface="Arial" pitchFamily="34" charset="-120"/>
              </a:rPr>
              <a:t>Column masking for PII at SQL Analytics Endpoint — consistent across BI and AI surfaces</a:t>
            </a:r>
            <a:endParaRPr lang="en-US" sz="900" dirty="0"/>
          </a:p>
        </p:txBody>
      </p:sp>
      <p:sp>
        <p:nvSpPr>
          <p:cNvPr id="29" name="Shape 27"/>
          <p:cNvSpPr/>
          <p:nvPr/>
        </p:nvSpPr>
        <p:spPr>
          <a:xfrm>
            <a:off x="2286000" y="4142232"/>
            <a:ext cx="164592" cy="164592"/>
          </a:xfrm>
          <a:prstGeom prst="ellipse">
            <a:avLst/>
          </a:prstGeom>
          <a:solidFill>
            <a:srgbClr val="059669"/>
          </a:solidFill>
          <a:ln w="12700">
            <a:solidFill>
              <a:srgbClr val="059669"/>
            </a:solidFill>
            <a:prstDash val="solid"/>
          </a:ln>
        </p:spPr>
      </p:sp>
      <p:sp>
        <p:nvSpPr>
          <p:cNvPr id="30" name="Text 28"/>
          <p:cNvSpPr/>
          <p:nvPr/>
        </p:nvSpPr>
        <p:spPr>
          <a:xfrm>
            <a:off x="2523744" y="4069080"/>
            <a:ext cx="1463040" cy="320040"/>
          </a:xfrm>
          <a:prstGeom prst="rect">
            <a:avLst/>
          </a:prstGeom>
          <a:noFill/>
          <a:ln/>
        </p:spPr>
        <p:txBody>
          <a:bodyPr wrap="square" lIns="0" tIns="0" rIns="0" bIns="0" rtlCol="0" anchor="ctr"/>
          <a:lstStyle/>
          <a:p>
            <a:pPr indent="0" marL="0">
              <a:buNone/>
            </a:pPr>
            <a:r>
              <a:rPr lang="en-US" sz="900" b="1" dirty="0">
                <a:solidFill>
                  <a:srgbClr val="003068"/>
                </a:solidFill>
                <a:latin typeface="Arial" pitchFamily="34" charset="0"/>
                <a:ea typeface="Arial" pitchFamily="34" charset="-122"/>
                <a:cs typeface="Arial" pitchFamily="34" charset="-120"/>
              </a:rPr>
              <a:t>Verified Answers:</a:t>
            </a:r>
            <a:endParaRPr lang="en-US" sz="900" dirty="0"/>
          </a:p>
        </p:txBody>
      </p:sp>
      <p:sp>
        <p:nvSpPr>
          <p:cNvPr id="31" name="Text 29"/>
          <p:cNvSpPr/>
          <p:nvPr/>
        </p:nvSpPr>
        <p:spPr>
          <a:xfrm>
            <a:off x="4023360" y="4069080"/>
            <a:ext cx="5852160" cy="320040"/>
          </a:xfrm>
          <a:prstGeom prst="rect">
            <a:avLst/>
          </a:prstGeom>
          <a:noFill/>
          <a:ln/>
        </p:spPr>
        <p:txBody>
          <a:bodyPr wrap="square" lIns="0" tIns="0" rIns="0" bIns="0" rtlCol="0" anchor="ctr"/>
          <a:lstStyle/>
          <a:p>
            <a:pPr indent="0" marL="0">
              <a:buNone/>
            </a:pPr>
            <a:r>
              <a:rPr lang="en-US" sz="900" dirty="0">
                <a:solidFill>
                  <a:srgbClr val="222730"/>
                </a:solidFill>
                <a:latin typeface="Arial" pitchFamily="34" charset="0"/>
                <a:ea typeface="Arial" pitchFamily="34" charset="-122"/>
                <a:cs typeface="Arial" pitchFamily="34" charset="-120"/>
              </a:rPr>
              <a:t>Pre-approved AI responses for regulated KPIs — same source as Power BI certified metrics</a:t>
            </a:r>
            <a:endParaRPr lang="en-US" sz="900" dirty="0"/>
          </a:p>
        </p:txBody>
      </p:sp>
      <p:sp>
        <p:nvSpPr>
          <p:cNvPr id="32" name="Shape 30"/>
          <p:cNvSpPr/>
          <p:nvPr/>
        </p:nvSpPr>
        <p:spPr>
          <a:xfrm>
            <a:off x="4069080" y="4480560"/>
            <a:ext cx="0" cy="457200"/>
          </a:xfrm>
          <a:prstGeom prst="line">
            <a:avLst/>
          </a:prstGeom>
          <a:noFill/>
          <a:ln w="19050">
            <a:solidFill>
              <a:srgbClr val="87AFBF"/>
            </a:solidFill>
            <a:prstDash val="solid"/>
          </a:ln>
        </p:spPr>
      </p:sp>
      <p:sp>
        <p:nvSpPr>
          <p:cNvPr id="33" name="Shape 31"/>
          <p:cNvSpPr/>
          <p:nvPr/>
        </p:nvSpPr>
        <p:spPr>
          <a:xfrm>
            <a:off x="3840480" y="4828032"/>
            <a:ext cx="457200" cy="0"/>
          </a:xfrm>
          <a:prstGeom prst="line">
            <a:avLst/>
          </a:prstGeom>
          <a:noFill/>
          <a:ln w="19050">
            <a:solidFill>
              <a:srgbClr val="87AFBF"/>
            </a:solidFill>
            <a:prstDash val="solid"/>
          </a:ln>
        </p:spPr>
      </p:sp>
      <p:sp>
        <p:nvSpPr>
          <p:cNvPr id="34" name="Shape 32"/>
          <p:cNvSpPr/>
          <p:nvPr/>
        </p:nvSpPr>
        <p:spPr>
          <a:xfrm>
            <a:off x="3840480" y="4828032"/>
            <a:ext cx="228600" cy="182880"/>
          </a:xfrm>
          <a:prstGeom prst="line">
            <a:avLst/>
          </a:prstGeom>
          <a:noFill/>
          <a:ln w="19050">
            <a:solidFill>
              <a:srgbClr val="87AFBF"/>
            </a:solidFill>
            <a:prstDash val="solid"/>
          </a:ln>
        </p:spPr>
      </p:sp>
      <p:sp>
        <p:nvSpPr>
          <p:cNvPr id="35" name="Shape 33"/>
          <p:cNvSpPr/>
          <p:nvPr/>
        </p:nvSpPr>
        <p:spPr>
          <a:xfrm>
            <a:off x="4297680" y="4828032"/>
            <a:ext cx="-228600" cy="182880"/>
          </a:xfrm>
          <a:prstGeom prst="line">
            <a:avLst/>
          </a:prstGeom>
          <a:noFill/>
          <a:ln w="19050">
            <a:solidFill>
              <a:srgbClr val="87AFBF"/>
            </a:solidFill>
            <a:prstDash val="solid"/>
          </a:ln>
        </p:spPr>
      </p:sp>
      <p:sp>
        <p:nvSpPr>
          <p:cNvPr id="36" name="Text 34"/>
          <p:cNvSpPr/>
          <p:nvPr/>
        </p:nvSpPr>
        <p:spPr>
          <a:xfrm>
            <a:off x="2468880" y="4617720"/>
            <a:ext cx="146304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DAX query</a:t>
            </a:r>
            <a:endParaRPr lang="en-US" sz="800" dirty="0"/>
          </a:p>
        </p:txBody>
      </p:sp>
      <p:sp>
        <p:nvSpPr>
          <p:cNvPr id="37" name="Shape 35"/>
          <p:cNvSpPr/>
          <p:nvPr/>
        </p:nvSpPr>
        <p:spPr>
          <a:xfrm>
            <a:off x="8119872" y="4480560"/>
            <a:ext cx="0" cy="457200"/>
          </a:xfrm>
          <a:prstGeom prst="line">
            <a:avLst/>
          </a:prstGeom>
          <a:noFill/>
          <a:ln w="19050">
            <a:solidFill>
              <a:srgbClr val="87AFBF"/>
            </a:solidFill>
            <a:prstDash val="solid"/>
          </a:ln>
        </p:spPr>
      </p:sp>
      <p:sp>
        <p:nvSpPr>
          <p:cNvPr id="38" name="Shape 36"/>
          <p:cNvSpPr/>
          <p:nvPr/>
        </p:nvSpPr>
        <p:spPr>
          <a:xfrm>
            <a:off x="7891272" y="4828032"/>
            <a:ext cx="457200" cy="0"/>
          </a:xfrm>
          <a:prstGeom prst="line">
            <a:avLst/>
          </a:prstGeom>
          <a:noFill/>
          <a:ln w="19050">
            <a:solidFill>
              <a:srgbClr val="87AFBF"/>
            </a:solidFill>
            <a:prstDash val="solid"/>
          </a:ln>
        </p:spPr>
      </p:sp>
      <p:sp>
        <p:nvSpPr>
          <p:cNvPr id="39" name="Shape 37"/>
          <p:cNvSpPr/>
          <p:nvPr/>
        </p:nvSpPr>
        <p:spPr>
          <a:xfrm>
            <a:off x="7891272" y="4828032"/>
            <a:ext cx="228600" cy="182880"/>
          </a:xfrm>
          <a:prstGeom prst="line">
            <a:avLst/>
          </a:prstGeom>
          <a:noFill/>
          <a:ln w="19050">
            <a:solidFill>
              <a:srgbClr val="87AFBF"/>
            </a:solidFill>
            <a:prstDash val="solid"/>
          </a:ln>
        </p:spPr>
      </p:sp>
      <p:sp>
        <p:nvSpPr>
          <p:cNvPr id="40" name="Shape 38"/>
          <p:cNvSpPr/>
          <p:nvPr/>
        </p:nvSpPr>
        <p:spPr>
          <a:xfrm>
            <a:off x="8348472" y="4828032"/>
            <a:ext cx="-228600" cy="182880"/>
          </a:xfrm>
          <a:prstGeom prst="line">
            <a:avLst/>
          </a:prstGeom>
          <a:noFill/>
          <a:ln w="19050">
            <a:solidFill>
              <a:srgbClr val="87AFBF"/>
            </a:solidFill>
            <a:prstDash val="solid"/>
          </a:ln>
        </p:spPr>
      </p:sp>
      <p:sp>
        <p:nvSpPr>
          <p:cNvPr id="41" name="Text 39"/>
          <p:cNvSpPr/>
          <p:nvPr/>
        </p:nvSpPr>
        <p:spPr>
          <a:xfrm>
            <a:off x="6583680" y="4617720"/>
            <a:ext cx="292608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NL → DAX via Fabric Data Agent</a:t>
            </a:r>
            <a:endParaRPr lang="en-US" sz="800" dirty="0"/>
          </a:p>
        </p:txBody>
      </p:sp>
      <p:sp>
        <p:nvSpPr>
          <p:cNvPr id="42" name="Shape 40"/>
          <p:cNvSpPr/>
          <p:nvPr/>
        </p:nvSpPr>
        <p:spPr>
          <a:xfrm>
            <a:off x="2103120" y="5010912"/>
            <a:ext cx="3931920" cy="1417320"/>
          </a:xfrm>
          <a:prstGeom prst="rect">
            <a:avLst>
              <a:gd name="adj" fmla="val 5161"/>
            </a:avLst>
          </a:prstGeom>
          <a:solidFill>
            <a:srgbClr val="EFF6FF"/>
          </a:solidFill>
          <a:ln w="19050">
            <a:solidFill>
              <a:srgbClr val="3068FF"/>
            </a:solidFill>
            <a:prstDash val="solid"/>
          </a:ln>
        </p:spPr>
      </p:sp>
      <p:sp>
        <p:nvSpPr>
          <p:cNvPr id="43" name="Text 41"/>
          <p:cNvSpPr/>
          <p:nvPr/>
        </p:nvSpPr>
        <p:spPr>
          <a:xfrm>
            <a:off x="2286000" y="5074920"/>
            <a:ext cx="3566160" cy="320040"/>
          </a:xfrm>
          <a:prstGeom prst="rect">
            <a:avLst/>
          </a:prstGeom>
          <a:noFill/>
          <a:ln/>
        </p:spPr>
        <p:txBody>
          <a:bodyPr wrap="square" rtlCol="0" anchor="ctr"/>
          <a:lstStyle/>
          <a:p>
            <a:pPr indent="0" marL="0">
              <a:buNone/>
            </a:pPr>
            <a:r>
              <a:rPr lang="en-US" sz="1400" b="1" dirty="0">
                <a:solidFill>
                  <a:srgbClr val="003068"/>
                </a:solidFill>
                <a:latin typeface="Arial" pitchFamily="34" charset="0"/>
                <a:ea typeface="Arial" pitchFamily="34" charset="-122"/>
                <a:cs typeface="Arial" pitchFamily="34" charset="-120"/>
              </a:rPr>
              <a:t>Power BI</a:t>
            </a:r>
            <a:endParaRPr lang="en-US" sz="1400" dirty="0"/>
          </a:p>
        </p:txBody>
      </p:sp>
      <p:sp>
        <p:nvSpPr>
          <p:cNvPr id="44" name="Shape 42"/>
          <p:cNvSpPr/>
          <p:nvPr/>
        </p:nvSpPr>
        <p:spPr>
          <a:xfrm>
            <a:off x="2286000" y="5413248"/>
            <a:ext cx="320040" cy="201168"/>
          </a:xfrm>
          <a:prstGeom prst="rect">
            <a:avLst>
              <a:gd name="adj" fmla="val 22727"/>
            </a:avLst>
          </a:prstGeom>
          <a:solidFill>
            <a:srgbClr val="3068FF"/>
          </a:solidFill>
          <a:ln w="12700">
            <a:solidFill>
              <a:srgbClr val="3068FF"/>
            </a:solidFill>
            <a:prstDash val="solid"/>
          </a:ln>
        </p:spPr>
      </p:sp>
      <p:sp>
        <p:nvSpPr>
          <p:cNvPr id="45" name="Text 43"/>
          <p:cNvSpPr/>
          <p:nvPr/>
        </p:nvSpPr>
        <p:spPr>
          <a:xfrm>
            <a:off x="2286000" y="5413248"/>
            <a:ext cx="32004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BI</a:t>
            </a:r>
            <a:endParaRPr lang="en-US" sz="750" dirty="0"/>
          </a:p>
        </p:txBody>
      </p:sp>
      <p:sp>
        <p:nvSpPr>
          <p:cNvPr id="46" name="Text 44"/>
          <p:cNvSpPr/>
          <p:nvPr/>
        </p:nvSpPr>
        <p:spPr>
          <a:xfrm>
            <a:off x="2286000" y="5650992"/>
            <a:ext cx="3566160" cy="713232"/>
          </a:xfrm>
          <a:prstGeom prst="rect">
            <a:avLst/>
          </a:prstGeom>
          <a:noFill/>
          <a:ln/>
        </p:spPr>
        <p:txBody>
          <a:bodyPr wrap="square" rtlCol="0" anchor="ctr"/>
          <a:lstStyle/>
          <a:p>
            <a:pPr marL="342900" indent="-342900">
              <a:buSzPct val="100000"/>
              <a:buChar char="•"/>
            </a:pPr>
            <a:r>
              <a:rPr lang="en-US" sz="900" dirty="0">
                <a:solidFill>
                  <a:srgbClr val="222730"/>
                </a:solidFill>
                <a:latin typeface="Arial" pitchFamily="34" charset="0"/>
                <a:ea typeface="Arial" pitchFamily="34" charset="-122"/>
                <a:cs typeface="Arial" pitchFamily="34" charset="-120"/>
              </a:rPr>
              <a:t>1,000+ OBIEE migrations</a:t>
            </a:r>
            <a:endParaRPr lang="en-US" sz="900" dirty="0"/>
          </a:p>
          <a:p>
            <a:pPr marL="342900" indent="-342900">
              <a:buSzPct val="100000"/>
              <a:buChar char="•"/>
            </a:pPr>
            <a:r>
              <a:rPr lang="en-US" sz="900" dirty="0">
                <a:solidFill>
                  <a:srgbClr val="222730"/>
                </a:solidFill>
                <a:latin typeface="Arial" pitchFamily="34" charset="0"/>
                <a:ea typeface="Arial" pitchFamily="34" charset="-122"/>
                <a:cs typeface="Arial" pitchFamily="34" charset="-120"/>
              </a:rPr>
              <a:t>Certified datasets · sub-second in-memory</a:t>
            </a:r>
            <a:endParaRPr lang="en-US" sz="900" dirty="0"/>
          </a:p>
          <a:p>
            <a:pPr marL="342900" indent="-342900">
              <a:buSzPct val="100000"/>
              <a:buChar char="•"/>
            </a:pPr>
            <a:r>
              <a:rPr lang="en-US" sz="900" dirty="0">
                <a:solidFill>
                  <a:srgbClr val="222730"/>
                </a:solidFill>
                <a:latin typeface="Arial" pitchFamily="34" charset="0"/>
                <a:ea typeface="Arial" pitchFamily="34" charset="-122"/>
                <a:cs typeface="Arial" pitchFamily="34" charset="-120"/>
              </a:rPr>
              <a:t>Same RLS as AI queries</a:t>
            </a:r>
            <a:endParaRPr lang="en-US" sz="900" dirty="0"/>
          </a:p>
        </p:txBody>
      </p:sp>
      <p:sp>
        <p:nvSpPr>
          <p:cNvPr id="47" name="Shape 45"/>
          <p:cNvSpPr/>
          <p:nvPr/>
        </p:nvSpPr>
        <p:spPr>
          <a:xfrm>
            <a:off x="6153912" y="5010912"/>
            <a:ext cx="3931920" cy="1417320"/>
          </a:xfrm>
          <a:prstGeom prst="rect">
            <a:avLst>
              <a:gd name="adj" fmla="val 5161"/>
            </a:avLst>
          </a:prstGeom>
          <a:solidFill>
            <a:srgbClr val="FAF5FF"/>
          </a:solidFill>
          <a:ln w="19050">
            <a:solidFill>
              <a:srgbClr val="7C3AED"/>
            </a:solidFill>
            <a:prstDash val="solid"/>
          </a:ln>
        </p:spPr>
      </p:sp>
      <p:sp>
        <p:nvSpPr>
          <p:cNvPr id="48" name="Text 46"/>
          <p:cNvSpPr/>
          <p:nvPr/>
        </p:nvSpPr>
        <p:spPr>
          <a:xfrm>
            <a:off x="6336792" y="5074920"/>
            <a:ext cx="3566160" cy="320040"/>
          </a:xfrm>
          <a:prstGeom prst="rect">
            <a:avLst/>
          </a:prstGeom>
          <a:noFill/>
          <a:ln/>
        </p:spPr>
        <p:txBody>
          <a:bodyPr wrap="square" rtlCol="0" anchor="ctr"/>
          <a:lstStyle/>
          <a:p>
            <a:pPr indent="0" marL="0">
              <a:buNone/>
            </a:pPr>
            <a:r>
              <a:rPr lang="en-US" sz="1400" b="1" dirty="0">
                <a:solidFill>
                  <a:srgbClr val="4C1D95"/>
                </a:solidFill>
                <a:latin typeface="Arial" pitchFamily="34" charset="0"/>
                <a:ea typeface="Arial" pitchFamily="34" charset="-122"/>
                <a:cs typeface="Arial" pitchFamily="34" charset="-120"/>
              </a:rPr>
              <a:t>RBC Assist (AI)</a:t>
            </a:r>
            <a:endParaRPr lang="en-US" sz="1400" dirty="0"/>
          </a:p>
        </p:txBody>
      </p:sp>
      <p:sp>
        <p:nvSpPr>
          <p:cNvPr id="49" name="Shape 47"/>
          <p:cNvSpPr/>
          <p:nvPr/>
        </p:nvSpPr>
        <p:spPr>
          <a:xfrm>
            <a:off x="6336792" y="5413248"/>
            <a:ext cx="320040" cy="201168"/>
          </a:xfrm>
          <a:prstGeom prst="rect">
            <a:avLst>
              <a:gd name="adj" fmla="val 22727"/>
            </a:avLst>
          </a:prstGeom>
          <a:solidFill>
            <a:srgbClr val="7C3AED"/>
          </a:solidFill>
          <a:ln w="12700">
            <a:solidFill>
              <a:srgbClr val="7C3AED"/>
            </a:solidFill>
            <a:prstDash val="solid"/>
          </a:ln>
        </p:spPr>
      </p:sp>
      <p:sp>
        <p:nvSpPr>
          <p:cNvPr id="50" name="Text 48"/>
          <p:cNvSpPr/>
          <p:nvPr/>
        </p:nvSpPr>
        <p:spPr>
          <a:xfrm>
            <a:off x="6336792" y="5413248"/>
            <a:ext cx="32004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AI</a:t>
            </a:r>
            <a:endParaRPr lang="en-US" sz="750" dirty="0"/>
          </a:p>
        </p:txBody>
      </p:sp>
      <p:sp>
        <p:nvSpPr>
          <p:cNvPr id="51" name="Text 49"/>
          <p:cNvSpPr/>
          <p:nvPr/>
        </p:nvSpPr>
        <p:spPr>
          <a:xfrm>
            <a:off x="6336792" y="5650992"/>
            <a:ext cx="3566160" cy="713232"/>
          </a:xfrm>
          <a:prstGeom prst="rect">
            <a:avLst/>
          </a:prstGeom>
          <a:noFill/>
          <a:ln/>
        </p:spPr>
        <p:txBody>
          <a:bodyPr wrap="square" rtlCol="0" anchor="ctr"/>
          <a:lstStyle/>
          <a:p>
            <a:pPr marL="342900" indent="-342900">
              <a:buSzPct val="100000"/>
              <a:buChar char="•"/>
            </a:pPr>
            <a:r>
              <a:rPr lang="en-US" sz="900" dirty="0">
                <a:solidFill>
                  <a:srgbClr val="222730"/>
                </a:solidFill>
                <a:latin typeface="Arial" pitchFamily="34" charset="0"/>
                <a:ea typeface="Arial" pitchFamily="34" charset="-122"/>
                <a:cs typeface="Arial" pitchFamily="34" charset="-120"/>
              </a:rPr>
              <a:t>Azure AI Foundry → Fabric Data Agent</a:t>
            </a:r>
            <a:endParaRPr lang="en-US" sz="900" dirty="0"/>
          </a:p>
          <a:p>
            <a:pPr marL="342900" indent="-342900">
              <a:buSzPct val="100000"/>
              <a:buChar char="•"/>
            </a:pPr>
            <a:r>
              <a:rPr lang="en-US" sz="900" dirty="0">
                <a:solidFill>
                  <a:srgbClr val="222730"/>
                </a:solidFill>
                <a:latin typeface="Arial" pitchFamily="34" charset="0"/>
                <a:ea typeface="Arial" pitchFamily="34" charset="-122"/>
                <a:cs typeface="Arial" pitchFamily="34" charset="-120"/>
              </a:rPr>
              <a:t>NL-to-DAX · reads same certified measures</a:t>
            </a:r>
            <a:endParaRPr lang="en-US" sz="900" dirty="0"/>
          </a:p>
          <a:p>
            <a:pPr marL="342900" indent="-342900">
              <a:buSzPct val="100000"/>
              <a:buChar char="•"/>
            </a:pPr>
            <a:r>
              <a:rPr lang="en-US" sz="900" dirty="0">
                <a:solidFill>
                  <a:srgbClr val="222730"/>
                </a:solidFill>
                <a:latin typeface="Arial" pitchFamily="34" charset="0"/>
                <a:ea typeface="Arial" pitchFamily="34" charset="-122"/>
                <a:cs typeface="Arial" pitchFamily="34" charset="-120"/>
              </a:rPr>
              <a:t>Verified Answers for sensitive KPIs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3F4FB"/>
          </a:solidFill>
          <a:ln w="12700">
            <a:solidFill>
              <a:srgbClr val="F3F4FB"/>
            </a:solidFill>
            <a:prstDash val="solid"/>
          </a:ln>
        </p:spPr>
      </p:sp>
      <p:sp>
        <p:nvSpPr>
          <p:cNvPr id="3" name="Text 1"/>
          <p:cNvSpPr/>
          <p:nvPr/>
        </p:nvSpPr>
        <p:spPr>
          <a:xfrm>
            <a:off x="274320" y="45720"/>
            <a:ext cx="6400800" cy="164592"/>
          </a:xfrm>
          <a:prstGeom prst="rect">
            <a:avLst/>
          </a:prstGeom>
          <a:noFill/>
          <a:ln/>
        </p:spPr>
        <p:txBody>
          <a:bodyPr wrap="square" rtlCol="0" anchor="ctr"/>
          <a:lstStyle/>
          <a:p>
            <a:pPr indent="0" marL="0">
              <a:buNone/>
            </a:pPr>
            <a:r>
              <a:rPr lang="en-US" sz="700" dirty="0">
                <a:solidFill>
                  <a:srgbClr val="87AFBF"/>
                </a:solidFill>
                <a:latin typeface="Arial" pitchFamily="34" charset="0"/>
                <a:ea typeface="Arial" pitchFamily="34" charset="-122"/>
                <a:cs typeface="Arial" pitchFamily="34" charset="-120"/>
              </a:rPr>
              <a:t>Confidential — Internal Use Only</a:t>
            </a:r>
            <a:endParaRPr lang="en-US" sz="700" dirty="0"/>
          </a:p>
        </p:txBody>
      </p:sp>
      <p:sp>
        <p:nvSpPr>
          <p:cNvPr id="4" name="Text 2"/>
          <p:cNvSpPr/>
          <p:nvPr/>
        </p:nvSpPr>
        <p:spPr>
          <a:xfrm>
            <a:off x="8686800" y="45720"/>
            <a:ext cx="3291840" cy="164592"/>
          </a:xfrm>
          <a:prstGeom prst="rect">
            <a:avLst/>
          </a:prstGeom>
          <a:noFill/>
          <a:ln/>
        </p:spPr>
        <p:txBody>
          <a:bodyPr wrap="square" rtlCol="0" anchor="ctr"/>
          <a:lstStyle/>
          <a:p>
            <a:pPr algn="r" indent="0" marL="0">
              <a:buNone/>
            </a:pPr>
            <a:r>
              <a:rPr lang="en-US" sz="700" dirty="0">
                <a:solidFill>
                  <a:srgbClr val="87AFBF"/>
                </a:solidFill>
                <a:latin typeface="Arial" pitchFamily="34" charset="0"/>
                <a:ea typeface="Arial" pitchFamily="34" charset="-122"/>
                <a:cs typeface="Arial" pitchFamily="34" charset="-120"/>
              </a:rPr>
              <a:t>Lumina · RBC Enterprise Data</a:t>
            </a:r>
            <a:endParaRPr lang="en-US" sz="700" dirty="0"/>
          </a:p>
        </p:txBody>
      </p:sp>
      <p:sp>
        <p:nvSpPr>
          <p:cNvPr id="5" name="Text 3"/>
          <p:cNvSpPr/>
          <p:nvPr/>
        </p:nvSpPr>
        <p:spPr>
          <a:xfrm>
            <a:off x="11704320" y="6583680"/>
            <a:ext cx="365760" cy="182880"/>
          </a:xfrm>
          <a:prstGeom prst="rect">
            <a:avLst/>
          </a:prstGeom>
          <a:noFill/>
          <a:ln/>
        </p:spPr>
        <p:txBody>
          <a:bodyPr wrap="square" rtlCol="0" anchor="ctr"/>
          <a:lstStyle/>
          <a:p>
            <a:pPr algn="r" indent="0" marL="0">
              <a:buNone/>
            </a:pPr>
            <a:r>
              <a:rPr lang="en-US" sz="900" dirty="0">
                <a:solidFill>
                  <a:srgbClr val="87AFBF"/>
                </a:solidFill>
                <a:latin typeface="Arial" pitchFamily="34" charset="0"/>
                <a:ea typeface="Arial" pitchFamily="34" charset="-122"/>
                <a:cs typeface="Arial" pitchFamily="34" charset="-120"/>
              </a:rPr>
              <a:t>4</a:t>
            </a:r>
            <a:endParaRPr lang="en-US" sz="900" dirty="0"/>
          </a:p>
        </p:txBody>
      </p:sp>
      <p:sp>
        <p:nvSpPr>
          <p:cNvPr id="6" name="Text 4"/>
          <p:cNvSpPr/>
          <p:nvPr/>
        </p:nvSpPr>
        <p:spPr>
          <a:xfrm>
            <a:off x="457200" y="347472"/>
            <a:ext cx="10972800" cy="502920"/>
          </a:xfrm>
          <a:prstGeom prst="rect">
            <a:avLst/>
          </a:prstGeom>
          <a:noFill/>
          <a:ln/>
        </p:spPr>
        <p:txBody>
          <a:bodyPr wrap="square" rtlCol="0" anchor="ctr"/>
          <a:lstStyle/>
          <a:p>
            <a:pPr indent="0" marL="0">
              <a:buNone/>
            </a:pPr>
            <a:r>
              <a:rPr lang="en-US" sz="2500" b="1" dirty="0">
                <a:solidFill>
                  <a:srgbClr val="003068"/>
                </a:solidFill>
                <a:latin typeface="Arial" pitchFamily="34" charset="0"/>
                <a:ea typeface="Arial" pitchFamily="34" charset="-122"/>
                <a:cs typeface="Arial" pitchFamily="34" charset="-120"/>
              </a:rPr>
              <a:t>"Define Once" — What It Looks Like in Practice</a:t>
            </a:r>
            <a:endParaRPr lang="en-US" sz="2500" dirty="0"/>
          </a:p>
        </p:txBody>
      </p:sp>
      <p:sp>
        <p:nvSpPr>
          <p:cNvPr id="7" name="Shape 5"/>
          <p:cNvSpPr/>
          <p:nvPr/>
        </p:nvSpPr>
        <p:spPr>
          <a:xfrm>
            <a:off x="457200" y="877824"/>
            <a:ext cx="11274552" cy="22860"/>
          </a:xfrm>
          <a:prstGeom prst="rect">
            <a:avLst/>
          </a:prstGeom>
          <a:solidFill>
            <a:srgbClr val="87AFBF"/>
          </a:solidFill>
          <a:ln w="12700">
            <a:solidFill>
              <a:srgbClr val="87AFBF"/>
            </a:solidFill>
            <a:prstDash val="solid"/>
          </a:ln>
        </p:spPr>
      </p:sp>
      <p:sp>
        <p:nvSpPr>
          <p:cNvPr id="8" name="Shape 6"/>
          <p:cNvSpPr/>
          <p:nvPr/>
        </p:nvSpPr>
        <p:spPr>
          <a:xfrm>
            <a:off x="457200" y="1051560"/>
            <a:ext cx="5303520" cy="5029200"/>
          </a:xfrm>
          <a:prstGeom prst="rect">
            <a:avLst>
              <a:gd name="adj" fmla="val 1818"/>
            </a:avLst>
          </a:prstGeom>
          <a:solidFill>
            <a:srgbClr val="F3F4FB"/>
          </a:solidFill>
          <a:ln w="6350">
            <a:solidFill>
              <a:srgbClr val="87AFBF"/>
            </a:solidFill>
            <a:prstDash val="solid"/>
          </a:ln>
        </p:spPr>
      </p:sp>
      <p:sp>
        <p:nvSpPr>
          <p:cNvPr id="9" name="Text 7"/>
          <p:cNvSpPr/>
          <p:nvPr/>
        </p:nvSpPr>
        <p:spPr>
          <a:xfrm>
            <a:off x="640080" y="1170432"/>
            <a:ext cx="4937760" cy="347472"/>
          </a:xfrm>
          <a:prstGeom prst="rect">
            <a:avLst/>
          </a:prstGeom>
          <a:noFill/>
          <a:ln/>
        </p:spPr>
        <p:txBody>
          <a:bodyPr wrap="square" rtlCol="0" anchor="ctr"/>
          <a:lstStyle/>
          <a:p>
            <a:pPr indent="0" marL="0">
              <a:buNone/>
            </a:pPr>
            <a:r>
              <a:rPr lang="en-US" sz="1300" b="1" dirty="0">
                <a:solidFill>
                  <a:srgbClr val="003068"/>
                </a:solidFill>
                <a:latin typeface="Arial" pitchFamily="34" charset="0"/>
                <a:ea typeface="Arial" pitchFamily="34" charset="-122"/>
                <a:cs typeface="Arial" pitchFamily="34" charset="-120"/>
              </a:rPr>
              <a:t>Step 1 — Define the metric once in Fabric</a:t>
            </a:r>
            <a:endParaRPr lang="en-US" sz="1300" dirty="0"/>
          </a:p>
        </p:txBody>
      </p:sp>
      <p:sp>
        <p:nvSpPr>
          <p:cNvPr id="10" name="Shape 8"/>
          <p:cNvSpPr/>
          <p:nvPr/>
        </p:nvSpPr>
        <p:spPr>
          <a:xfrm>
            <a:off x="640080" y="1572768"/>
            <a:ext cx="4937760" cy="1965960"/>
          </a:xfrm>
          <a:prstGeom prst="rect">
            <a:avLst>
              <a:gd name="adj" fmla="val 3256"/>
            </a:avLst>
          </a:prstGeom>
          <a:solidFill>
            <a:srgbClr val="0A1628"/>
          </a:solidFill>
          <a:ln w="12700">
            <a:solidFill>
              <a:srgbClr val="0A1628"/>
            </a:solidFill>
            <a:prstDash val="solid"/>
          </a:ln>
        </p:spPr>
      </p:sp>
      <p:sp>
        <p:nvSpPr>
          <p:cNvPr id="11" name="Text 9"/>
          <p:cNvSpPr/>
          <p:nvPr/>
        </p:nvSpPr>
        <p:spPr>
          <a:xfrm>
            <a:off x="713232" y="1645920"/>
            <a:ext cx="4800600" cy="1828800"/>
          </a:xfrm>
          <a:prstGeom prst="rect">
            <a:avLst/>
          </a:prstGeom>
          <a:noFill/>
          <a:ln/>
        </p:spPr>
        <p:txBody>
          <a:bodyPr wrap="square" rtlCol="0" anchor="t"/>
          <a:lstStyle/>
          <a:p>
            <a:pPr indent="0" marL="0">
              <a:buNone/>
            </a:pPr>
            <a:r>
              <a:rPr lang="en-US" sz="900" dirty="0">
                <a:solidFill>
                  <a:srgbClr val="64748B"/>
                </a:solidFill>
                <a:latin typeface="Courier New" pitchFamily="34" charset="0"/>
                <a:ea typeface="Courier New" pitchFamily="34" charset="-122"/>
                <a:cs typeface="Courier New" pitchFamily="34" charset="-120"/>
              </a:rPr>
              <a:t>-- Net Interest Income (certified measure)
</a:t>
            </a:r>
            <a:pPr indent="0" marL="0">
              <a:buNone/>
            </a:pPr>
            <a:r>
              <a:rPr lang="en-US" sz="900" b="1" dirty="0">
                <a:solidFill>
                  <a:srgbClr val="2AD2C9"/>
                </a:solidFill>
                <a:latin typeface="Courier New" pitchFamily="34" charset="0"/>
                <a:ea typeface="Courier New" pitchFamily="34" charset="-122"/>
                <a:cs typeface="Courier New" pitchFamily="34" charset="-120"/>
              </a:rPr>
              <a:t>[Net Interest Income]</a:t>
            </a:r>
            <a:pPr indent="0" marL="0">
              <a:buNone/>
            </a:pPr>
            <a:r>
              <a:rPr lang="en-US" sz="900" dirty="0">
                <a:solidFill>
                  <a:srgbClr val="FFFFFF"/>
                </a:solidFill>
                <a:latin typeface="Courier New" pitchFamily="34" charset="0"/>
                <a:ea typeface="Courier New" pitchFamily="34" charset="-122"/>
                <a:cs typeface="Courier New" pitchFamily="34" charset="-120"/>
              </a:rPr>
              <a:t> :=
</a:t>
            </a:r>
            <a:pPr indent="0" marL="0">
              <a:buNone/>
            </a:pPr>
            <a:r>
              <a:rPr lang="en-US" sz="900" dirty="0">
                <a:solidFill>
                  <a:srgbClr val="93C5FD"/>
                </a:solidFill>
                <a:latin typeface="Courier New" pitchFamily="34" charset="0"/>
                <a:ea typeface="Courier New" pitchFamily="34" charset="-122"/>
                <a:cs typeface="Courier New" pitchFamily="34" charset="-120"/>
              </a:rPr>
              <a:t>  CALCULATE(
</a:t>
            </a:r>
            <a:pPr indent="0" marL="0">
              <a:buNone/>
            </a:pPr>
            <a:r>
              <a:rPr lang="en-US" sz="900" dirty="0">
                <a:solidFill>
                  <a:srgbClr val="FFFFFF"/>
                </a:solidFill>
                <a:latin typeface="Courier New" pitchFamily="34" charset="0"/>
                <a:ea typeface="Courier New" pitchFamily="34" charset="-122"/>
                <a:cs typeface="Courier New" pitchFamily="34" charset="-120"/>
              </a:rPr>
              <a:t>    SUM(</a:t>
            </a:r>
            <a:pPr indent="0" marL="0">
              <a:buNone/>
            </a:pPr>
            <a:r>
              <a:rPr lang="en-US" sz="900" dirty="0">
                <a:solidFill>
                  <a:srgbClr val="FEDF01"/>
                </a:solidFill>
                <a:latin typeface="Courier New" pitchFamily="34" charset="0"/>
                <a:ea typeface="Courier New" pitchFamily="34" charset="-122"/>
                <a:cs typeface="Courier New" pitchFamily="34" charset="-120"/>
              </a:rPr>
              <a:t>gold_finance[interest_income]</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FFFFFF"/>
                </a:solidFill>
                <a:latin typeface="Courier New" pitchFamily="34" charset="0"/>
                <a:ea typeface="Courier New" pitchFamily="34" charset="-122"/>
                <a:cs typeface="Courier New" pitchFamily="34" charset="-120"/>
              </a:rPr>
              <a:t>    - SUM(</a:t>
            </a:r>
            <a:pPr indent="0" marL="0">
              <a:buNone/>
            </a:pPr>
            <a:r>
              <a:rPr lang="en-US" sz="900" dirty="0">
                <a:solidFill>
                  <a:srgbClr val="FEDF01"/>
                </a:solidFill>
                <a:latin typeface="Courier New" pitchFamily="34" charset="0"/>
                <a:ea typeface="Courier New" pitchFamily="34" charset="-122"/>
                <a:cs typeface="Courier New" pitchFamily="34" charset="-120"/>
              </a:rPr>
              <a:t>gold_finance[interest_expense]</a:t>
            </a:r>
            <a:pPr indent="0" marL="0">
              <a:buNone/>
            </a:pPr>
            <a:r>
              <a:rPr lang="en-US" sz="900" dirty="0">
                <a:solidFill>
                  <a:srgbClr val="FFFFFF"/>
                </a:solidFill>
                <a:latin typeface="Courier New" pitchFamily="34" charset="0"/>
                <a:ea typeface="Courier New" pitchFamily="34" charset="-122"/>
                <a:cs typeface="Courier New" pitchFamily="34" charset="-120"/>
              </a:rPr>
              <a:t>),
</a:t>
            </a:r>
            <a:pPr indent="0" marL="0">
              <a:buNone/>
            </a:pPr>
            <a:r>
              <a:rPr lang="en-US" sz="900" dirty="0">
                <a:solidFill>
                  <a:srgbClr val="93C5FD"/>
                </a:solidFill>
                <a:latin typeface="Courier New" pitchFamily="34" charset="0"/>
                <a:ea typeface="Courier New" pitchFamily="34" charset="-122"/>
                <a:cs typeface="Courier New" pitchFamily="34" charset="-120"/>
              </a:rPr>
              <a:t>    USERELATIONSHIP(...),
</a:t>
            </a:r>
            <a:pPr indent="0" marL="0">
              <a:buNone/>
            </a:pPr>
            <a:r>
              <a:rPr lang="en-US" sz="900" dirty="0">
                <a:solidFill>
                  <a:srgbClr val="93C5FD"/>
                </a:solidFill>
                <a:latin typeface="Courier New" pitchFamily="34" charset="0"/>
                <a:ea typeface="Courier New" pitchFamily="34" charset="-122"/>
                <a:cs typeface="Courier New" pitchFamily="34" charset="-120"/>
              </a:rPr>
              <a:t>    ALL(DimDate)
</a:t>
            </a:r>
            <a:pPr indent="0" marL="0">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p:txBody>
      </p:sp>
      <p:sp>
        <p:nvSpPr>
          <p:cNvPr id="12" name="Text 10"/>
          <p:cNvSpPr/>
          <p:nvPr/>
        </p:nvSpPr>
        <p:spPr>
          <a:xfrm>
            <a:off x="640080" y="3611880"/>
            <a:ext cx="4937760" cy="54864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Defined once. Version-controlled via Fabric Git integration. Certified by the data governance team.</a:t>
            </a:r>
            <a:endParaRPr lang="en-US" sz="950" dirty="0"/>
          </a:p>
        </p:txBody>
      </p:sp>
      <p:sp>
        <p:nvSpPr>
          <p:cNvPr id="13" name="Shape 11"/>
          <p:cNvSpPr/>
          <p:nvPr/>
        </p:nvSpPr>
        <p:spPr>
          <a:xfrm>
            <a:off x="640080" y="4206240"/>
            <a:ext cx="4937760" cy="9144"/>
          </a:xfrm>
          <a:prstGeom prst="rect">
            <a:avLst/>
          </a:prstGeom>
          <a:solidFill>
            <a:srgbClr val="87AFBF"/>
          </a:solidFill>
          <a:ln w="12700">
            <a:solidFill>
              <a:srgbClr val="87AFBF"/>
            </a:solidFill>
            <a:prstDash val="solid"/>
          </a:ln>
        </p:spPr>
      </p:sp>
      <p:sp>
        <p:nvSpPr>
          <p:cNvPr id="14" name="Text 12"/>
          <p:cNvSpPr/>
          <p:nvPr/>
        </p:nvSpPr>
        <p:spPr>
          <a:xfrm>
            <a:off x="640080" y="4279392"/>
            <a:ext cx="1828800" cy="228600"/>
          </a:xfrm>
          <a:prstGeom prst="rect">
            <a:avLst/>
          </a:prstGeom>
          <a:noFill/>
          <a:ln/>
        </p:spPr>
        <p:txBody>
          <a:bodyPr wrap="square" rtlCol="0" anchor="ctr"/>
          <a:lstStyle/>
          <a:p>
            <a:pPr indent="0" marL="0">
              <a:buNone/>
            </a:pPr>
            <a:r>
              <a:rPr lang="en-US" sz="900" b="1" dirty="0">
                <a:solidFill>
                  <a:srgbClr val="003068"/>
                </a:solidFill>
                <a:latin typeface="Arial" pitchFamily="34" charset="0"/>
                <a:ea typeface="Arial" pitchFamily="34" charset="-122"/>
                <a:cs typeface="Arial" pitchFamily="34" charset="-120"/>
              </a:rPr>
              <a:t>Governance outcome:</a:t>
            </a:r>
            <a:endParaRPr lang="en-US" sz="900" dirty="0"/>
          </a:p>
        </p:txBody>
      </p:sp>
      <p:sp>
        <p:nvSpPr>
          <p:cNvPr id="15" name="Text 13"/>
          <p:cNvSpPr/>
          <p:nvPr/>
        </p:nvSpPr>
        <p:spPr>
          <a:xfrm>
            <a:off x="640080" y="4507992"/>
            <a:ext cx="4937760" cy="502920"/>
          </a:xfrm>
          <a:prstGeom prst="rect">
            <a:avLst/>
          </a:prstGeom>
          <a:noFill/>
          <a:ln/>
        </p:spPr>
        <p:txBody>
          <a:bodyPr wrap="square" rtlCol="0" anchor="ctr"/>
          <a:lstStyle/>
          <a:p>
            <a:pPr indent="0" marL="0">
              <a:buNone/>
            </a:pPr>
            <a:r>
              <a:rPr lang="en-US" sz="900" dirty="0">
                <a:solidFill>
                  <a:srgbClr val="222730"/>
                </a:solidFill>
                <a:latin typeface="Arial" pitchFamily="34" charset="0"/>
                <a:ea typeface="Arial" pitchFamily="34" charset="-122"/>
                <a:cs typeface="Arial" pitchFamily="34" charset="-120"/>
              </a:rPr>
              <a:t>Finance, Risk, and Compliance teams agree on exactly one definition. No ambiguity in audits.</a:t>
            </a:r>
            <a:endParaRPr lang="en-US" sz="900" dirty="0"/>
          </a:p>
        </p:txBody>
      </p:sp>
      <p:sp>
        <p:nvSpPr>
          <p:cNvPr id="16" name="Shape 14"/>
          <p:cNvSpPr/>
          <p:nvPr/>
        </p:nvSpPr>
        <p:spPr>
          <a:xfrm>
            <a:off x="640080" y="5093208"/>
            <a:ext cx="1348740" cy="201168"/>
          </a:xfrm>
          <a:prstGeom prst="rect">
            <a:avLst>
              <a:gd name="adj" fmla="val 22727"/>
            </a:avLst>
          </a:prstGeom>
          <a:solidFill>
            <a:srgbClr val="00B050"/>
          </a:solidFill>
          <a:ln w="12700">
            <a:solidFill>
              <a:srgbClr val="00B050"/>
            </a:solidFill>
            <a:prstDash val="solid"/>
          </a:ln>
        </p:spPr>
      </p:sp>
      <p:sp>
        <p:nvSpPr>
          <p:cNvPr id="17" name="Text 15"/>
          <p:cNvSpPr/>
          <p:nvPr/>
        </p:nvSpPr>
        <p:spPr>
          <a:xfrm>
            <a:off x="640080" y="5093208"/>
            <a:ext cx="134874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ADR-010 confirmed</a:t>
            </a:r>
            <a:endParaRPr lang="en-US" sz="750" dirty="0"/>
          </a:p>
        </p:txBody>
      </p:sp>
      <p:sp>
        <p:nvSpPr>
          <p:cNvPr id="18" name="Shape 16"/>
          <p:cNvSpPr/>
          <p:nvPr/>
        </p:nvSpPr>
        <p:spPr>
          <a:xfrm>
            <a:off x="6309360" y="1051560"/>
            <a:ext cx="5422392" cy="2286000"/>
          </a:xfrm>
          <a:prstGeom prst="rect">
            <a:avLst>
              <a:gd name="adj" fmla="val 4000"/>
            </a:avLst>
          </a:prstGeom>
          <a:solidFill>
            <a:srgbClr val="EFF6FF"/>
          </a:solidFill>
          <a:ln w="12700">
            <a:solidFill>
              <a:srgbClr val="3068FF"/>
            </a:solidFill>
            <a:prstDash val="solid"/>
          </a:ln>
        </p:spPr>
      </p:sp>
      <p:sp>
        <p:nvSpPr>
          <p:cNvPr id="19" name="Text 17"/>
          <p:cNvSpPr/>
          <p:nvPr/>
        </p:nvSpPr>
        <p:spPr>
          <a:xfrm>
            <a:off x="6492240" y="1143000"/>
            <a:ext cx="5029200" cy="347472"/>
          </a:xfrm>
          <a:prstGeom prst="rect">
            <a:avLst/>
          </a:prstGeom>
          <a:noFill/>
          <a:ln/>
        </p:spPr>
        <p:txBody>
          <a:bodyPr wrap="square" rtlCol="0" anchor="ctr"/>
          <a:lstStyle/>
          <a:p>
            <a:pPr indent="0" marL="0">
              <a:buNone/>
            </a:pPr>
            <a:r>
              <a:rPr lang="en-US" sz="1200" b="1" dirty="0">
                <a:solidFill>
                  <a:srgbClr val="003068"/>
                </a:solidFill>
                <a:latin typeface="Arial" pitchFamily="34" charset="0"/>
                <a:ea typeface="Arial" pitchFamily="34" charset="-122"/>
                <a:cs typeface="Arial" pitchFamily="34" charset="-120"/>
              </a:rPr>
              <a:t>Step 2a — Power BI reads [Net Interest Income]</a:t>
            </a:r>
            <a:endParaRPr lang="en-US" sz="1200" dirty="0"/>
          </a:p>
        </p:txBody>
      </p:sp>
      <p:sp>
        <p:nvSpPr>
          <p:cNvPr id="20" name="Text 18"/>
          <p:cNvSpPr/>
          <p:nvPr/>
        </p:nvSpPr>
        <p:spPr>
          <a:xfrm>
            <a:off x="6492240" y="1536192"/>
            <a:ext cx="5029200" cy="868680"/>
          </a:xfrm>
          <a:prstGeom prst="rect">
            <a:avLst/>
          </a:prstGeom>
          <a:noFill/>
          <a:ln/>
        </p:spPr>
        <p:txBody>
          <a:bodyPr wrap="square" rtlCol="0" anchor="ctr"/>
          <a:lstStyle/>
          <a:p>
            <a:pPr indent="0" marL="0">
              <a:buNone/>
            </a:pPr>
            <a:r>
              <a:rPr lang="en-US" sz="950" dirty="0">
                <a:solidFill>
                  <a:srgbClr val="222730"/>
                </a:solidFill>
                <a:latin typeface="Arial" pitchFamily="34" charset="0"/>
                <a:ea typeface="Arial" pitchFamily="34" charset="-122"/>
                <a:cs typeface="Arial" pitchFamily="34" charset="-120"/>
              </a:rPr>
              <a:t>A Power BI visual calls the certified DAX measure. The VertiPaq in-memory engine calculates it — same definition, sub-second response, RLS applied by the semantic model before data reaches the visual.</a:t>
            </a:r>
            <a:endParaRPr lang="en-US" sz="950" dirty="0"/>
          </a:p>
        </p:txBody>
      </p:sp>
      <p:sp>
        <p:nvSpPr>
          <p:cNvPr id="21" name="Text 19"/>
          <p:cNvSpPr/>
          <p:nvPr/>
        </p:nvSpPr>
        <p:spPr>
          <a:xfrm>
            <a:off x="6492240" y="2468880"/>
            <a:ext cx="5029200" cy="292608"/>
          </a:xfrm>
          <a:prstGeom prst="rect">
            <a:avLst/>
          </a:prstGeom>
          <a:noFill/>
          <a:ln/>
        </p:spPr>
        <p:txBody>
          <a:bodyPr wrap="square" rtlCol="0" anchor="ctr"/>
          <a:lstStyle/>
          <a:p>
            <a:pPr indent="0" marL="0">
              <a:buNone/>
            </a:pPr>
            <a:r>
              <a:rPr lang="en-US" sz="1100" b="1" dirty="0">
                <a:solidFill>
                  <a:srgbClr val="3068FF"/>
                </a:solidFill>
                <a:latin typeface="Arial" pitchFamily="34" charset="0"/>
                <a:ea typeface="Arial" pitchFamily="34" charset="-122"/>
                <a:cs typeface="Arial" pitchFamily="34" charset="-120"/>
              </a:rPr>
              <a:t>Result: $1.24B (Q1 2026 — Retail Banking)</a:t>
            </a:r>
            <a:endParaRPr lang="en-US" sz="1100" dirty="0"/>
          </a:p>
        </p:txBody>
      </p:sp>
      <p:sp>
        <p:nvSpPr>
          <p:cNvPr id="22" name="Shape 20"/>
          <p:cNvSpPr/>
          <p:nvPr/>
        </p:nvSpPr>
        <p:spPr>
          <a:xfrm>
            <a:off x="6492240" y="2834640"/>
            <a:ext cx="868680" cy="201168"/>
          </a:xfrm>
          <a:prstGeom prst="rect">
            <a:avLst>
              <a:gd name="adj" fmla="val 22727"/>
            </a:avLst>
          </a:prstGeom>
          <a:solidFill>
            <a:srgbClr val="3068FF"/>
          </a:solidFill>
          <a:ln w="12700">
            <a:solidFill>
              <a:srgbClr val="3068FF"/>
            </a:solidFill>
            <a:prstDash val="solid"/>
          </a:ln>
        </p:spPr>
      </p:sp>
      <p:sp>
        <p:nvSpPr>
          <p:cNvPr id="23" name="Text 21"/>
          <p:cNvSpPr/>
          <p:nvPr/>
        </p:nvSpPr>
        <p:spPr>
          <a:xfrm>
            <a:off x="6492240" y="2834640"/>
            <a:ext cx="86868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BI surface</a:t>
            </a:r>
            <a:endParaRPr lang="en-US" sz="750" dirty="0"/>
          </a:p>
        </p:txBody>
      </p:sp>
      <p:sp>
        <p:nvSpPr>
          <p:cNvPr id="24" name="Shape 22"/>
          <p:cNvSpPr/>
          <p:nvPr/>
        </p:nvSpPr>
        <p:spPr>
          <a:xfrm>
            <a:off x="6309360" y="3520440"/>
            <a:ext cx="5422392" cy="2560320"/>
          </a:xfrm>
          <a:prstGeom prst="rect">
            <a:avLst>
              <a:gd name="adj" fmla="val 3571"/>
            </a:avLst>
          </a:prstGeom>
          <a:solidFill>
            <a:srgbClr val="FAF5FF"/>
          </a:solidFill>
          <a:ln w="12700">
            <a:solidFill>
              <a:srgbClr val="7C3AED"/>
            </a:solidFill>
            <a:prstDash val="solid"/>
          </a:ln>
        </p:spPr>
      </p:sp>
      <p:sp>
        <p:nvSpPr>
          <p:cNvPr id="25" name="Text 23"/>
          <p:cNvSpPr/>
          <p:nvPr/>
        </p:nvSpPr>
        <p:spPr>
          <a:xfrm>
            <a:off x="6492240" y="3611880"/>
            <a:ext cx="5029200" cy="457200"/>
          </a:xfrm>
          <a:prstGeom prst="rect">
            <a:avLst/>
          </a:prstGeom>
          <a:noFill/>
          <a:ln/>
        </p:spPr>
        <p:txBody>
          <a:bodyPr wrap="square" rtlCol="0" anchor="ctr"/>
          <a:lstStyle/>
          <a:p>
            <a:pPr indent="0" marL="0">
              <a:buNone/>
            </a:pPr>
            <a:r>
              <a:rPr lang="en-US" sz="1200" b="1" dirty="0">
                <a:solidFill>
                  <a:srgbClr val="4C1D95"/>
                </a:solidFill>
                <a:latin typeface="Arial" pitchFamily="34" charset="0"/>
                <a:ea typeface="Arial" pitchFamily="34" charset="-122"/>
                <a:cs typeface="Arial" pitchFamily="34" charset="-120"/>
              </a:rPr>
              <a:t>Step 2b — RBC Assist reads the same [Net Interest Income]</a:t>
            </a:r>
            <a:endParaRPr lang="en-US" sz="1200" dirty="0"/>
          </a:p>
        </p:txBody>
      </p:sp>
      <p:sp>
        <p:nvSpPr>
          <p:cNvPr id="26" name="Text 24"/>
          <p:cNvSpPr/>
          <p:nvPr/>
        </p:nvSpPr>
        <p:spPr>
          <a:xfrm>
            <a:off x="6492240" y="4114800"/>
            <a:ext cx="5029200" cy="822960"/>
          </a:xfrm>
          <a:prstGeom prst="rect">
            <a:avLst/>
          </a:prstGeom>
          <a:noFill/>
          <a:ln/>
        </p:spPr>
        <p:txBody>
          <a:bodyPr wrap="square" rtlCol="0" anchor="ctr"/>
          <a:lstStyle/>
          <a:p>
            <a:pPr indent="0" marL="0">
              <a:buNone/>
            </a:pPr>
            <a:r>
              <a:rPr lang="en-US" sz="950" dirty="0">
                <a:solidFill>
                  <a:srgbClr val="222730"/>
                </a:solidFill>
                <a:latin typeface="Arial" pitchFamily="34" charset="0"/>
                <a:ea typeface="Arial" pitchFamily="34" charset="-122"/>
                <a:cs typeface="Arial" pitchFamily="34" charset="-120"/>
              </a:rPr>
              <a:t>User asks RBC Assist in plain English. Azure AI Foundry → Fabric Data Agent translates the NL query to DAX — the same certified measure. Same number. Same RLS.</a:t>
            </a:r>
            <a:endParaRPr lang="en-US" sz="950" dirty="0"/>
          </a:p>
        </p:txBody>
      </p:sp>
      <p:sp>
        <p:nvSpPr>
          <p:cNvPr id="27" name="Shape 25"/>
          <p:cNvSpPr/>
          <p:nvPr/>
        </p:nvSpPr>
        <p:spPr>
          <a:xfrm>
            <a:off x="6492240" y="4983480"/>
            <a:ext cx="5029200" cy="640080"/>
          </a:xfrm>
          <a:prstGeom prst="rect">
            <a:avLst>
              <a:gd name="adj" fmla="val 10000"/>
            </a:avLst>
          </a:prstGeom>
          <a:solidFill>
            <a:srgbClr val="EDE9FE"/>
          </a:solidFill>
          <a:ln w="6350">
            <a:solidFill>
              <a:srgbClr val="DDD6FE"/>
            </a:solidFill>
            <a:prstDash val="solid"/>
          </a:ln>
        </p:spPr>
      </p:sp>
      <p:sp>
        <p:nvSpPr>
          <p:cNvPr id="28" name="Text 26"/>
          <p:cNvSpPr/>
          <p:nvPr/>
        </p:nvSpPr>
        <p:spPr>
          <a:xfrm>
            <a:off x="6583680" y="5029200"/>
            <a:ext cx="3200400" cy="548640"/>
          </a:xfrm>
          <a:prstGeom prst="rect">
            <a:avLst/>
          </a:prstGeom>
          <a:noFill/>
          <a:ln/>
        </p:spPr>
        <p:txBody>
          <a:bodyPr wrap="square" rtlCol="0" anchor="ctr"/>
          <a:lstStyle/>
          <a:p>
            <a:pPr indent="0" marL="0">
              <a:buNone/>
            </a:pPr>
            <a:r>
              <a:rPr lang="en-US" sz="900" i="1" dirty="0">
                <a:solidFill>
                  <a:srgbClr val="4C1D95"/>
                </a:solidFill>
                <a:latin typeface="Arial" pitchFamily="34" charset="0"/>
                <a:ea typeface="Arial" pitchFamily="34" charset="-122"/>
                <a:cs typeface="Arial" pitchFamily="34" charset="-120"/>
              </a:rPr>
              <a:t>"What was net interest income for Q1 2026 in Retail Banking?"</a:t>
            </a:r>
            <a:endParaRPr lang="en-US" sz="900" dirty="0"/>
          </a:p>
        </p:txBody>
      </p:sp>
      <p:sp>
        <p:nvSpPr>
          <p:cNvPr id="29" name="Text 27"/>
          <p:cNvSpPr/>
          <p:nvPr/>
        </p:nvSpPr>
        <p:spPr>
          <a:xfrm>
            <a:off x="9875520" y="5029200"/>
            <a:ext cx="1463040" cy="548640"/>
          </a:xfrm>
          <a:prstGeom prst="rect">
            <a:avLst/>
          </a:prstGeom>
          <a:noFill/>
          <a:ln/>
        </p:spPr>
        <p:txBody>
          <a:bodyPr wrap="square" rtlCol="0" anchor="ctr"/>
          <a:lstStyle/>
          <a:p>
            <a:pPr algn="r" indent="0" marL="0">
              <a:buNone/>
            </a:pPr>
            <a:r>
              <a:rPr lang="en-US" sz="1400" b="1" dirty="0">
                <a:solidFill>
                  <a:srgbClr val="4C1D95"/>
                </a:solidFill>
                <a:latin typeface="Arial" pitchFamily="34" charset="0"/>
                <a:ea typeface="Arial" pitchFamily="34" charset="-122"/>
                <a:cs typeface="Arial" pitchFamily="34" charset="-120"/>
              </a:rPr>
              <a:t>→ $1.24B</a:t>
            </a:r>
            <a:endParaRPr lang="en-US" sz="1400" dirty="0"/>
          </a:p>
        </p:txBody>
      </p:sp>
      <p:sp>
        <p:nvSpPr>
          <p:cNvPr id="30" name="Shape 28"/>
          <p:cNvSpPr/>
          <p:nvPr/>
        </p:nvSpPr>
        <p:spPr>
          <a:xfrm>
            <a:off x="6492240" y="5724144"/>
            <a:ext cx="868680" cy="201168"/>
          </a:xfrm>
          <a:prstGeom prst="rect">
            <a:avLst>
              <a:gd name="adj" fmla="val 22727"/>
            </a:avLst>
          </a:prstGeom>
          <a:solidFill>
            <a:srgbClr val="7C3AED"/>
          </a:solidFill>
          <a:ln w="12700">
            <a:solidFill>
              <a:srgbClr val="7C3AED"/>
            </a:solidFill>
            <a:prstDash val="solid"/>
          </a:ln>
        </p:spPr>
      </p:sp>
      <p:sp>
        <p:nvSpPr>
          <p:cNvPr id="31" name="Text 29"/>
          <p:cNvSpPr/>
          <p:nvPr/>
        </p:nvSpPr>
        <p:spPr>
          <a:xfrm>
            <a:off x="6492240" y="5724144"/>
            <a:ext cx="86868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AI surface</a:t>
            </a:r>
            <a:endParaRPr lang="en-US" sz="750" dirty="0"/>
          </a:p>
        </p:txBody>
      </p:sp>
      <p:sp>
        <p:nvSpPr>
          <p:cNvPr id="32" name="Text 30"/>
          <p:cNvSpPr/>
          <p:nvPr/>
        </p:nvSpPr>
        <p:spPr>
          <a:xfrm>
            <a:off x="7315200" y="5705856"/>
            <a:ext cx="4206240" cy="237744"/>
          </a:xfrm>
          <a:prstGeom prst="rect">
            <a:avLst/>
          </a:prstGeom>
          <a:noFill/>
          <a:ln/>
        </p:spPr>
        <p:txBody>
          <a:bodyPr wrap="square" rtlCol="0" anchor="ctr"/>
          <a:lstStyle/>
          <a:p>
            <a:pPr indent="0" marL="0">
              <a:buNone/>
            </a:pPr>
            <a:r>
              <a:rPr lang="en-US" sz="900" i="1" dirty="0">
                <a:solidFill>
                  <a:srgbClr val="64748B"/>
                </a:solidFill>
                <a:latin typeface="Arial" pitchFamily="34" charset="0"/>
                <a:ea typeface="Arial" pitchFamily="34" charset="-122"/>
                <a:cs typeface="Arial" pitchFamily="34" charset="-120"/>
              </a:rPr>
              <a:t>Same answer. Same source. Same access control.</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3F4FB"/>
          </a:solidFill>
          <a:ln w="12700">
            <a:solidFill>
              <a:srgbClr val="F3F4FB"/>
            </a:solidFill>
            <a:prstDash val="solid"/>
          </a:ln>
        </p:spPr>
      </p:sp>
      <p:sp>
        <p:nvSpPr>
          <p:cNvPr id="3" name="Text 1"/>
          <p:cNvSpPr/>
          <p:nvPr/>
        </p:nvSpPr>
        <p:spPr>
          <a:xfrm>
            <a:off x="274320" y="45720"/>
            <a:ext cx="6400800" cy="164592"/>
          </a:xfrm>
          <a:prstGeom prst="rect">
            <a:avLst/>
          </a:prstGeom>
          <a:noFill/>
          <a:ln/>
        </p:spPr>
        <p:txBody>
          <a:bodyPr wrap="square" rtlCol="0" anchor="ctr"/>
          <a:lstStyle/>
          <a:p>
            <a:pPr indent="0" marL="0">
              <a:buNone/>
            </a:pPr>
            <a:r>
              <a:rPr lang="en-US" sz="700" dirty="0">
                <a:solidFill>
                  <a:srgbClr val="87AFBF"/>
                </a:solidFill>
                <a:latin typeface="Arial" pitchFamily="34" charset="0"/>
                <a:ea typeface="Arial" pitchFamily="34" charset="-122"/>
                <a:cs typeface="Arial" pitchFamily="34" charset="-120"/>
              </a:rPr>
              <a:t>Confidential — Internal Use Only</a:t>
            </a:r>
            <a:endParaRPr lang="en-US" sz="700" dirty="0"/>
          </a:p>
        </p:txBody>
      </p:sp>
      <p:sp>
        <p:nvSpPr>
          <p:cNvPr id="4" name="Text 2"/>
          <p:cNvSpPr/>
          <p:nvPr/>
        </p:nvSpPr>
        <p:spPr>
          <a:xfrm>
            <a:off x="8686800" y="45720"/>
            <a:ext cx="3291840" cy="164592"/>
          </a:xfrm>
          <a:prstGeom prst="rect">
            <a:avLst/>
          </a:prstGeom>
          <a:noFill/>
          <a:ln/>
        </p:spPr>
        <p:txBody>
          <a:bodyPr wrap="square" rtlCol="0" anchor="ctr"/>
          <a:lstStyle/>
          <a:p>
            <a:pPr algn="r" indent="0" marL="0">
              <a:buNone/>
            </a:pPr>
            <a:r>
              <a:rPr lang="en-US" sz="700" dirty="0">
                <a:solidFill>
                  <a:srgbClr val="87AFBF"/>
                </a:solidFill>
                <a:latin typeface="Arial" pitchFamily="34" charset="0"/>
                <a:ea typeface="Arial" pitchFamily="34" charset="-122"/>
                <a:cs typeface="Arial" pitchFamily="34" charset="-120"/>
              </a:rPr>
              <a:t>Lumina · RBC Enterprise Data</a:t>
            </a:r>
            <a:endParaRPr lang="en-US" sz="700" dirty="0"/>
          </a:p>
        </p:txBody>
      </p:sp>
      <p:sp>
        <p:nvSpPr>
          <p:cNvPr id="5" name="Text 3"/>
          <p:cNvSpPr/>
          <p:nvPr/>
        </p:nvSpPr>
        <p:spPr>
          <a:xfrm>
            <a:off x="11704320" y="6583680"/>
            <a:ext cx="365760" cy="182880"/>
          </a:xfrm>
          <a:prstGeom prst="rect">
            <a:avLst/>
          </a:prstGeom>
          <a:noFill/>
          <a:ln/>
        </p:spPr>
        <p:txBody>
          <a:bodyPr wrap="square" rtlCol="0" anchor="ctr"/>
          <a:lstStyle/>
          <a:p>
            <a:pPr algn="r" indent="0" marL="0">
              <a:buNone/>
            </a:pPr>
            <a:r>
              <a:rPr lang="en-US" sz="900" dirty="0">
                <a:solidFill>
                  <a:srgbClr val="87AFBF"/>
                </a:solidFill>
                <a:latin typeface="Arial" pitchFamily="34" charset="0"/>
                <a:ea typeface="Arial" pitchFamily="34" charset="-122"/>
                <a:cs typeface="Arial" pitchFamily="34" charset="-120"/>
              </a:rPr>
              <a:t>5</a:t>
            </a:r>
            <a:endParaRPr lang="en-US" sz="900" dirty="0"/>
          </a:p>
        </p:txBody>
      </p:sp>
      <p:sp>
        <p:nvSpPr>
          <p:cNvPr id="6" name="Text 4"/>
          <p:cNvSpPr/>
          <p:nvPr/>
        </p:nvSpPr>
        <p:spPr>
          <a:xfrm>
            <a:off x="457200" y="347472"/>
            <a:ext cx="10972800" cy="502920"/>
          </a:xfrm>
          <a:prstGeom prst="rect">
            <a:avLst/>
          </a:prstGeom>
          <a:noFill/>
          <a:ln/>
        </p:spPr>
        <p:txBody>
          <a:bodyPr wrap="square" rtlCol="0" anchor="ctr"/>
          <a:lstStyle/>
          <a:p>
            <a:pPr indent="0" marL="0">
              <a:buNone/>
            </a:pPr>
            <a:r>
              <a:rPr lang="en-US" sz="2500" b="1" dirty="0">
                <a:solidFill>
                  <a:srgbClr val="003068"/>
                </a:solidFill>
                <a:latin typeface="Arial" pitchFamily="34" charset="0"/>
                <a:ea typeface="Arial" pitchFamily="34" charset="-122"/>
                <a:cs typeface="Arial" pitchFamily="34" charset="-120"/>
              </a:rPr>
              <a:t>How Fabric Enforces Consistently Across BI and AI</a:t>
            </a:r>
            <a:endParaRPr lang="en-US" sz="2500" dirty="0"/>
          </a:p>
        </p:txBody>
      </p:sp>
      <p:sp>
        <p:nvSpPr>
          <p:cNvPr id="7" name="Shape 5"/>
          <p:cNvSpPr/>
          <p:nvPr/>
        </p:nvSpPr>
        <p:spPr>
          <a:xfrm>
            <a:off x="457200" y="877824"/>
            <a:ext cx="11274552" cy="22860"/>
          </a:xfrm>
          <a:prstGeom prst="rect">
            <a:avLst/>
          </a:prstGeom>
          <a:solidFill>
            <a:srgbClr val="87AFBF"/>
          </a:solidFill>
          <a:ln w="12700">
            <a:solidFill>
              <a:srgbClr val="87AFBF"/>
            </a:solidFill>
            <a:prstDash val="solid"/>
          </a:ln>
        </p:spPr>
      </p:sp>
      <p:sp>
        <p:nvSpPr>
          <p:cNvPr id="8" name="Shape 6"/>
          <p:cNvSpPr/>
          <p:nvPr/>
        </p:nvSpPr>
        <p:spPr>
          <a:xfrm>
            <a:off x="457200" y="1051560"/>
            <a:ext cx="3566160" cy="2423160"/>
          </a:xfrm>
          <a:prstGeom prst="rect">
            <a:avLst>
              <a:gd name="adj" fmla="val 3774"/>
            </a:avLst>
          </a:prstGeom>
          <a:solidFill>
            <a:srgbClr val="EFF6FF"/>
          </a:solidFill>
          <a:ln w="6350">
            <a:solidFill>
              <a:srgbClr val="87AFBF"/>
            </a:solidFill>
            <a:prstDash val="solid"/>
          </a:ln>
        </p:spPr>
      </p:sp>
      <p:sp>
        <p:nvSpPr>
          <p:cNvPr id="9" name="Shape 7"/>
          <p:cNvSpPr/>
          <p:nvPr/>
        </p:nvSpPr>
        <p:spPr>
          <a:xfrm>
            <a:off x="457200" y="1051560"/>
            <a:ext cx="3566160" cy="64008"/>
          </a:xfrm>
          <a:prstGeom prst="rect">
            <a:avLst/>
          </a:prstGeom>
          <a:solidFill>
            <a:srgbClr val="003068"/>
          </a:solidFill>
          <a:ln w="12700">
            <a:solidFill>
              <a:srgbClr val="003068"/>
            </a:solidFill>
            <a:prstDash val="solid"/>
          </a:ln>
        </p:spPr>
      </p:sp>
      <p:sp>
        <p:nvSpPr>
          <p:cNvPr id="10" name="Text 8"/>
          <p:cNvSpPr/>
          <p:nvPr/>
        </p:nvSpPr>
        <p:spPr>
          <a:xfrm>
            <a:off x="594360" y="1161288"/>
            <a:ext cx="3291840" cy="347472"/>
          </a:xfrm>
          <a:prstGeom prst="rect">
            <a:avLst/>
          </a:prstGeom>
          <a:noFill/>
          <a:ln/>
        </p:spPr>
        <p:txBody>
          <a:bodyPr wrap="square" lIns="0" tIns="0" rIns="0" bIns="0" rtlCol="0" anchor="ctr"/>
          <a:lstStyle/>
          <a:p>
            <a:pPr indent="0" marL="0">
              <a:buNone/>
            </a:pPr>
            <a:r>
              <a:rPr lang="en-US" sz="1200" b="1" dirty="0">
                <a:solidFill>
                  <a:srgbClr val="003068"/>
                </a:solidFill>
                <a:latin typeface="Arial" pitchFamily="34" charset="0"/>
                <a:ea typeface="Arial" pitchFamily="34" charset="-122"/>
                <a:cs typeface="Arial" pitchFamily="34" charset="-120"/>
              </a:rPr>
              <a:t>Import mode (mandatory)</a:t>
            </a:r>
            <a:endParaRPr lang="en-US" sz="1200" dirty="0"/>
          </a:p>
        </p:txBody>
      </p:sp>
      <p:sp>
        <p:nvSpPr>
          <p:cNvPr id="11" name="Text 9"/>
          <p:cNvSpPr/>
          <p:nvPr/>
        </p:nvSpPr>
        <p:spPr>
          <a:xfrm>
            <a:off x="594360" y="1527048"/>
            <a:ext cx="3291840" cy="201168"/>
          </a:xfrm>
          <a:prstGeom prst="rect">
            <a:avLst/>
          </a:prstGeom>
          <a:noFill/>
          <a:ln/>
        </p:spPr>
        <p:txBody>
          <a:bodyPr wrap="square" lIns="0" tIns="0" rIns="0" bIns="0" rtlCol="0" anchor="ctr"/>
          <a:lstStyle/>
          <a:p>
            <a:pPr indent="0" marL="0">
              <a:buNone/>
            </a:pPr>
            <a:r>
              <a:rPr lang="en-US" sz="850" i="1" dirty="0">
                <a:solidFill>
                  <a:srgbClr val="64748B"/>
                </a:solidFill>
                <a:latin typeface="Arial" pitchFamily="34" charset="0"/>
                <a:ea typeface="Arial" pitchFamily="34" charset="-122"/>
                <a:cs typeface="Arial" pitchFamily="34" charset="-120"/>
              </a:rPr>
              <a:t>ADR-010</a:t>
            </a:r>
            <a:endParaRPr lang="en-US" sz="850" dirty="0"/>
          </a:p>
        </p:txBody>
      </p:sp>
      <p:sp>
        <p:nvSpPr>
          <p:cNvPr id="12" name="Text 10"/>
          <p:cNvSpPr/>
          <p:nvPr/>
        </p:nvSpPr>
        <p:spPr>
          <a:xfrm>
            <a:off x="594360" y="1764792"/>
            <a:ext cx="3291840" cy="1600200"/>
          </a:xfrm>
          <a:prstGeom prst="rect">
            <a:avLst/>
          </a:prstGeom>
          <a:noFill/>
          <a:ln/>
        </p:spPr>
        <p:txBody>
          <a:bodyPr wrap="square" rtlCol="0" anchor="t"/>
          <a:lstStyle/>
          <a:p>
            <a:pPr indent="0" marL="0">
              <a:buNone/>
            </a:pPr>
            <a:r>
              <a:rPr lang="en-US" sz="900" dirty="0">
                <a:solidFill>
                  <a:srgbClr val="222730"/>
                </a:solidFill>
                <a:latin typeface="Arial" pitchFamily="34" charset="0"/>
                <a:ea typeface="Arial" pitchFamily="34" charset="-122"/>
                <a:cs typeface="Arial" pitchFamily="34" charset="-120"/>
              </a:rPr>
              <a:t>Gold data is imported into Fabric's VertiPaq in-memory engine as a Delta copy. Import mode is non-negotiable: DirectLake bypasses T-SQL DDM (PII/PCI exposure risk). DirectQuery into third-party models produces incorrect subtotals. Import is the only safe path.</a:t>
            </a:r>
            <a:endParaRPr lang="en-US" sz="900" dirty="0"/>
          </a:p>
        </p:txBody>
      </p:sp>
      <p:sp>
        <p:nvSpPr>
          <p:cNvPr id="13" name="Shape 11"/>
          <p:cNvSpPr/>
          <p:nvPr/>
        </p:nvSpPr>
        <p:spPr>
          <a:xfrm>
            <a:off x="4261104" y="1051560"/>
            <a:ext cx="3566160" cy="2423160"/>
          </a:xfrm>
          <a:prstGeom prst="rect">
            <a:avLst>
              <a:gd name="adj" fmla="val 3774"/>
            </a:avLst>
          </a:prstGeom>
          <a:solidFill>
            <a:srgbClr val="F0FDF4"/>
          </a:solidFill>
          <a:ln w="6350">
            <a:solidFill>
              <a:srgbClr val="87AFBF"/>
            </a:solidFill>
            <a:prstDash val="solid"/>
          </a:ln>
        </p:spPr>
      </p:sp>
      <p:sp>
        <p:nvSpPr>
          <p:cNvPr id="14" name="Shape 12"/>
          <p:cNvSpPr/>
          <p:nvPr/>
        </p:nvSpPr>
        <p:spPr>
          <a:xfrm>
            <a:off x="4261104" y="1051560"/>
            <a:ext cx="3566160" cy="64008"/>
          </a:xfrm>
          <a:prstGeom prst="rect">
            <a:avLst/>
          </a:prstGeom>
          <a:solidFill>
            <a:srgbClr val="065F46"/>
          </a:solidFill>
          <a:ln w="12700">
            <a:solidFill>
              <a:srgbClr val="065F46"/>
            </a:solidFill>
            <a:prstDash val="solid"/>
          </a:ln>
        </p:spPr>
      </p:sp>
      <p:sp>
        <p:nvSpPr>
          <p:cNvPr id="15" name="Text 13"/>
          <p:cNvSpPr/>
          <p:nvPr/>
        </p:nvSpPr>
        <p:spPr>
          <a:xfrm>
            <a:off x="4398264" y="1161288"/>
            <a:ext cx="3291840" cy="347472"/>
          </a:xfrm>
          <a:prstGeom prst="rect">
            <a:avLst/>
          </a:prstGeom>
          <a:noFill/>
          <a:ln/>
        </p:spPr>
        <p:txBody>
          <a:bodyPr wrap="square" lIns="0" tIns="0" rIns="0" bIns="0" rtlCol="0" anchor="ctr"/>
          <a:lstStyle/>
          <a:p>
            <a:pPr indent="0" marL="0">
              <a:buNone/>
            </a:pPr>
            <a:r>
              <a:rPr lang="en-US" sz="1200" b="1" dirty="0">
                <a:solidFill>
                  <a:srgbClr val="065F46"/>
                </a:solidFill>
                <a:latin typeface="Arial" pitchFamily="34" charset="0"/>
                <a:ea typeface="Arial" pitchFamily="34" charset="-122"/>
                <a:cs typeface="Arial" pitchFamily="34" charset="-120"/>
              </a:rPr>
              <a:t>Row-Level Security (RLS)</a:t>
            </a:r>
            <a:endParaRPr lang="en-US" sz="1200" dirty="0"/>
          </a:p>
        </p:txBody>
      </p:sp>
      <p:sp>
        <p:nvSpPr>
          <p:cNvPr id="16" name="Text 14"/>
          <p:cNvSpPr/>
          <p:nvPr/>
        </p:nvSpPr>
        <p:spPr>
          <a:xfrm>
            <a:off x="4398264" y="1527048"/>
            <a:ext cx="3291840" cy="201168"/>
          </a:xfrm>
          <a:prstGeom prst="rect">
            <a:avLst/>
          </a:prstGeom>
          <a:noFill/>
          <a:ln/>
        </p:spPr>
        <p:txBody>
          <a:bodyPr wrap="square" lIns="0" tIns="0" rIns="0" bIns="0" rtlCol="0" anchor="ctr"/>
          <a:lstStyle/>
          <a:p>
            <a:pPr indent="0" marL="0">
              <a:buNone/>
            </a:pPr>
            <a:r>
              <a:rPr lang="en-US" sz="850" i="1" dirty="0">
                <a:solidFill>
                  <a:srgbClr val="64748B"/>
                </a:solidFill>
                <a:latin typeface="Arial" pitchFamily="34" charset="0"/>
                <a:ea typeface="Arial" pitchFamily="34" charset="-122"/>
                <a:cs typeface="Arial" pitchFamily="34" charset="-120"/>
              </a:rPr>
              <a:t>AD group → DAX filter</a:t>
            </a:r>
            <a:endParaRPr lang="en-US" sz="850" dirty="0"/>
          </a:p>
        </p:txBody>
      </p:sp>
      <p:sp>
        <p:nvSpPr>
          <p:cNvPr id="17" name="Text 15"/>
          <p:cNvSpPr/>
          <p:nvPr/>
        </p:nvSpPr>
        <p:spPr>
          <a:xfrm>
            <a:off x="4398264" y="1764792"/>
            <a:ext cx="3291840" cy="1600200"/>
          </a:xfrm>
          <a:prstGeom prst="rect">
            <a:avLst/>
          </a:prstGeom>
          <a:noFill/>
          <a:ln/>
        </p:spPr>
        <p:txBody>
          <a:bodyPr wrap="square" rtlCol="0" anchor="t"/>
          <a:lstStyle/>
          <a:p>
            <a:pPr indent="0" marL="0">
              <a:buNone/>
            </a:pPr>
            <a:r>
              <a:rPr lang="en-US" sz="900" dirty="0">
                <a:solidFill>
                  <a:srgbClr val="222730"/>
                </a:solidFill>
                <a:latin typeface="Arial" pitchFamily="34" charset="0"/>
                <a:ea typeface="Arial" pitchFamily="34" charset="-122"/>
                <a:cs typeface="Arial" pitchFamily="34" charset="-120"/>
              </a:rPr>
              <a:t>RLS rules are DAX filter expressions tied to AD group membership. The Fabric Data Agent inherits these rules — an AI query is subject to the same row restrictions as a Power BI visual. An analyst in the Retail group cannot query Capital Markets data through either surface.</a:t>
            </a:r>
            <a:endParaRPr lang="en-US" sz="900" dirty="0"/>
          </a:p>
        </p:txBody>
      </p:sp>
      <p:sp>
        <p:nvSpPr>
          <p:cNvPr id="18" name="Shape 16"/>
          <p:cNvSpPr/>
          <p:nvPr/>
        </p:nvSpPr>
        <p:spPr>
          <a:xfrm>
            <a:off x="8065008" y="1051560"/>
            <a:ext cx="3566160" cy="2423160"/>
          </a:xfrm>
          <a:prstGeom prst="rect">
            <a:avLst>
              <a:gd name="adj" fmla="val 3774"/>
            </a:avLst>
          </a:prstGeom>
          <a:solidFill>
            <a:srgbClr val="FFF7ED"/>
          </a:solidFill>
          <a:ln w="6350">
            <a:solidFill>
              <a:srgbClr val="87AFBF"/>
            </a:solidFill>
            <a:prstDash val="solid"/>
          </a:ln>
        </p:spPr>
      </p:sp>
      <p:sp>
        <p:nvSpPr>
          <p:cNvPr id="19" name="Shape 17"/>
          <p:cNvSpPr/>
          <p:nvPr/>
        </p:nvSpPr>
        <p:spPr>
          <a:xfrm>
            <a:off x="8065008" y="1051560"/>
            <a:ext cx="3566160" cy="64008"/>
          </a:xfrm>
          <a:prstGeom prst="rect">
            <a:avLst/>
          </a:prstGeom>
          <a:solidFill>
            <a:srgbClr val="92400E"/>
          </a:solidFill>
          <a:ln w="12700">
            <a:solidFill>
              <a:srgbClr val="92400E"/>
            </a:solidFill>
            <a:prstDash val="solid"/>
          </a:ln>
        </p:spPr>
      </p:sp>
      <p:sp>
        <p:nvSpPr>
          <p:cNvPr id="20" name="Text 18"/>
          <p:cNvSpPr/>
          <p:nvPr/>
        </p:nvSpPr>
        <p:spPr>
          <a:xfrm>
            <a:off x="8202168" y="1161288"/>
            <a:ext cx="3291840" cy="347472"/>
          </a:xfrm>
          <a:prstGeom prst="rect">
            <a:avLst/>
          </a:prstGeom>
          <a:noFill/>
          <a:ln/>
        </p:spPr>
        <p:txBody>
          <a:bodyPr wrap="square" lIns="0" tIns="0" rIns="0" bIns="0" rtlCol="0" anchor="ctr"/>
          <a:lstStyle/>
          <a:p>
            <a:pPr indent="0" marL="0">
              <a:buNone/>
            </a:pPr>
            <a:r>
              <a:rPr lang="en-US" sz="1200" b="1" dirty="0">
                <a:solidFill>
                  <a:srgbClr val="92400E"/>
                </a:solidFill>
                <a:latin typeface="Arial" pitchFamily="34" charset="0"/>
                <a:ea typeface="Arial" pitchFamily="34" charset="-122"/>
                <a:cs typeface="Arial" pitchFamily="34" charset="-120"/>
              </a:rPr>
              <a:t>T-SQL DDM (column masking)</a:t>
            </a:r>
            <a:endParaRPr lang="en-US" sz="1200" dirty="0"/>
          </a:p>
        </p:txBody>
      </p:sp>
      <p:sp>
        <p:nvSpPr>
          <p:cNvPr id="21" name="Text 19"/>
          <p:cNvSpPr/>
          <p:nvPr/>
        </p:nvSpPr>
        <p:spPr>
          <a:xfrm>
            <a:off x="8202168" y="1527048"/>
            <a:ext cx="3291840" cy="201168"/>
          </a:xfrm>
          <a:prstGeom prst="rect">
            <a:avLst/>
          </a:prstGeom>
          <a:noFill/>
          <a:ln/>
        </p:spPr>
        <p:txBody>
          <a:bodyPr wrap="square" lIns="0" tIns="0" rIns="0" bIns="0" rtlCol="0" anchor="ctr"/>
          <a:lstStyle/>
          <a:p>
            <a:pPr indent="0" marL="0">
              <a:buNone/>
            </a:pPr>
            <a:r>
              <a:rPr lang="en-US" sz="850" i="1" dirty="0">
                <a:solidFill>
                  <a:srgbClr val="64748B"/>
                </a:solidFill>
                <a:latin typeface="Arial" pitchFamily="34" charset="0"/>
                <a:ea typeface="Arial" pitchFamily="34" charset="-122"/>
                <a:cs typeface="Arial" pitchFamily="34" charset="-120"/>
              </a:rPr>
              <a:t>SQL Analytics Endpoint</a:t>
            </a:r>
            <a:endParaRPr lang="en-US" sz="850" dirty="0"/>
          </a:p>
        </p:txBody>
      </p:sp>
      <p:sp>
        <p:nvSpPr>
          <p:cNvPr id="22" name="Text 20"/>
          <p:cNvSpPr/>
          <p:nvPr/>
        </p:nvSpPr>
        <p:spPr>
          <a:xfrm>
            <a:off x="8202168" y="1764792"/>
            <a:ext cx="3291840" cy="1600200"/>
          </a:xfrm>
          <a:prstGeom prst="rect">
            <a:avLst/>
          </a:prstGeom>
          <a:noFill/>
          <a:ln/>
        </p:spPr>
        <p:txBody>
          <a:bodyPr wrap="square" rtlCol="0" anchor="t"/>
          <a:lstStyle/>
          <a:p>
            <a:pPr indent="0" marL="0">
              <a:buNone/>
            </a:pPr>
            <a:r>
              <a:rPr lang="en-US" sz="900" dirty="0">
                <a:solidFill>
                  <a:srgbClr val="222730"/>
                </a:solidFill>
                <a:latin typeface="Arial" pitchFamily="34" charset="0"/>
                <a:ea typeface="Arial" pitchFamily="34" charset="-122"/>
                <a:cs typeface="Arial" pitchFamily="34" charset="-120"/>
              </a:rPr>
              <a:t>Dynamic Data Masking is enforced at the Fabric SQL Analytics Endpoint for PII and PCI columns. This applies to any consumer connecting via SQL — including Tableau via ODBC — in addition to the Fabric semantic model surface. Two independent masking layers.</a:t>
            </a:r>
            <a:endParaRPr lang="en-US" sz="900" dirty="0"/>
          </a:p>
        </p:txBody>
      </p:sp>
      <p:sp>
        <p:nvSpPr>
          <p:cNvPr id="23" name="Shape 21"/>
          <p:cNvSpPr/>
          <p:nvPr/>
        </p:nvSpPr>
        <p:spPr>
          <a:xfrm>
            <a:off x="457200" y="3657600"/>
            <a:ext cx="3566160" cy="2423160"/>
          </a:xfrm>
          <a:prstGeom prst="rect">
            <a:avLst>
              <a:gd name="adj" fmla="val 3774"/>
            </a:avLst>
          </a:prstGeom>
          <a:solidFill>
            <a:srgbClr val="FAF5FF"/>
          </a:solidFill>
          <a:ln w="6350">
            <a:solidFill>
              <a:srgbClr val="87AFBF"/>
            </a:solidFill>
            <a:prstDash val="solid"/>
          </a:ln>
        </p:spPr>
      </p:sp>
      <p:sp>
        <p:nvSpPr>
          <p:cNvPr id="24" name="Shape 22"/>
          <p:cNvSpPr/>
          <p:nvPr/>
        </p:nvSpPr>
        <p:spPr>
          <a:xfrm>
            <a:off x="457200" y="3657600"/>
            <a:ext cx="3566160" cy="64008"/>
          </a:xfrm>
          <a:prstGeom prst="rect">
            <a:avLst/>
          </a:prstGeom>
          <a:solidFill>
            <a:srgbClr val="4C1D95"/>
          </a:solidFill>
          <a:ln w="12700">
            <a:solidFill>
              <a:srgbClr val="4C1D95"/>
            </a:solidFill>
            <a:prstDash val="solid"/>
          </a:ln>
        </p:spPr>
      </p:sp>
      <p:sp>
        <p:nvSpPr>
          <p:cNvPr id="25" name="Text 23"/>
          <p:cNvSpPr/>
          <p:nvPr/>
        </p:nvSpPr>
        <p:spPr>
          <a:xfrm>
            <a:off x="594360" y="3767328"/>
            <a:ext cx="3291840" cy="347472"/>
          </a:xfrm>
          <a:prstGeom prst="rect">
            <a:avLst/>
          </a:prstGeom>
          <a:noFill/>
          <a:ln/>
        </p:spPr>
        <p:txBody>
          <a:bodyPr wrap="square" lIns="0" tIns="0" rIns="0" bIns="0" rtlCol="0" anchor="ctr"/>
          <a:lstStyle/>
          <a:p>
            <a:pPr indent="0" marL="0">
              <a:buNone/>
            </a:pPr>
            <a:r>
              <a:rPr lang="en-US" sz="1200" b="1" dirty="0">
                <a:solidFill>
                  <a:srgbClr val="4C1D95"/>
                </a:solidFill>
                <a:latin typeface="Arial" pitchFamily="34" charset="0"/>
                <a:ea typeface="Arial" pitchFamily="34" charset="-122"/>
                <a:cs typeface="Arial" pitchFamily="34" charset="-120"/>
              </a:rPr>
              <a:t>Verified Answers</a:t>
            </a:r>
            <a:endParaRPr lang="en-US" sz="1200" dirty="0"/>
          </a:p>
        </p:txBody>
      </p:sp>
      <p:sp>
        <p:nvSpPr>
          <p:cNvPr id="26" name="Text 24"/>
          <p:cNvSpPr/>
          <p:nvPr/>
        </p:nvSpPr>
        <p:spPr>
          <a:xfrm>
            <a:off x="594360" y="4133088"/>
            <a:ext cx="3291840" cy="201168"/>
          </a:xfrm>
          <a:prstGeom prst="rect">
            <a:avLst/>
          </a:prstGeom>
          <a:noFill/>
          <a:ln/>
        </p:spPr>
        <p:txBody>
          <a:bodyPr wrap="square" lIns="0" tIns="0" rIns="0" bIns="0" rtlCol="0" anchor="ctr"/>
          <a:lstStyle/>
          <a:p>
            <a:pPr indent="0" marL="0">
              <a:buNone/>
            </a:pPr>
            <a:r>
              <a:rPr lang="en-US" sz="850" i="1" dirty="0">
                <a:solidFill>
                  <a:srgbClr val="64748B"/>
                </a:solidFill>
                <a:latin typeface="Arial" pitchFamily="34" charset="0"/>
                <a:ea typeface="Arial" pitchFamily="34" charset="-122"/>
                <a:cs typeface="Arial" pitchFamily="34" charset="-120"/>
              </a:rPr>
              <a:t>AI-specific governance</a:t>
            </a:r>
            <a:endParaRPr lang="en-US" sz="850" dirty="0"/>
          </a:p>
        </p:txBody>
      </p:sp>
      <p:sp>
        <p:nvSpPr>
          <p:cNvPr id="27" name="Text 25"/>
          <p:cNvSpPr/>
          <p:nvPr/>
        </p:nvSpPr>
        <p:spPr>
          <a:xfrm>
            <a:off x="594360" y="4370832"/>
            <a:ext cx="3291840" cy="1600200"/>
          </a:xfrm>
          <a:prstGeom prst="rect">
            <a:avLst/>
          </a:prstGeom>
          <a:noFill/>
          <a:ln/>
        </p:spPr>
        <p:txBody>
          <a:bodyPr wrap="square" rtlCol="0" anchor="t"/>
          <a:lstStyle/>
          <a:p>
            <a:pPr indent="0" marL="0">
              <a:buNone/>
            </a:pPr>
            <a:r>
              <a:rPr lang="en-US" sz="900" dirty="0">
                <a:solidFill>
                  <a:srgbClr val="222730"/>
                </a:solidFill>
                <a:latin typeface="Arial" pitchFamily="34" charset="0"/>
                <a:ea typeface="Arial" pitchFamily="34" charset="-122"/>
                <a:cs typeface="Arial" pitchFamily="34" charset="-120"/>
              </a:rPr>
              <a:t>For sensitive KPIs (regulatory ratios, capital adequacy), the Data Governance team pre-defines Verified Answers in the AI Data Schema. RBC Assist serves the certified, pre-approved response for these questions rather than generating DAX dynamically. Reduces AI hallucination risk on regulated metrics.</a:t>
            </a:r>
            <a:endParaRPr lang="en-US" sz="900" dirty="0"/>
          </a:p>
        </p:txBody>
      </p:sp>
      <p:sp>
        <p:nvSpPr>
          <p:cNvPr id="28" name="Shape 26"/>
          <p:cNvSpPr/>
          <p:nvPr/>
        </p:nvSpPr>
        <p:spPr>
          <a:xfrm>
            <a:off x="4261104" y="3657600"/>
            <a:ext cx="3566160" cy="2423160"/>
          </a:xfrm>
          <a:prstGeom prst="rect">
            <a:avLst>
              <a:gd name="adj" fmla="val 3774"/>
            </a:avLst>
          </a:prstGeom>
          <a:solidFill>
            <a:srgbClr val="FEFCE8"/>
          </a:solidFill>
          <a:ln w="6350">
            <a:solidFill>
              <a:srgbClr val="87AFBF"/>
            </a:solidFill>
            <a:prstDash val="solid"/>
          </a:ln>
        </p:spPr>
      </p:sp>
      <p:sp>
        <p:nvSpPr>
          <p:cNvPr id="29" name="Shape 27"/>
          <p:cNvSpPr/>
          <p:nvPr/>
        </p:nvSpPr>
        <p:spPr>
          <a:xfrm>
            <a:off x="4261104" y="3657600"/>
            <a:ext cx="3566160" cy="64008"/>
          </a:xfrm>
          <a:prstGeom prst="rect">
            <a:avLst/>
          </a:prstGeom>
          <a:solidFill>
            <a:srgbClr val="713F12"/>
          </a:solidFill>
          <a:ln w="12700">
            <a:solidFill>
              <a:srgbClr val="713F12"/>
            </a:solidFill>
            <a:prstDash val="solid"/>
          </a:ln>
        </p:spPr>
      </p:sp>
      <p:sp>
        <p:nvSpPr>
          <p:cNvPr id="30" name="Text 28"/>
          <p:cNvSpPr/>
          <p:nvPr/>
        </p:nvSpPr>
        <p:spPr>
          <a:xfrm>
            <a:off x="4398264" y="3767328"/>
            <a:ext cx="3291840" cy="347472"/>
          </a:xfrm>
          <a:prstGeom prst="rect">
            <a:avLst/>
          </a:prstGeom>
          <a:noFill/>
          <a:ln/>
        </p:spPr>
        <p:txBody>
          <a:bodyPr wrap="square" lIns="0" tIns="0" rIns="0" bIns="0" rtlCol="0" anchor="ctr"/>
          <a:lstStyle/>
          <a:p>
            <a:pPr indent="0" marL="0">
              <a:buNone/>
            </a:pPr>
            <a:r>
              <a:rPr lang="en-US" sz="1200" b="1" dirty="0">
                <a:solidFill>
                  <a:srgbClr val="713F12"/>
                </a:solidFill>
                <a:latin typeface="Arial" pitchFamily="34" charset="0"/>
                <a:ea typeface="Arial" pitchFamily="34" charset="-122"/>
                <a:cs typeface="Arial" pitchFamily="34" charset="-120"/>
              </a:rPr>
              <a:t>F64 SKU — 25 GB per model</a:t>
            </a:r>
            <a:endParaRPr lang="en-US" sz="1200" dirty="0"/>
          </a:p>
        </p:txBody>
      </p:sp>
      <p:sp>
        <p:nvSpPr>
          <p:cNvPr id="31" name="Text 29"/>
          <p:cNvSpPr/>
          <p:nvPr/>
        </p:nvSpPr>
        <p:spPr>
          <a:xfrm>
            <a:off x="4398264" y="4133088"/>
            <a:ext cx="3291840" cy="201168"/>
          </a:xfrm>
          <a:prstGeom prst="rect">
            <a:avLst/>
          </a:prstGeom>
          <a:noFill/>
          <a:ln/>
        </p:spPr>
        <p:txBody>
          <a:bodyPr wrap="square" lIns="0" tIns="0" rIns="0" bIns="0" rtlCol="0" anchor="ctr"/>
          <a:lstStyle/>
          <a:p>
            <a:pPr indent="0" marL="0">
              <a:buNone/>
            </a:pPr>
            <a:r>
              <a:rPr lang="en-US" sz="850" i="1" dirty="0">
                <a:solidFill>
                  <a:srgbClr val="64748B"/>
                </a:solidFill>
                <a:latin typeface="Arial" pitchFamily="34" charset="0"/>
                <a:ea typeface="Arial" pitchFamily="34" charset="-122"/>
                <a:cs typeface="Arial" pitchFamily="34" charset="-120"/>
              </a:rPr>
              <a:t>Capacity planning</a:t>
            </a:r>
            <a:endParaRPr lang="en-US" sz="850" dirty="0"/>
          </a:p>
        </p:txBody>
      </p:sp>
      <p:sp>
        <p:nvSpPr>
          <p:cNvPr id="32" name="Text 30"/>
          <p:cNvSpPr/>
          <p:nvPr/>
        </p:nvSpPr>
        <p:spPr>
          <a:xfrm>
            <a:off x="4398264" y="4370832"/>
            <a:ext cx="3291840" cy="1600200"/>
          </a:xfrm>
          <a:prstGeom prst="rect">
            <a:avLst/>
          </a:prstGeom>
          <a:noFill/>
          <a:ln/>
        </p:spPr>
        <p:txBody>
          <a:bodyPr wrap="square" rtlCol="0" anchor="t"/>
          <a:lstStyle/>
          <a:p>
            <a:pPr indent="0" marL="0">
              <a:buNone/>
            </a:pPr>
            <a:r>
              <a:rPr lang="en-US" sz="900" dirty="0">
                <a:solidFill>
                  <a:srgbClr val="222730"/>
                </a:solidFill>
                <a:latin typeface="Arial" pitchFamily="34" charset="0"/>
                <a:ea typeface="Arial" pitchFamily="34" charset="-122"/>
                <a:cs typeface="Arial" pitchFamily="34" charset="-120"/>
              </a:rPr>
              <a:t>F64 provides 25 GB per semantic model. RBC's Gold estate requires domain-scoped model federation: Finance, Risk, Retail, Capital Markets, Wealth as separate models. Cross-domain KPIs served via a thin executive model. Incremental refresh + hybrid tables required at scale.</a:t>
            </a:r>
            <a:endParaRPr lang="en-US" sz="900" dirty="0"/>
          </a:p>
        </p:txBody>
      </p:sp>
      <p:sp>
        <p:nvSpPr>
          <p:cNvPr id="33" name="Shape 31"/>
          <p:cNvSpPr/>
          <p:nvPr/>
        </p:nvSpPr>
        <p:spPr>
          <a:xfrm>
            <a:off x="8065008" y="3657600"/>
            <a:ext cx="3566160" cy="2423160"/>
          </a:xfrm>
          <a:prstGeom prst="rect">
            <a:avLst>
              <a:gd name="adj" fmla="val 3774"/>
            </a:avLst>
          </a:prstGeom>
          <a:solidFill>
            <a:srgbClr val="F3F4FB"/>
          </a:solidFill>
          <a:ln w="6350">
            <a:solidFill>
              <a:srgbClr val="87AFBF"/>
            </a:solidFill>
            <a:prstDash val="solid"/>
          </a:ln>
        </p:spPr>
      </p:sp>
      <p:sp>
        <p:nvSpPr>
          <p:cNvPr id="34" name="Shape 32"/>
          <p:cNvSpPr/>
          <p:nvPr/>
        </p:nvSpPr>
        <p:spPr>
          <a:xfrm>
            <a:off x="8065008" y="3657600"/>
            <a:ext cx="3566160" cy="64008"/>
          </a:xfrm>
          <a:prstGeom prst="rect">
            <a:avLst/>
          </a:prstGeom>
          <a:solidFill>
            <a:srgbClr val="003068"/>
          </a:solidFill>
          <a:ln w="12700">
            <a:solidFill>
              <a:srgbClr val="003068"/>
            </a:solidFill>
            <a:prstDash val="solid"/>
          </a:ln>
        </p:spPr>
      </p:sp>
      <p:sp>
        <p:nvSpPr>
          <p:cNvPr id="35" name="Text 33"/>
          <p:cNvSpPr/>
          <p:nvPr/>
        </p:nvSpPr>
        <p:spPr>
          <a:xfrm>
            <a:off x="8202168" y="3767328"/>
            <a:ext cx="3291840" cy="347472"/>
          </a:xfrm>
          <a:prstGeom prst="rect">
            <a:avLst/>
          </a:prstGeom>
          <a:noFill/>
          <a:ln/>
        </p:spPr>
        <p:txBody>
          <a:bodyPr wrap="square" lIns="0" tIns="0" rIns="0" bIns="0" rtlCol="0" anchor="ctr"/>
          <a:lstStyle/>
          <a:p>
            <a:pPr indent="0" marL="0">
              <a:buNone/>
            </a:pPr>
            <a:r>
              <a:rPr lang="en-US" sz="1200" b="1" dirty="0">
                <a:solidFill>
                  <a:srgbClr val="003068"/>
                </a:solidFill>
                <a:latin typeface="Arial" pitchFamily="34" charset="0"/>
                <a:ea typeface="Arial" pitchFamily="34" charset="-122"/>
                <a:cs typeface="Arial" pitchFamily="34" charset="-120"/>
              </a:rPr>
              <a:t>Git integration</a:t>
            </a:r>
            <a:endParaRPr lang="en-US" sz="1200" dirty="0"/>
          </a:p>
        </p:txBody>
      </p:sp>
      <p:sp>
        <p:nvSpPr>
          <p:cNvPr id="36" name="Text 34"/>
          <p:cNvSpPr/>
          <p:nvPr/>
        </p:nvSpPr>
        <p:spPr>
          <a:xfrm>
            <a:off x="8202168" y="4133088"/>
            <a:ext cx="3291840" cy="201168"/>
          </a:xfrm>
          <a:prstGeom prst="rect">
            <a:avLst/>
          </a:prstGeom>
          <a:noFill/>
          <a:ln/>
        </p:spPr>
        <p:txBody>
          <a:bodyPr wrap="square" lIns="0" tIns="0" rIns="0" bIns="0" rtlCol="0" anchor="ctr"/>
          <a:lstStyle/>
          <a:p>
            <a:pPr indent="0" marL="0">
              <a:buNone/>
            </a:pPr>
            <a:r>
              <a:rPr lang="en-US" sz="850" i="1" dirty="0">
                <a:solidFill>
                  <a:srgbClr val="64748B"/>
                </a:solidFill>
                <a:latin typeface="Arial" pitchFamily="34" charset="0"/>
                <a:ea typeface="Arial" pitchFamily="34" charset="-122"/>
                <a:cs typeface="Arial" pitchFamily="34" charset="-120"/>
              </a:rPr>
              <a:t>Metric governance</a:t>
            </a:r>
            <a:endParaRPr lang="en-US" sz="850" dirty="0"/>
          </a:p>
        </p:txBody>
      </p:sp>
      <p:sp>
        <p:nvSpPr>
          <p:cNvPr id="37" name="Text 35"/>
          <p:cNvSpPr/>
          <p:nvPr/>
        </p:nvSpPr>
        <p:spPr>
          <a:xfrm>
            <a:off x="8202168" y="4370832"/>
            <a:ext cx="3291840" cy="1600200"/>
          </a:xfrm>
          <a:prstGeom prst="rect">
            <a:avLst/>
          </a:prstGeom>
          <a:noFill/>
          <a:ln/>
        </p:spPr>
        <p:txBody>
          <a:bodyPr wrap="square" rtlCol="0" anchor="t"/>
          <a:lstStyle/>
          <a:p>
            <a:pPr indent="0" marL="0">
              <a:buNone/>
            </a:pPr>
            <a:r>
              <a:rPr lang="en-US" sz="900" dirty="0">
                <a:solidFill>
                  <a:srgbClr val="222730"/>
                </a:solidFill>
                <a:latin typeface="Arial" pitchFamily="34" charset="0"/>
                <a:ea typeface="Arial" pitchFamily="34" charset="-122"/>
                <a:cs typeface="Arial" pitchFamily="34" charset="-120"/>
              </a:rPr>
              <a:t>Fabric's Git integration syncs the semantic model definition to source control. DAX measure changes go through a PR review process — the same governance discipline applied to Python pipeline code. Metric drift is caught before it reaches production.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3F4FB"/>
          </a:solidFill>
          <a:ln w="12700">
            <a:solidFill>
              <a:srgbClr val="F3F4FB"/>
            </a:solidFill>
            <a:prstDash val="solid"/>
          </a:ln>
        </p:spPr>
      </p:sp>
      <p:sp>
        <p:nvSpPr>
          <p:cNvPr id="3" name="Text 1"/>
          <p:cNvSpPr/>
          <p:nvPr/>
        </p:nvSpPr>
        <p:spPr>
          <a:xfrm>
            <a:off x="274320" y="45720"/>
            <a:ext cx="6400800" cy="164592"/>
          </a:xfrm>
          <a:prstGeom prst="rect">
            <a:avLst/>
          </a:prstGeom>
          <a:noFill/>
          <a:ln/>
        </p:spPr>
        <p:txBody>
          <a:bodyPr wrap="square" rtlCol="0" anchor="ctr"/>
          <a:lstStyle/>
          <a:p>
            <a:pPr indent="0" marL="0">
              <a:buNone/>
            </a:pPr>
            <a:r>
              <a:rPr lang="en-US" sz="700" dirty="0">
                <a:solidFill>
                  <a:srgbClr val="87AFBF"/>
                </a:solidFill>
                <a:latin typeface="Arial" pitchFamily="34" charset="0"/>
                <a:ea typeface="Arial" pitchFamily="34" charset="-122"/>
                <a:cs typeface="Arial" pitchFamily="34" charset="-120"/>
              </a:rPr>
              <a:t>Confidential — Internal Use Only</a:t>
            </a:r>
            <a:endParaRPr lang="en-US" sz="700" dirty="0"/>
          </a:p>
        </p:txBody>
      </p:sp>
      <p:sp>
        <p:nvSpPr>
          <p:cNvPr id="4" name="Text 2"/>
          <p:cNvSpPr/>
          <p:nvPr/>
        </p:nvSpPr>
        <p:spPr>
          <a:xfrm>
            <a:off x="8686800" y="45720"/>
            <a:ext cx="3291840" cy="164592"/>
          </a:xfrm>
          <a:prstGeom prst="rect">
            <a:avLst/>
          </a:prstGeom>
          <a:noFill/>
          <a:ln/>
        </p:spPr>
        <p:txBody>
          <a:bodyPr wrap="square" rtlCol="0" anchor="ctr"/>
          <a:lstStyle/>
          <a:p>
            <a:pPr algn="r" indent="0" marL="0">
              <a:buNone/>
            </a:pPr>
            <a:r>
              <a:rPr lang="en-US" sz="700" dirty="0">
                <a:solidFill>
                  <a:srgbClr val="87AFBF"/>
                </a:solidFill>
                <a:latin typeface="Arial" pitchFamily="34" charset="0"/>
                <a:ea typeface="Arial" pitchFamily="34" charset="-122"/>
                <a:cs typeface="Arial" pitchFamily="34" charset="-120"/>
              </a:rPr>
              <a:t>Lumina · RBC Enterprise Data</a:t>
            </a:r>
            <a:endParaRPr lang="en-US" sz="700" dirty="0"/>
          </a:p>
        </p:txBody>
      </p:sp>
      <p:sp>
        <p:nvSpPr>
          <p:cNvPr id="5" name="Text 3"/>
          <p:cNvSpPr/>
          <p:nvPr/>
        </p:nvSpPr>
        <p:spPr>
          <a:xfrm>
            <a:off x="11704320" y="6583680"/>
            <a:ext cx="365760" cy="182880"/>
          </a:xfrm>
          <a:prstGeom prst="rect">
            <a:avLst/>
          </a:prstGeom>
          <a:noFill/>
          <a:ln/>
        </p:spPr>
        <p:txBody>
          <a:bodyPr wrap="square" rtlCol="0" anchor="ctr"/>
          <a:lstStyle/>
          <a:p>
            <a:pPr algn="r" indent="0" marL="0">
              <a:buNone/>
            </a:pPr>
            <a:r>
              <a:rPr lang="en-US" sz="900" dirty="0">
                <a:solidFill>
                  <a:srgbClr val="87AFBF"/>
                </a:solidFill>
                <a:latin typeface="Arial" pitchFamily="34" charset="0"/>
                <a:ea typeface="Arial" pitchFamily="34" charset="-122"/>
                <a:cs typeface="Arial" pitchFamily="34" charset="-120"/>
              </a:rPr>
              <a:t>6</a:t>
            </a:r>
            <a:endParaRPr lang="en-US" sz="900" dirty="0"/>
          </a:p>
        </p:txBody>
      </p:sp>
      <p:sp>
        <p:nvSpPr>
          <p:cNvPr id="6" name="Text 4"/>
          <p:cNvSpPr/>
          <p:nvPr/>
        </p:nvSpPr>
        <p:spPr>
          <a:xfrm>
            <a:off x="457200" y="347472"/>
            <a:ext cx="8229600" cy="502920"/>
          </a:xfrm>
          <a:prstGeom prst="rect">
            <a:avLst/>
          </a:prstGeom>
          <a:noFill/>
          <a:ln/>
        </p:spPr>
        <p:txBody>
          <a:bodyPr wrap="square" rtlCol="0" anchor="ctr"/>
          <a:lstStyle/>
          <a:p>
            <a:pPr indent="0" marL="0">
              <a:buNone/>
            </a:pPr>
            <a:r>
              <a:rPr lang="en-US" sz="2600" b="1" dirty="0">
                <a:solidFill>
                  <a:srgbClr val="003068"/>
                </a:solidFill>
                <a:latin typeface="Arial" pitchFamily="34" charset="0"/>
                <a:ea typeface="Arial" pitchFamily="34" charset="-122"/>
                <a:cs typeface="Arial" pitchFamily="34" charset="-120"/>
              </a:rPr>
              <a:t>Where Fabric Alone Falls Short</a:t>
            </a:r>
            <a:endParaRPr lang="en-US" sz="2600" dirty="0"/>
          </a:p>
        </p:txBody>
      </p:sp>
      <p:sp>
        <p:nvSpPr>
          <p:cNvPr id="7" name="Text 5"/>
          <p:cNvSpPr/>
          <p:nvPr/>
        </p:nvSpPr>
        <p:spPr>
          <a:xfrm>
            <a:off x="457200" y="850392"/>
            <a:ext cx="8229600" cy="274320"/>
          </a:xfrm>
          <a:prstGeom prst="rect">
            <a:avLst/>
          </a:prstGeom>
          <a:noFill/>
          <a:ln/>
        </p:spPr>
        <p:txBody>
          <a:bodyPr wrap="square" rtlCol="0" anchor="ctr"/>
          <a:lstStyle/>
          <a:p>
            <a:pPr indent="0" marL="0">
              <a:buNone/>
            </a:pPr>
            <a:r>
              <a:rPr lang="en-US" sz="1100" i="1" dirty="0">
                <a:solidFill>
                  <a:srgbClr val="64748B"/>
                </a:solidFill>
                <a:latin typeface="Arial" pitchFamily="34" charset="0"/>
                <a:ea typeface="Arial" pitchFamily="34" charset="-122"/>
                <a:cs typeface="Arial" pitchFamily="34" charset="-120"/>
              </a:rPr>
              <a:t>Sets the context for AtScale Pattern 3 evaluation</a:t>
            </a:r>
            <a:endParaRPr lang="en-US" sz="1100" dirty="0"/>
          </a:p>
        </p:txBody>
      </p:sp>
      <p:sp>
        <p:nvSpPr>
          <p:cNvPr id="8" name="Shape 6"/>
          <p:cNvSpPr/>
          <p:nvPr/>
        </p:nvSpPr>
        <p:spPr>
          <a:xfrm>
            <a:off x="457200" y="1133856"/>
            <a:ext cx="11274552" cy="22860"/>
          </a:xfrm>
          <a:prstGeom prst="rect">
            <a:avLst/>
          </a:prstGeom>
          <a:solidFill>
            <a:srgbClr val="87AFBF"/>
          </a:solidFill>
          <a:ln w="12700">
            <a:solidFill>
              <a:srgbClr val="87AFBF"/>
            </a:solidFill>
            <a:prstDash val="solid"/>
          </a:ln>
        </p:spPr>
      </p:sp>
      <p:sp>
        <p:nvSpPr>
          <p:cNvPr id="9" name="Shape 7"/>
          <p:cNvSpPr/>
          <p:nvPr/>
        </p:nvSpPr>
        <p:spPr>
          <a:xfrm>
            <a:off x="457200" y="1298448"/>
            <a:ext cx="7498080" cy="1143000"/>
          </a:xfrm>
          <a:prstGeom prst="rect">
            <a:avLst>
              <a:gd name="adj" fmla="val 6400"/>
            </a:avLst>
          </a:prstGeom>
          <a:solidFill>
            <a:srgbClr val="FFF7ED"/>
          </a:solidFill>
          <a:ln w="10160">
            <a:solidFill>
              <a:srgbClr val="FED7AA"/>
            </a:solidFill>
            <a:prstDash val="solid"/>
          </a:ln>
        </p:spPr>
      </p:sp>
      <p:sp>
        <p:nvSpPr>
          <p:cNvPr id="10" name="Shape 8"/>
          <p:cNvSpPr/>
          <p:nvPr/>
        </p:nvSpPr>
        <p:spPr>
          <a:xfrm>
            <a:off x="457200" y="1298448"/>
            <a:ext cx="64008" cy="1143000"/>
          </a:xfrm>
          <a:prstGeom prst="rect">
            <a:avLst/>
          </a:prstGeom>
          <a:solidFill>
            <a:srgbClr val="F26B43"/>
          </a:solidFill>
          <a:ln w="12700">
            <a:solidFill>
              <a:srgbClr val="F26B43"/>
            </a:solidFill>
            <a:prstDash val="solid"/>
          </a:ln>
        </p:spPr>
      </p:sp>
      <p:sp>
        <p:nvSpPr>
          <p:cNvPr id="11" name="Text 9"/>
          <p:cNvSpPr/>
          <p:nvPr/>
        </p:nvSpPr>
        <p:spPr>
          <a:xfrm>
            <a:off x="640080" y="1371600"/>
            <a:ext cx="1371600" cy="292608"/>
          </a:xfrm>
          <a:prstGeom prst="rect">
            <a:avLst/>
          </a:prstGeom>
          <a:noFill/>
          <a:ln/>
        </p:spPr>
        <p:txBody>
          <a:bodyPr wrap="square" lIns="0" tIns="0" rIns="0" bIns="0" rtlCol="0" anchor="ctr"/>
          <a:lstStyle/>
          <a:p>
            <a:pPr indent="0" marL="0">
              <a:buNone/>
            </a:pPr>
            <a:r>
              <a:rPr lang="en-US" sz="1300" b="1" dirty="0">
                <a:solidFill>
                  <a:srgbClr val="92400E"/>
                </a:solidFill>
                <a:latin typeface="Arial" pitchFamily="34" charset="0"/>
                <a:ea typeface="Arial" pitchFamily="34" charset="-122"/>
                <a:cs typeface="Arial" pitchFamily="34" charset="-120"/>
              </a:rPr>
              <a:t>Tableau</a:t>
            </a:r>
            <a:endParaRPr lang="en-US" sz="1300" dirty="0"/>
          </a:p>
        </p:txBody>
      </p:sp>
      <p:sp>
        <p:nvSpPr>
          <p:cNvPr id="12" name="Shape 10"/>
          <p:cNvSpPr/>
          <p:nvPr/>
        </p:nvSpPr>
        <p:spPr>
          <a:xfrm>
            <a:off x="640080" y="1682496"/>
            <a:ext cx="960120" cy="182880"/>
          </a:xfrm>
          <a:prstGeom prst="rect">
            <a:avLst>
              <a:gd name="adj" fmla="val 20000"/>
            </a:avLst>
          </a:prstGeom>
          <a:solidFill>
            <a:srgbClr val="F26B43"/>
          </a:solidFill>
          <a:ln w="12700">
            <a:solidFill>
              <a:srgbClr val="F26B43"/>
            </a:solidFill>
            <a:prstDash val="solid"/>
          </a:ln>
        </p:spPr>
      </p:sp>
      <p:sp>
        <p:nvSpPr>
          <p:cNvPr id="13" name="Text 11"/>
          <p:cNvSpPr/>
          <p:nvPr/>
        </p:nvSpPr>
        <p:spPr>
          <a:xfrm>
            <a:off x="640080" y="1682496"/>
            <a:ext cx="96012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BCBS 239</a:t>
            </a:r>
            <a:endParaRPr lang="en-US" sz="750" dirty="0"/>
          </a:p>
        </p:txBody>
      </p:sp>
      <p:sp>
        <p:nvSpPr>
          <p:cNvPr id="14" name="Text 12"/>
          <p:cNvSpPr/>
          <p:nvPr/>
        </p:nvSpPr>
        <p:spPr>
          <a:xfrm>
            <a:off x="1828800" y="1371600"/>
            <a:ext cx="5943600" cy="1005840"/>
          </a:xfrm>
          <a:prstGeom prst="rect">
            <a:avLst/>
          </a:prstGeom>
          <a:noFill/>
          <a:ln/>
        </p:spPr>
        <p:txBody>
          <a:bodyPr wrap="square" rtlCol="0" anchor="t"/>
          <a:lstStyle/>
          <a:p>
            <a:pPr indent="0" marL="0">
              <a:buNone/>
            </a:pPr>
            <a:r>
              <a:rPr lang="en-US" sz="950" dirty="0">
                <a:solidFill>
                  <a:srgbClr val="222730"/>
                </a:solidFill>
                <a:latin typeface="Arial" pitchFamily="34" charset="0"/>
                <a:ea typeface="Arial" pitchFamily="34" charset="-122"/>
                <a:cs typeface="Arial" pitchFamily="34" charset="-120"/>
              </a:rPr>
              <a:t>Cannot connect to Fabric Import semantic model directly. Sees raw Delta tables via SQL Analytics Endpoint — not DAX measures. Analysts rewrite metric logic in SQL. Drift from the Fabric definition is inevitable.</a:t>
            </a:r>
            <a:endParaRPr lang="en-US" sz="950" dirty="0"/>
          </a:p>
        </p:txBody>
      </p:sp>
      <p:sp>
        <p:nvSpPr>
          <p:cNvPr id="15" name="Shape 13"/>
          <p:cNvSpPr/>
          <p:nvPr/>
        </p:nvSpPr>
        <p:spPr>
          <a:xfrm>
            <a:off x="457200" y="2560320"/>
            <a:ext cx="7498080" cy="1143000"/>
          </a:xfrm>
          <a:prstGeom prst="rect">
            <a:avLst>
              <a:gd name="adj" fmla="val 6400"/>
            </a:avLst>
          </a:prstGeom>
          <a:solidFill>
            <a:srgbClr val="FFF7ED"/>
          </a:solidFill>
          <a:ln w="10160">
            <a:solidFill>
              <a:srgbClr val="FED7AA"/>
            </a:solidFill>
            <a:prstDash val="solid"/>
          </a:ln>
        </p:spPr>
      </p:sp>
      <p:sp>
        <p:nvSpPr>
          <p:cNvPr id="16" name="Shape 14"/>
          <p:cNvSpPr/>
          <p:nvPr/>
        </p:nvSpPr>
        <p:spPr>
          <a:xfrm>
            <a:off x="457200" y="2560320"/>
            <a:ext cx="64008" cy="1143000"/>
          </a:xfrm>
          <a:prstGeom prst="rect">
            <a:avLst/>
          </a:prstGeom>
          <a:solidFill>
            <a:srgbClr val="F26B43"/>
          </a:solidFill>
          <a:ln w="12700">
            <a:solidFill>
              <a:srgbClr val="F26B43"/>
            </a:solidFill>
            <a:prstDash val="solid"/>
          </a:ln>
        </p:spPr>
      </p:sp>
      <p:sp>
        <p:nvSpPr>
          <p:cNvPr id="17" name="Text 15"/>
          <p:cNvSpPr/>
          <p:nvPr/>
        </p:nvSpPr>
        <p:spPr>
          <a:xfrm>
            <a:off x="640080" y="2633472"/>
            <a:ext cx="1371600" cy="292608"/>
          </a:xfrm>
          <a:prstGeom prst="rect">
            <a:avLst/>
          </a:prstGeom>
          <a:noFill/>
          <a:ln/>
        </p:spPr>
        <p:txBody>
          <a:bodyPr wrap="square" lIns="0" tIns="0" rIns="0" bIns="0" rtlCol="0" anchor="ctr"/>
          <a:lstStyle/>
          <a:p>
            <a:pPr indent="0" marL="0">
              <a:buNone/>
            </a:pPr>
            <a:r>
              <a:rPr lang="en-US" sz="1300" b="1" dirty="0">
                <a:solidFill>
                  <a:srgbClr val="92400E"/>
                </a:solidFill>
                <a:latin typeface="Arial" pitchFamily="34" charset="0"/>
                <a:ea typeface="Arial" pitchFamily="34" charset="-122"/>
                <a:cs typeface="Arial" pitchFamily="34" charset="-120"/>
              </a:rPr>
              <a:t>ML Pipelines</a:t>
            </a:r>
            <a:endParaRPr lang="en-US" sz="1300" dirty="0"/>
          </a:p>
        </p:txBody>
      </p:sp>
      <p:sp>
        <p:nvSpPr>
          <p:cNvPr id="18" name="Shape 16"/>
          <p:cNvSpPr/>
          <p:nvPr/>
        </p:nvSpPr>
        <p:spPr>
          <a:xfrm>
            <a:off x="640080" y="2944368"/>
            <a:ext cx="960120" cy="182880"/>
          </a:xfrm>
          <a:prstGeom prst="rect">
            <a:avLst>
              <a:gd name="adj" fmla="val 20000"/>
            </a:avLst>
          </a:prstGeom>
          <a:solidFill>
            <a:srgbClr val="64748B"/>
          </a:solidFill>
          <a:ln w="12700">
            <a:solidFill>
              <a:srgbClr val="64748B"/>
            </a:solidFill>
            <a:prstDash val="solid"/>
          </a:ln>
        </p:spPr>
      </p:sp>
      <p:sp>
        <p:nvSpPr>
          <p:cNvPr id="19" name="Text 17"/>
          <p:cNvSpPr/>
          <p:nvPr/>
        </p:nvSpPr>
        <p:spPr>
          <a:xfrm>
            <a:off x="640080" y="2944368"/>
            <a:ext cx="96012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No context</a:t>
            </a:r>
            <a:endParaRPr lang="en-US" sz="750" dirty="0"/>
          </a:p>
        </p:txBody>
      </p:sp>
      <p:sp>
        <p:nvSpPr>
          <p:cNvPr id="20" name="Text 18"/>
          <p:cNvSpPr/>
          <p:nvPr/>
        </p:nvSpPr>
        <p:spPr>
          <a:xfrm>
            <a:off x="1828800" y="2633472"/>
            <a:ext cx="5943600" cy="1005840"/>
          </a:xfrm>
          <a:prstGeom prst="rect">
            <a:avLst/>
          </a:prstGeom>
          <a:noFill/>
          <a:ln/>
        </p:spPr>
        <p:txBody>
          <a:bodyPr wrap="square" rtlCol="0" anchor="t"/>
          <a:lstStyle/>
          <a:p>
            <a:pPr indent="0" marL="0">
              <a:buNone/>
            </a:pPr>
            <a:r>
              <a:rPr lang="en-US" sz="950" dirty="0">
                <a:solidFill>
                  <a:srgbClr val="222730"/>
                </a:solidFill>
                <a:latin typeface="Arial" pitchFamily="34" charset="0"/>
                <a:ea typeface="Arial" pitchFamily="34" charset="-122"/>
                <a:cs typeface="Arial" pitchFamily="34" charset="-120"/>
              </a:rPr>
              <a:t>XMLA endpoint is awkward for Python. No REST/GraphQL API. Real-time Iceberg access requires going through Trino directly, bypassing the semantic model entirely. 50,000-row feature extractions impossible via DAX.</a:t>
            </a:r>
            <a:endParaRPr lang="en-US" sz="950" dirty="0"/>
          </a:p>
        </p:txBody>
      </p:sp>
      <p:sp>
        <p:nvSpPr>
          <p:cNvPr id="21" name="Shape 19"/>
          <p:cNvSpPr/>
          <p:nvPr/>
        </p:nvSpPr>
        <p:spPr>
          <a:xfrm>
            <a:off x="457200" y="3822192"/>
            <a:ext cx="7498080" cy="1143000"/>
          </a:xfrm>
          <a:prstGeom prst="rect">
            <a:avLst>
              <a:gd name="adj" fmla="val 6400"/>
            </a:avLst>
          </a:prstGeom>
          <a:solidFill>
            <a:srgbClr val="FFF7ED"/>
          </a:solidFill>
          <a:ln w="10160">
            <a:solidFill>
              <a:srgbClr val="FED7AA"/>
            </a:solidFill>
            <a:prstDash val="solid"/>
          </a:ln>
        </p:spPr>
      </p:sp>
      <p:sp>
        <p:nvSpPr>
          <p:cNvPr id="22" name="Shape 20"/>
          <p:cNvSpPr/>
          <p:nvPr/>
        </p:nvSpPr>
        <p:spPr>
          <a:xfrm>
            <a:off x="457200" y="3822192"/>
            <a:ext cx="64008" cy="1143000"/>
          </a:xfrm>
          <a:prstGeom prst="rect">
            <a:avLst/>
          </a:prstGeom>
          <a:solidFill>
            <a:srgbClr val="F26B43"/>
          </a:solidFill>
          <a:ln w="12700">
            <a:solidFill>
              <a:srgbClr val="F26B43"/>
            </a:solidFill>
            <a:prstDash val="solid"/>
          </a:ln>
        </p:spPr>
      </p:sp>
      <p:sp>
        <p:nvSpPr>
          <p:cNvPr id="23" name="Text 21"/>
          <p:cNvSpPr/>
          <p:nvPr/>
        </p:nvSpPr>
        <p:spPr>
          <a:xfrm>
            <a:off x="640080" y="3895344"/>
            <a:ext cx="1371600" cy="292608"/>
          </a:xfrm>
          <a:prstGeom prst="rect">
            <a:avLst/>
          </a:prstGeom>
          <a:noFill/>
          <a:ln/>
        </p:spPr>
        <p:txBody>
          <a:bodyPr wrap="square" lIns="0" tIns="0" rIns="0" bIns="0" rtlCol="0" anchor="ctr"/>
          <a:lstStyle/>
          <a:p>
            <a:pPr indent="0" marL="0">
              <a:buNone/>
            </a:pPr>
            <a:r>
              <a:rPr lang="en-US" sz="1300" b="1" dirty="0">
                <a:solidFill>
                  <a:srgbClr val="92400E"/>
                </a:solidFill>
                <a:latin typeface="Arial" pitchFamily="34" charset="0"/>
                <a:ea typeface="Arial" pitchFamily="34" charset="-122"/>
                <a:cs typeface="Arial" pitchFamily="34" charset="-120"/>
              </a:rPr>
              <a:t>AI Agents (complex)</a:t>
            </a:r>
            <a:endParaRPr lang="en-US" sz="1300" dirty="0"/>
          </a:p>
        </p:txBody>
      </p:sp>
      <p:sp>
        <p:nvSpPr>
          <p:cNvPr id="24" name="Shape 22"/>
          <p:cNvSpPr/>
          <p:nvPr/>
        </p:nvSpPr>
        <p:spPr>
          <a:xfrm>
            <a:off x="640080" y="4206240"/>
            <a:ext cx="960120" cy="182880"/>
          </a:xfrm>
          <a:prstGeom prst="rect">
            <a:avLst>
              <a:gd name="adj" fmla="val 20000"/>
            </a:avLst>
          </a:prstGeom>
          <a:solidFill>
            <a:srgbClr val="64748B"/>
          </a:solidFill>
          <a:ln w="12700">
            <a:solidFill>
              <a:srgbClr val="64748B"/>
            </a:solidFill>
            <a:prstDash val="solid"/>
          </a:ln>
        </p:spPr>
      </p:sp>
      <p:sp>
        <p:nvSpPr>
          <p:cNvPr id="25" name="Text 23"/>
          <p:cNvSpPr/>
          <p:nvPr/>
        </p:nvSpPr>
        <p:spPr>
          <a:xfrm>
            <a:off x="640080" y="4206240"/>
            <a:ext cx="96012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Coverage gap</a:t>
            </a:r>
            <a:endParaRPr lang="en-US" sz="750" dirty="0"/>
          </a:p>
        </p:txBody>
      </p:sp>
      <p:sp>
        <p:nvSpPr>
          <p:cNvPr id="26" name="Text 24"/>
          <p:cNvSpPr/>
          <p:nvPr/>
        </p:nvSpPr>
        <p:spPr>
          <a:xfrm>
            <a:off x="1828800" y="3895344"/>
            <a:ext cx="5943600" cy="1005840"/>
          </a:xfrm>
          <a:prstGeom prst="rect">
            <a:avLst/>
          </a:prstGeom>
          <a:noFill/>
          <a:ln/>
        </p:spPr>
        <p:txBody>
          <a:bodyPr wrap="square" rtlCol="0" anchor="t"/>
          <a:lstStyle/>
          <a:p>
            <a:pPr indent="0" marL="0">
              <a:buNone/>
            </a:pPr>
            <a:r>
              <a:rPr lang="en-US" sz="950" dirty="0">
                <a:solidFill>
                  <a:srgbClr val="222730"/>
                </a:solidFill>
                <a:latin typeface="Arial" pitchFamily="34" charset="0"/>
                <a:ea typeface="Arial" pitchFamily="34" charset="-122"/>
                <a:cs typeface="Arial" pitchFamily="34" charset="-120"/>
              </a:rPr>
              <a:t>Fabric Data Agent handles simple NL → KPI queries well. Multi-hop reasoning ("customers with 3+ products AND declining engagement") requires complex SQL. DAX cannot express window functions or rolling aggregations.</a:t>
            </a:r>
            <a:endParaRPr lang="en-US" sz="950" dirty="0"/>
          </a:p>
        </p:txBody>
      </p:sp>
      <p:sp>
        <p:nvSpPr>
          <p:cNvPr id="27" name="Shape 25"/>
          <p:cNvSpPr/>
          <p:nvPr/>
        </p:nvSpPr>
        <p:spPr>
          <a:xfrm>
            <a:off x="457200" y="5084064"/>
            <a:ext cx="7498080" cy="1143000"/>
          </a:xfrm>
          <a:prstGeom prst="rect">
            <a:avLst>
              <a:gd name="adj" fmla="val 6400"/>
            </a:avLst>
          </a:prstGeom>
          <a:solidFill>
            <a:srgbClr val="FFF7ED"/>
          </a:solidFill>
          <a:ln w="10160">
            <a:solidFill>
              <a:srgbClr val="FED7AA"/>
            </a:solidFill>
            <a:prstDash val="solid"/>
          </a:ln>
        </p:spPr>
      </p:sp>
      <p:sp>
        <p:nvSpPr>
          <p:cNvPr id="28" name="Shape 26"/>
          <p:cNvSpPr/>
          <p:nvPr/>
        </p:nvSpPr>
        <p:spPr>
          <a:xfrm>
            <a:off x="457200" y="5084064"/>
            <a:ext cx="64008" cy="1143000"/>
          </a:xfrm>
          <a:prstGeom prst="rect">
            <a:avLst/>
          </a:prstGeom>
          <a:solidFill>
            <a:srgbClr val="F26B43"/>
          </a:solidFill>
          <a:ln w="12700">
            <a:solidFill>
              <a:srgbClr val="F26B43"/>
            </a:solidFill>
            <a:prstDash val="solid"/>
          </a:ln>
        </p:spPr>
      </p:sp>
      <p:sp>
        <p:nvSpPr>
          <p:cNvPr id="29" name="Text 27"/>
          <p:cNvSpPr/>
          <p:nvPr/>
        </p:nvSpPr>
        <p:spPr>
          <a:xfrm>
            <a:off x="640080" y="5157216"/>
            <a:ext cx="1371600" cy="292608"/>
          </a:xfrm>
          <a:prstGeom prst="rect">
            <a:avLst/>
          </a:prstGeom>
          <a:noFill/>
          <a:ln/>
        </p:spPr>
        <p:txBody>
          <a:bodyPr wrap="square" lIns="0" tIns="0" rIns="0" bIns="0" rtlCol="0" anchor="ctr"/>
          <a:lstStyle/>
          <a:p>
            <a:pPr indent="0" marL="0">
              <a:buNone/>
            </a:pPr>
            <a:r>
              <a:rPr lang="en-US" sz="1300" b="1" dirty="0">
                <a:solidFill>
                  <a:srgbClr val="92400E"/>
                </a:solidFill>
                <a:latin typeface="Arial" pitchFamily="34" charset="0"/>
                <a:ea typeface="Arial" pitchFamily="34" charset="-122"/>
                <a:cs typeface="Arial" pitchFamily="34" charset="-120"/>
              </a:rPr>
              <a:t>Excel / MDX</a:t>
            </a:r>
            <a:endParaRPr lang="en-US" sz="1300" dirty="0"/>
          </a:p>
        </p:txBody>
      </p:sp>
      <p:sp>
        <p:nvSpPr>
          <p:cNvPr id="30" name="Shape 28"/>
          <p:cNvSpPr/>
          <p:nvPr/>
        </p:nvSpPr>
        <p:spPr>
          <a:xfrm>
            <a:off x="640080" y="5468112"/>
            <a:ext cx="960120" cy="182880"/>
          </a:xfrm>
          <a:prstGeom prst="rect">
            <a:avLst>
              <a:gd name="adj" fmla="val 20000"/>
            </a:avLst>
          </a:prstGeom>
          <a:solidFill>
            <a:srgbClr val="64748B"/>
          </a:solidFill>
          <a:ln w="12700">
            <a:solidFill>
              <a:srgbClr val="64748B"/>
            </a:solidFill>
            <a:prstDash val="solid"/>
          </a:ln>
        </p:spPr>
      </p:sp>
      <p:sp>
        <p:nvSpPr>
          <p:cNvPr id="31" name="Text 29"/>
          <p:cNvSpPr/>
          <p:nvPr/>
        </p:nvSpPr>
        <p:spPr>
          <a:xfrm>
            <a:off x="640080" y="5468112"/>
            <a:ext cx="96012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User gap</a:t>
            </a:r>
            <a:endParaRPr lang="en-US" sz="750" dirty="0"/>
          </a:p>
        </p:txBody>
      </p:sp>
      <p:sp>
        <p:nvSpPr>
          <p:cNvPr id="32" name="Text 30"/>
          <p:cNvSpPr/>
          <p:nvPr/>
        </p:nvSpPr>
        <p:spPr>
          <a:xfrm>
            <a:off x="1828800" y="5157216"/>
            <a:ext cx="5943600" cy="1005840"/>
          </a:xfrm>
          <a:prstGeom prst="rect">
            <a:avLst/>
          </a:prstGeom>
          <a:noFill/>
          <a:ln/>
        </p:spPr>
        <p:txBody>
          <a:bodyPr wrap="square" rtlCol="0" anchor="t"/>
          <a:lstStyle/>
          <a:p>
            <a:pPr indent="0" marL="0">
              <a:buNone/>
            </a:pPr>
            <a:r>
              <a:rPr lang="en-US" sz="950" dirty="0">
                <a:solidFill>
                  <a:srgbClr val="222730"/>
                </a:solidFill>
                <a:latin typeface="Arial" pitchFamily="34" charset="0"/>
                <a:ea typeface="Arial" pitchFamily="34" charset="-122"/>
                <a:cs typeface="Arial" pitchFamily="34" charset="-120"/>
              </a:rPr>
              <a:t>Risk and Treasury teams using Excel pivot tables have no MDX-compatible cube surface. The Fabric SQL Analytics Endpoint provides tabular access, not OLAP cube semantics. Excel users cannot drill through governed hierarchies.</a:t>
            </a:r>
            <a:endParaRPr lang="en-US" sz="950" dirty="0"/>
          </a:p>
        </p:txBody>
      </p:sp>
      <p:sp>
        <p:nvSpPr>
          <p:cNvPr id="33" name="Shape 31"/>
          <p:cNvSpPr/>
          <p:nvPr/>
        </p:nvSpPr>
        <p:spPr>
          <a:xfrm>
            <a:off x="8138160" y="1298448"/>
            <a:ext cx="3749040" cy="5029200"/>
          </a:xfrm>
          <a:prstGeom prst="rect">
            <a:avLst>
              <a:gd name="adj" fmla="val 2439"/>
            </a:avLst>
          </a:prstGeom>
          <a:solidFill>
            <a:srgbClr val="003068"/>
          </a:solidFill>
          <a:ln w="12700">
            <a:solidFill>
              <a:srgbClr val="003068"/>
            </a:solidFill>
            <a:prstDash val="solid"/>
          </a:ln>
        </p:spPr>
      </p:sp>
      <p:sp>
        <p:nvSpPr>
          <p:cNvPr id="34" name="Shape 32"/>
          <p:cNvSpPr/>
          <p:nvPr/>
        </p:nvSpPr>
        <p:spPr>
          <a:xfrm>
            <a:off x="8138160" y="1298448"/>
            <a:ext cx="3749040" cy="54864"/>
          </a:xfrm>
          <a:prstGeom prst="rect">
            <a:avLst/>
          </a:prstGeom>
          <a:solidFill>
            <a:srgbClr val="2AD2C9"/>
          </a:solidFill>
          <a:ln w="12700">
            <a:solidFill>
              <a:srgbClr val="2AD2C9"/>
            </a:solidFill>
            <a:prstDash val="solid"/>
          </a:ln>
        </p:spPr>
      </p:sp>
      <p:sp>
        <p:nvSpPr>
          <p:cNvPr id="35" name="Text 33"/>
          <p:cNvSpPr/>
          <p:nvPr/>
        </p:nvSpPr>
        <p:spPr>
          <a:xfrm>
            <a:off x="8321040" y="1417320"/>
            <a:ext cx="3383280" cy="347472"/>
          </a:xfrm>
          <a:prstGeom prst="rect">
            <a:avLst/>
          </a:prstGeom>
          <a:noFill/>
          <a:ln/>
        </p:spPr>
        <p:txBody>
          <a:bodyPr wrap="square" rtlCol="0" anchor="ctr"/>
          <a:lstStyle/>
          <a:p>
            <a:pPr indent="0" marL="0">
              <a:buNone/>
            </a:pPr>
            <a:r>
              <a:rPr lang="en-US" sz="1300" b="1" dirty="0">
                <a:solidFill>
                  <a:srgbClr val="2AD2C9"/>
                </a:solidFill>
                <a:latin typeface="Arial" pitchFamily="34" charset="0"/>
                <a:ea typeface="Arial" pitchFamily="34" charset="-122"/>
                <a:cs typeface="Arial" pitchFamily="34" charset="-120"/>
              </a:rPr>
              <a:t>The path forward</a:t>
            </a:r>
            <a:endParaRPr lang="en-US" sz="1300" dirty="0"/>
          </a:p>
        </p:txBody>
      </p:sp>
      <p:sp>
        <p:nvSpPr>
          <p:cNvPr id="36" name="Text 34"/>
          <p:cNvSpPr/>
          <p:nvPr/>
        </p:nvSpPr>
        <p:spPr>
          <a:xfrm>
            <a:off x="8321040" y="1874520"/>
            <a:ext cx="3383280" cy="4251960"/>
          </a:xfrm>
          <a:prstGeom prst="rect">
            <a:avLst/>
          </a:prstGeom>
          <a:noFill/>
          <a:ln/>
        </p:spPr>
        <p:txBody>
          <a:bodyPr wrap="square" rtlCol="0" anchor="t"/>
          <a:lstStyle/>
          <a:p>
            <a:pPr indent="0" marL="0">
              <a:buNone/>
            </a:pPr>
            <a:r>
              <a:rPr lang="en-US" sz="950" b="1" dirty="0">
                <a:solidFill>
                  <a:srgbClr val="FEDF01"/>
                </a:solidFill>
                <a:latin typeface="Arial" pitchFamily="34" charset="0"/>
                <a:ea typeface="Arial" pitchFamily="34" charset="-122"/>
                <a:cs typeface="Arial" pitchFamily="34" charset="-120"/>
              </a:rPr>
              <a:t>Q-10 answer needed</a:t>
            </a:r>
            <a:endParaRPr lang="en-US" sz="950" dirty="0"/>
          </a:p>
          <a:p>
            <a:pPr indent="0" marL="0">
              <a:buNone/>
            </a:pPr>
            <a:r>
              <a:rPr lang="en-US" sz="950" dirty="0">
                <a:solidFill>
                  <a:srgbClr val="CBD5E1"/>
                </a:solidFill>
                <a:latin typeface="Arial" pitchFamily="34" charset="0"/>
                <a:ea typeface="Arial" pitchFamily="34" charset="-122"/>
                <a:cs typeface="Arial" pitchFamily="34" charset="-120"/>
              </a:rPr>
              <a:t>JoAnn + Saurabh must confirm: is Tableau used for certified reporting or ad-hoc exploration only?
</a:t>
            </a:r>
            <a:pPr indent="0" marL="0">
              <a:buNone/>
            </a:pPr>
            <a:r>
              <a:rPr lang="en-US" sz="950" b="1" dirty="0">
                <a:solidFill>
                  <a:srgbClr val="2AD2C9"/>
                </a:solidFill>
                <a:latin typeface="Arial" pitchFamily="34" charset="0"/>
                <a:ea typeface="Arial" pitchFamily="34" charset="-122"/>
                <a:cs typeface="Arial" pitchFamily="34" charset="-120"/>
              </a:rPr>
              <a:t>If certified reporting:</a:t>
            </a:r>
            <a:endParaRPr lang="en-US" sz="950" dirty="0"/>
          </a:p>
          <a:p>
            <a:pPr indent="0" marL="0">
              <a:buNone/>
            </a:pPr>
            <a:r>
              <a:rPr lang="en-US" sz="950" dirty="0">
                <a:solidFill>
                  <a:srgbClr val="CBD5E1"/>
                </a:solidFill>
                <a:latin typeface="Arial" pitchFamily="34" charset="0"/>
                <a:ea typeface="Arial" pitchFamily="34" charset="-122"/>
                <a:cs typeface="Arial" pitchFamily="34" charset="-120"/>
              </a:rPr>
              <a:t>Evaluate AtScale Pattern 3. AtScale upstream of Fabric — one metric registry, all surfaces.
</a:t>
            </a:r>
            <a:pPr indent="0" marL="0">
              <a:buNone/>
            </a:pPr>
            <a:r>
              <a:rPr lang="en-US" sz="950" b="1" dirty="0">
                <a:solidFill>
                  <a:srgbClr val="2AD2C9"/>
                </a:solidFill>
                <a:latin typeface="Arial" pitchFamily="34" charset="0"/>
                <a:ea typeface="Arial" pitchFamily="34" charset="-122"/>
                <a:cs typeface="Arial" pitchFamily="34" charset="-120"/>
              </a:rPr>
              <a:t>If ad-hoc exploration only:</a:t>
            </a:r>
            <a:endParaRPr lang="en-US" sz="950" dirty="0"/>
          </a:p>
          <a:p>
            <a:pPr indent="0" marL="0">
              <a:buNone/>
            </a:pPr>
            <a:r>
              <a:rPr lang="en-US" sz="950" dirty="0">
                <a:solidFill>
                  <a:srgbClr val="CBD5E1"/>
                </a:solidFill>
                <a:latin typeface="Arial" pitchFamily="34" charset="0"/>
                <a:ea typeface="Arial" pitchFamily="34" charset="-122"/>
                <a:cs typeface="Arial" pitchFamily="34" charset="-120"/>
              </a:rPr>
              <a:t>No secondary semantic layer needed. Fabric + Trino JDBC. Accept Tableau has no governed metrics.
</a:t>
            </a:r>
            <a:pPr indent="0" marL="0">
              <a:buNone/>
            </a:pPr>
            <a:r>
              <a:rPr lang="en-US" sz="950" b="1" dirty="0">
                <a:solidFill>
                  <a:srgbClr val="F26B43"/>
                </a:solidFill>
                <a:latin typeface="Arial" pitchFamily="34" charset="0"/>
                <a:ea typeface="Arial" pitchFamily="34" charset="-122"/>
                <a:cs typeface="Arial" pitchFamily="34" charset="-120"/>
              </a:rPr>
              <a:t>Do not evaluate AtScale before Q-10 is answered.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3068"/>
          </a:solidFill>
          <a:ln w="12700">
            <a:solidFill>
              <a:srgbClr val="003068"/>
            </a:solidFill>
            <a:prstDash val="solid"/>
          </a:ln>
        </p:spPr>
      </p:sp>
      <p:sp>
        <p:nvSpPr>
          <p:cNvPr id="3" name="Shape 1"/>
          <p:cNvSpPr/>
          <p:nvPr/>
        </p:nvSpPr>
        <p:spPr>
          <a:xfrm>
            <a:off x="0" y="0"/>
            <a:ext cx="320040" cy="6858000"/>
          </a:xfrm>
          <a:prstGeom prst="rect">
            <a:avLst/>
          </a:prstGeom>
          <a:solidFill>
            <a:srgbClr val="2AD2C9"/>
          </a:solidFill>
          <a:ln w="12700">
            <a:solidFill>
              <a:srgbClr val="2AD2C9"/>
            </a:solidFill>
            <a:prstDash val="solid"/>
          </a:ln>
        </p:spPr>
      </p:sp>
      <p:sp>
        <p:nvSpPr>
          <p:cNvPr id="4" name="Shape 2"/>
          <p:cNvSpPr/>
          <p:nvPr/>
        </p:nvSpPr>
        <p:spPr>
          <a:xfrm>
            <a:off x="0" y="6492240"/>
            <a:ext cx="12188952" cy="365760"/>
          </a:xfrm>
          <a:prstGeom prst="rect">
            <a:avLst/>
          </a:prstGeom>
          <a:solidFill>
            <a:srgbClr val="FEDF01"/>
          </a:solidFill>
          <a:ln w="12700">
            <a:solidFill>
              <a:srgbClr val="FEDF01"/>
            </a:solidFill>
            <a:prstDash val="solid"/>
          </a:ln>
        </p:spPr>
      </p:sp>
      <p:sp>
        <p:nvSpPr>
          <p:cNvPr id="5" name="Text 3"/>
          <p:cNvSpPr/>
          <p:nvPr/>
        </p:nvSpPr>
        <p:spPr>
          <a:xfrm>
            <a:off x="640080" y="457200"/>
            <a:ext cx="8229600" cy="54864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Key Takeaways</a:t>
            </a:r>
            <a:endParaRPr lang="en-US" sz="3200" dirty="0"/>
          </a:p>
        </p:txBody>
      </p:sp>
      <p:sp>
        <p:nvSpPr>
          <p:cNvPr id="6" name="Shape 4"/>
          <p:cNvSpPr/>
          <p:nvPr/>
        </p:nvSpPr>
        <p:spPr>
          <a:xfrm>
            <a:off x="640080" y="1051560"/>
            <a:ext cx="10789920" cy="27432"/>
          </a:xfrm>
          <a:prstGeom prst="rect">
            <a:avLst/>
          </a:prstGeom>
          <a:solidFill>
            <a:srgbClr val="2AD2C9"/>
          </a:solidFill>
          <a:ln w="12700">
            <a:solidFill>
              <a:srgbClr val="2AD2C9"/>
            </a:solidFill>
            <a:prstDash val="solid"/>
          </a:ln>
        </p:spPr>
      </p:sp>
      <p:sp>
        <p:nvSpPr>
          <p:cNvPr id="7" name="Shape 5"/>
          <p:cNvSpPr/>
          <p:nvPr/>
        </p:nvSpPr>
        <p:spPr>
          <a:xfrm>
            <a:off x="640080" y="1261872"/>
            <a:ext cx="10789920" cy="1143000"/>
          </a:xfrm>
          <a:prstGeom prst="rect">
            <a:avLst>
              <a:gd name="adj" fmla="val 6400"/>
            </a:avLst>
          </a:prstGeom>
          <a:solidFill>
            <a:srgbClr val="0F1E35"/>
          </a:solidFill>
          <a:ln w="10160">
            <a:solidFill>
              <a:srgbClr val="2AD2C9"/>
            </a:solidFill>
            <a:prstDash val="solid"/>
          </a:ln>
        </p:spPr>
      </p:sp>
      <p:sp>
        <p:nvSpPr>
          <p:cNvPr id="8" name="Text 6"/>
          <p:cNvSpPr/>
          <p:nvPr/>
        </p:nvSpPr>
        <p:spPr>
          <a:xfrm>
            <a:off x="822960" y="1261872"/>
            <a:ext cx="685800" cy="1143000"/>
          </a:xfrm>
          <a:prstGeom prst="rect">
            <a:avLst/>
          </a:prstGeom>
          <a:noFill/>
          <a:ln/>
        </p:spPr>
        <p:txBody>
          <a:bodyPr wrap="square" lIns="0" tIns="0" rIns="0" bIns="0" rtlCol="0" anchor="ctr"/>
          <a:lstStyle/>
          <a:p>
            <a:pPr algn="ctr" indent="0" marL="0">
              <a:buNone/>
            </a:pPr>
            <a:r>
              <a:rPr lang="en-US" sz="2400" b="1" dirty="0">
                <a:solidFill>
                  <a:srgbClr val="2AD2C9"/>
                </a:solidFill>
                <a:latin typeface="Arial" pitchFamily="34" charset="0"/>
                <a:ea typeface="Arial" pitchFamily="34" charset="-122"/>
                <a:cs typeface="Arial" pitchFamily="34" charset="-120"/>
              </a:rPr>
              <a:t>01</a:t>
            </a:r>
            <a:endParaRPr lang="en-US" sz="2400" dirty="0"/>
          </a:p>
        </p:txBody>
      </p:sp>
      <p:sp>
        <p:nvSpPr>
          <p:cNvPr id="9" name="Shape 7"/>
          <p:cNvSpPr/>
          <p:nvPr/>
        </p:nvSpPr>
        <p:spPr>
          <a:xfrm>
            <a:off x="1572768" y="1490472"/>
            <a:ext cx="0" cy="685800"/>
          </a:xfrm>
          <a:prstGeom prst="line">
            <a:avLst/>
          </a:prstGeom>
          <a:noFill/>
          <a:ln w="6350">
            <a:solidFill>
              <a:srgbClr val="2AD2C9"/>
            </a:solidFill>
            <a:prstDash val="solid"/>
          </a:ln>
        </p:spPr>
      </p:sp>
      <p:sp>
        <p:nvSpPr>
          <p:cNvPr id="10" name="Text 8"/>
          <p:cNvSpPr/>
          <p:nvPr/>
        </p:nvSpPr>
        <p:spPr>
          <a:xfrm>
            <a:off x="1783080" y="1371600"/>
            <a:ext cx="941832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Fabric already unifies AI and BI</a:t>
            </a:r>
            <a:endParaRPr lang="en-US" sz="1300" dirty="0"/>
          </a:p>
        </p:txBody>
      </p:sp>
      <p:sp>
        <p:nvSpPr>
          <p:cNvPr id="11" name="Text 9"/>
          <p:cNvSpPr/>
          <p:nvPr/>
        </p:nvSpPr>
        <p:spPr>
          <a:xfrm>
            <a:off x="1783080" y="1737360"/>
            <a:ext cx="9418320" cy="566928"/>
          </a:xfrm>
          <a:prstGeom prst="rect">
            <a:avLst/>
          </a:prstGeom>
          <a:noFill/>
          <a:ln/>
        </p:spPr>
        <p:txBody>
          <a:bodyPr wrap="square" lIns="0" tIns="0" rIns="0" bIns="0" rtlCol="0" anchor="t"/>
          <a:lstStyle/>
          <a:p>
            <a:pPr indent="0" marL="0">
              <a:buNone/>
            </a:pPr>
            <a:r>
              <a:rPr lang="en-US" sz="950" dirty="0">
                <a:solidFill>
                  <a:srgbClr val="A0AEC0"/>
                </a:solidFill>
                <a:latin typeface="Arial" pitchFamily="34" charset="0"/>
                <a:ea typeface="Arial" pitchFamily="34" charset="-122"/>
                <a:cs typeface="Arial" pitchFamily="34" charset="-120"/>
              </a:rPr>
              <a:t>Power BI and RBC Assist both read the same certified DAX measures today. "Define once" is working for these two consumers.</a:t>
            </a:r>
            <a:endParaRPr lang="en-US" sz="950" dirty="0"/>
          </a:p>
        </p:txBody>
      </p:sp>
      <p:sp>
        <p:nvSpPr>
          <p:cNvPr id="12" name="Shape 10"/>
          <p:cNvSpPr/>
          <p:nvPr/>
        </p:nvSpPr>
        <p:spPr>
          <a:xfrm>
            <a:off x="640080" y="2587752"/>
            <a:ext cx="10789920" cy="1143000"/>
          </a:xfrm>
          <a:prstGeom prst="rect">
            <a:avLst>
              <a:gd name="adj" fmla="val 6400"/>
            </a:avLst>
          </a:prstGeom>
          <a:solidFill>
            <a:srgbClr val="0F1E35"/>
          </a:solidFill>
          <a:ln w="10160">
            <a:solidFill>
              <a:srgbClr val="3068FF"/>
            </a:solidFill>
            <a:prstDash val="solid"/>
          </a:ln>
        </p:spPr>
      </p:sp>
      <p:sp>
        <p:nvSpPr>
          <p:cNvPr id="13" name="Text 11"/>
          <p:cNvSpPr/>
          <p:nvPr/>
        </p:nvSpPr>
        <p:spPr>
          <a:xfrm>
            <a:off x="822960" y="2587752"/>
            <a:ext cx="685800" cy="1143000"/>
          </a:xfrm>
          <a:prstGeom prst="rect">
            <a:avLst/>
          </a:prstGeom>
          <a:noFill/>
          <a:ln/>
        </p:spPr>
        <p:txBody>
          <a:bodyPr wrap="square" lIns="0" tIns="0" rIns="0" bIns="0" rtlCol="0" anchor="ctr"/>
          <a:lstStyle/>
          <a:p>
            <a:pPr algn="ctr" indent="0" marL="0">
              <a:buNone/>
            </a:pPr>
            <a:r>
              <a:rPr lang="en-US" sz="2400" b="1" dirty="0">
                <a:solidFill>
                  <a:srgbClr val="3068FF"/>
                </a:solidFill>
                <a:latin typeface="Arial" pitchFamily="34" charset="0"/>
                <a:ea typeface="Arial" pitchFamily="34" charset="-122"/>
                <a:cs typeface="Arial" pitchFamily="34" charset="-120"/>
              </a:rPr>
              <a:t>02</a:t>
            </a:r>
            <a:endParaRPr lang="en-US" sz="2400" dirty="0"/>
          </a:p>
        </p:txBody>
      </p:sp>
      <p:sp>
        <p:nvSpPr>
          <p:cNvPr id="14" name="Shape 12"/>
          <p:cNvSpPr/>
          <p:nvPr/>
        </p:nvSpPr>
        <p:spPr>
          <a:xfrm>
            <a:off x="1572768" y="2816352"/>
            <a:ext cx="0" cy="685800"/>
          </a:xfrm>
          <a:prstGeom prst="line">
            <a:avLst/>
          </a:prstGeom>
          <a:noFill/>
          <a:ln w="6350">
            <a:solidFill>
              <a:srgbClr val="3068FF"/>
            </a:solidFill>
            <a:prstDash val="solid"/>
          </a:ln>
        </p:spPr>
      </p:sp>
      <p:sp>
        <p:nvSpPr>
          <p:cNvPr id="15" name="Text 13"/>
          <p:cNvSpPr/>
          <p:nvPr/>
        </p:nvSpPr>
        <p:spPr>
          <a:xfrm>
            <a:off x="1783080" y="2697480"/>
            <a:ext cx="941832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RLS and DDM apply consistently</a:t>
            </a:r>
            <a:endParaRPr lang="en-US" sz="1300" dirty="0"/>
          </a:p>
        </p:txBody>
      </p:sp>
      <p:sp>
        <p:nvSpPr>
          <p:cNvPr id="16" name="Text 14"/>
          <p:cNvSpPr/>
          <p:nvPr/>
        </p:nvSpPr>
        <p:spPr>
          <a:xfrm>
            <a:off x="1783080" y="3063240"/>
            <a:ext cx="9418320" cy="566928"/>
          </a:xfrm>
          <a:prstGeom prst="rect">
            <a:avLst/>
          </a:prstGeom>
          <a:noFill/>
          <a:ln/>
        </p:spPr>
        <p:txBody>
          <a:bodyPr wrap="square" lIns="0" tIns="0" rIns="0" bIns="0" rtlCol="0" anchor="t"/>
          <a:lstStyle/>
          <a:p>
            <a:pPr indent="0" marL="0">
              <a:buNone/>
            </a:pPr>
            <a:r>
              <a:rPr lang="en-US" sz="950" dirty="0">
                <a:solidFill>
                  <a:srgbClr val="A0AEC0"/>
                </a:solidFill>
                <a:latin typeface="Arial" pitchFamily="34" charset="0"/>
                <a:ea typeface="Arial" pitchFamily="34" charset="-122"/>
                <a:cs typeface="Arial" pitchFamily="34" charset="-120"/>
              </a:rPr>
              <a:t>The same AD group restrictions that govern Power BI reports apply to Fabric Data Agent queries. No separate AI access control needed for the Fabric surface.</a:t>
            </a:r>
            <a:endParaRPr lang="en-US" sz="950" dirty="0"/>
          </a:p>
        </p:txBody>
      </p:sp>
      <p:sp>
        <p:nvSpPr>
          <p:cNvPr id="17" name="Shape 15"/>
          <p:cNvSpPr/>
          <p:nvPr/>
        </p:nvSpPr>
        <p:spPr>
          <a:xfrm>
            <a:off x="640080" y="3913632"/>
            <a:ext cx="10789920" cy="1143000"/>
          </a:xfrm>
          <a:prstGeom prst="rect">
            <a:avLst>
              <a:gd name="adj" fmla="val 6400"/>
            </a:avLst>
          </a:prstGeom>
          <a:solidFill>
            <a:srgbClr val="0F1E35"/>
          </a:solidFill>
          <a:ln w="10160">
            <a:solidFill>
              <a:srgbClr val="F26B43"/>
            </a:solidFill>
            <a:prstDash val="solid"/>
          </a:ln>
        </p:spPr>
      </p:sp>
      <p:sp>
        <p:nvSpPr>
          <p:cNvPr id="18" name="Text 16"/>
          <p:cNvSpPr/>
          <p:nvPr/>
        </p:nvSpPr>
        <p:spPr>
          <a:xfrm>
            <a:off x="822960" y="3913632"/>
            <a:ext cx="685800" cy="1143000"/>
          </a:xfrm>
          <a:prstGeom prst="rect">
            <a:avLst/>
          </a:prstGeom>
          <a:noFill/>
          <a:ln/>
        </p:spPr>
        <p:txBody>
          <a:bodyPr wrap="square" lIns="0" tIns="0" rIns="0" bIns="0" rtlCol="0" anchor="ctr"/>
          <a:lstStyle/>
          <a:p>
            <a:pPr algn="ctr" indent="0" marL="0">
              <a:buNone/>
            </a:pPr>
            <a:r>
              <a:rPr lang="en-US" sz="2400" b="1" dirty="0">
                <a:solidFill>
                  <a:srgbClr val="F26B43"/>
                </a:solidFill>
                <a:latin typeface="Arial" pitchFamily="34" charset="0"/>
                <a:ea typeface="Arial" pitchFamily="34" charset="-122"/>
                <a:cs typeface="Arial" pitchFamily="34" charset="-120"/>
              </a:rPr>
              <a:t>03</a:t>
            </a:r>
            <a:endParaRPr lang="en-US" sz="2400" dirty="0"/>
          </a:p>
        </p:txBody>
      </p:sp>
      <p:sp>
        <p:nvSpPr>
          <p:cNvPr id="19" name="Shape 17"/>
          <p:cNvSpPr/>
          <p:nvPr/>
        </p:nvSpPr>
        <p:spPr>
          <a:xfrm>
            <a:off x="1572768" y="4142232"/>
            <a:ext cx="0" cy="685800"/>
          </a:xfrm>
          <a:prstGeom prst="line">
            <a:avLst/>
          </a:prstGeom>
          <a:noFill/>
          <a:ln w="6350">
            <a:solidFill>
              <a:srgbClr val="F26B43"/>
            </a:solidFill>
            <a:prstDash val="solid"/>
          </a:ln>
        </p:spPr>
      </p:sp>
      <p:sp>
        <p:nvSpPr>
          <p:cNvPr id="20" name="Text 18"/>
          <p:cNvSpPr/>
          <p:nvPr/>
        </p:nvSpPr>
        <p:spPr>
          <a:xfrm>
            <a:off x="1783080" y="4023360"/>
            <a:ext cx="941832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Tableau and agents are the gap</a:t>
            </a:r>
            <a:endParaRPr lang="en-US" sz="1300" dirty="0"/>
          </a:p>
        </p:txBody>
      </p:sp>
      <p:sp>
        <p:nvSpPr>
          <p:cNvPr id="21" name="Text 19"/>
          <p:cNvSpPr/>
          <p:nvPr/>
        </p:nvSpPr>
        <p:spPr>
          <a:xfrm>
            <a:off x="1783080" y="4389120"/>
            <a:ext cx="9418320" cy="566928"/>
          </a:xfrm>
          <a:prstGeom prst="rect">
            <a:avLst/>
          </a:prstGeom>
          <a:noFill/>
          <a:ln/>
        </p:spPr>
        <p:txBody>
          <a:bodyPr wrap="square" lIns="0" tIns="0" rIns="0" bIns="0" rtlCol="0" anchor="t"/>
          <a:lstStyle/>
          <a:p>
            <a:pPr indent="0" marL="0">
              <a:buNone/>
            </a:pPr>
            <a:r>
              <a:rPr lang="en-US" sz="950" dirty="0">
                <a:solidFill>
                  <a:srgbClr val="A0AEC0"/>
                </a:solidFill>
                <a:latin typeface="Arial" pitchFamily="34" charset="0"/>
                <a:ea typeface="Arial" pitchFamily="34" charset="-122"/>
                <a:cs typeface="Arial" pitchFamily="34" charset="-120"/>
              </a:rPr>
              <a:t>Fabric's DAX surface cannot serve Tableau with governed metrics or ML pipelines with real-time row-level data. Trino fills the data need but loses business context.</a:t>
            </a:r>
            <a:endParaRPr lang="en-US" sz="950" dirty="0"/>
          </a:p>
        </p:txBody>
      </p:sp>
      <p:sp>
        <p:nvSpPr>
          <p:cNvPr id="22" name="Shape 20"/>
          <p:cNvSpPr/>
          <p:nvPr/>
        </p:nvSpPr>
        <p:spPr>
          <a:xfrm>
            <a:off x="640080" y="5239512"/>
            <a:ext cx="10789920" cy="1143000"/>
          </a:xfrm>
          <a:prstGeom prst="rect">
            <a:avLst>
              <a:gd name="adj" fmla="val 6400"/>
            </a:avLst>
          </a:prstGeom>
          <a:solidFill>
            <a:srgbClr val="0F1E35"/>
          </a:solidFill>
          <a:ln w="10160">
            <a:solidFill>
              <a:srgbClr val="FEDF01"/>
            </a:solidFill>
            <a:prstDash val="solid"/>
          </a:ln>
        </p:spPr>
      </p:sp>
      <p:sp>
        <p:nvSpPr>
          <p:cNvPr id="23" name="Text 21"/>
          <p:cNvSpPr/>
          <p:nvPr/>
        </p:nvSpPr>
        <p:spPr>
          <a:xfrm>
            <a:off x="822960" y="5239512"/>
            <a:ext cx="685800" cy="1143000"/>
          </a:xfrm>
          <a:prstGeom prst="rect">
            <a:avLst/>
          </a:prstGeom>
          <a:noFill/>
          <a:ln/>
        </p:spPr>
        <p:txBody>
          <a:bodyPr wrap="square" lIns="0" tIns="0" rIns="0" bIns="0" rtlCol="0" anchor="ctr"/>
          <a:lstStyle/>
          <a:p>
            <a:pPr algn="ctr" indent="0" marL="0">
              <a:buNone/>
            </a:pPr>
            <a:r>
              <a:rPr lang="en-US" sz="2400" b="1" dirty="0">
                <a:solidFill>
                  <a:srgbClr val="FEDF01"/>
                </a:solidFill>
                <a:latin typeface="Arial" pitchFamily="34" charset="0"/>
                <a:ea typeface="Arial" pitchFamily="34" charset="-122"/>
                <a:cs typeface="Arial" pitchFamily="34" charset="-120"/>
              </a:rPr>
              <a:t>04</a:t>
            </a:r>
            <a:endParaRPr lang="en-US" sz="2400" dirty="0"/>
          </a:p>
        </p:txBody>
      </p:sp>
      <p:sp>
        <p:nvSpPr>
          <p:cNvPr id="24" name="Shape 22"/>
          <p:cNvSpPr/>
          <p:nvPr/>
        </p:nvSpPr>
        <p:spPr>
          <a:xfrm>
            <a:off x="1572768" y="5468112"/>
            <a:ext cx="0" cy="685800"/>
          </a:xfrm>
          <a:prstGeom prst="line">
            <a:avLst/>
          </a:prstGeom>
          <a:noFill/>
          <a:ln w="6350">
            <a:solidFill>
              <a:srgbClr val="FEDF01"/>
            </a:solidFill>
            <a:prstDash val="solid"/>
          </a:ln>
        </p:spPr>
      </p:sp>
      <p:sp>
        <p:nvSpPr>
          <p:cNvPr id="25" name="Text 23"/>
          <p:cNvSpPr/>
          <p:nvPr/>
        </p:nvSpPr>
        <p:spPr>
          <a:xfrm>
            <a:off x="1783080" y="5349240"/>
            <a:ext cx="941832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Q-10 gates everything else</a:t>
            </a:r>
            <a:endParaRPr lang="en-US" sz="1300" dirty="0"/>
          </a:p>
        </p:txBody>
      </p:sp>
      <p:sp>
        <p:nvSpPr>
          <p:cNvPr id="26" name="Text 24"/>
          <p:cNvSpPr/>
          <p:nvPr/>
        </p:nvSpPr>
        <p:spPr>
          <a:xfrm>
            <a:off x="1783080" y="5715000"/>
            <a:ext cx="9418320" cy="566928"/>
          </a:xfrm>
          <a:prstGeom prst="rect">
            <a:avLst/>
          </a:prstGeom>
          <a:noFill/>
          <a:ln/>
        </p:spPr>
        <p:txBody>
          <a:bodyPr wrap="square" lIns="0" tIns="0" rIns="0" bIns="0" rtlCol="0" anchor="t"/>
          <a:lstStyle/>
          <a:p>
            <a:pPr indent="0" marL="0">
              <a:buNone/>
            </a:pPr>
            <a:r>
              <a:rPr lang="en-US" sz="950" dirty="0">
                <a:solidFill>
                  <a:srgbClr val="A0AEC0"/>
                </a:solidFill>
                <a:latin typeface="Arial" pitchFamily="34" charset="0"/>
                <a:ea typeface="Arial" pitchFamily="34" charset="-122"/>
                <a:cs typeface="Arial" pitchFamily="34" charset="-120"/>
              </a:rPr>
              <a:t>Whether a secondary semantic layer (AtScale) is needed depends entirely on the Tableau use case. Answer Q-10 first, then evaluate — not before.</a:t>
            </a:r>
            <a:endParaRPr lang="en-US" sz="950" dirty="0"/>
          </a:p>
        </p:txBody>
      </p:sp>
      <p:sp>
        <p:nvSpPr>
          <p:cNvPr id="27" name="Text 25"/>
          <p:cNvSpPr/>
          <p:nvPr/>
        </p:nvSpPr>
        <p:spPr>
          <a:xfrm>
            <a:off x="640080" y="6446520"/>
            <a:ext cx="10058400" cy="201168"/>
          </a:xfrm>
          <a:prstGeom prst="rect">
            <a:avLst/>
          </a:prstGeom>
          <a:noFill/>
          <a:ln/>
        </p:spPr>
        <p:txBody>
          <a:bodyPr wrap="square" rtlCol="0" anchor="ctr"/>
          <a:lstStyle/>
          <a:p>
            <a:pPr indent="0" marL="0">
              <a:buNone/>
            </a:pPr>
            <a:r>
              <a:rPr lang="en-US" sz="800" dirty="0">
                <a:solidFill>
                  <a:srgbClr val="003068"/>
                </a:solidFill>
                <a:latin typeface="Arial" pitchFamily="34" charset="0"/>
                <a:ea typeface="Arial" pitchFamily="34" charset="-122"/>
                <a:cs typeface="Arial" pitchFamily="34" charset="-120"/>
              </a:rPr>
              <a:t>Confidential — Internal Use Only · Lumina · RBC Enterprise Data · April 2026</a:t>
            </a:r>
            <a:endParaRPr lang="en-US" sz="800" dirty="0"/>
          </a:p>
        </p:txBody>
      </p:sp>
      <p:sp>
        <p:nvSpPr>
          <p:cNvPr id="28" name="Text 26"/>
          <p:cNvSpPr/>
          <p:nvPr/>
        </p:nvSpPr>
        <p:spPr>
          <a:xfrm>
            <a:off x="11704320" y="6601968"/>
            <a:ext cx="365760" cy="182880"/>
          </a:xfrm>
          <a:prstGeom prst="rect">
            <a:avLst/>
          </a:prstGeom>
          <a:noFill/>
          <a:ln/>
        </p:spPr>
        <p:txBody>
          <a:bodyPr wrap="square" rtlCol="0" anchor="ctr"/>
          <a:lstStyle/>
          <a:p>
            <a:pPr algn="r" indent="0" marL="0">
              <a:buNone/>
            </a:pPr>
            <a:r>
              <a:rPr lang="en-US" sz="900" dirty="0">
                <a:solidFill>
                  <a:srgbClr val="003068"/>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Define Once Serve AI and BI — Fabric Today</dc:title>
  <dc:subject>PptxGenJS Presentation</dc:subject>
  <dc:creator>George Chilakos</dc:creator>
  <cp:lastModifiedBy>George Chilakos</cp:lastModifiedBy>
  <cp:revision>1</cp:revision>
  <dcterms:created xsi:type="dcterms:W3CDTF">2026-04-14T13:13:29Z</dcterms:created>
  <dcterms:modified xsi:type="dcterms:W3CDTF">2026-04-14T13:13:29Z</dcterms:modified>
</cp:coreProperties>
</file>