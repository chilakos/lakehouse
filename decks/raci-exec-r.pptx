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37744"/>
          </a:xfrm>
          <a:prstGeom prst="rect">
            <a:avLst/>
          </a:prstGeom>
          <a:solidFill>
            <a:srgbClr val="F3F4FB"/>
          </a:solidFill>
          <a:ln w="12700">
            <a:solidFill>
              <a:srgbClr val="F3F4F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36576"/>
            <a:ext cx="5486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7A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Internal Use Only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8778240" y="36576"/>
            <a:ext cx="3200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7A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Lumina · RBC Enterprise Data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11704320" y="662940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7A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65760" y="310896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3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Lumina — Who Is Responsible For What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65760" y="768096"/>
            <a:ext cx="9144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Focused on R only · RACI (Accountable, Consulted, Informed) to follow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1005840"/>
            <a:ext cx="11457432" cy="20117"/>
          </a:xfrm>
          <a:prstGeom prst="rect">
            <a:avLst/>
          </a:prstGeom>
          <a:solidFill>
            <a:srgbClr val="87AFBF"/>
          </a:solidFill>
          <a:ln w="12700">
            <a:solidFill>
              <a:srgbClr val="87AFB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078992"/>
            <a:ext cx="3621024" cy="658368"/>
          </a:xfrm>
          <a:prstGeom prst="rect">
            <a:avLst>
              <a:gd name="adj" fmla="val 9722"/>
            </a:avLst>
          </a:prstGeom>
          <a:solidFill>
            <a:srgbClr val="EFF6FF"/>
          </a:solidFill>
          <a:ln w="19050">
            <a:solidFill>
              <a:srgbClr val="3068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0040" y="1078992"/>
            <a:ext cx="3621024" cy="64008"/>
          </a:xfrm>
          <a:prstGeom prst="rect">
            <a:avLst/>
          </a:prstGeom>
          <a:solidFill>
            <a:srgbClr val="3068FF"/>
          </a:solidFill>
          <a:ln w="12700">
            <a:solidFill>
              <a:srgbClr val="3068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056" y="111556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06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Team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48056" y="1426464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Builds &amp; operates the lakehouse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20040" y="1773936"/>
            <a:ext cx="3621024" cy="4736592"/>
          </a:xfrm>
          <a:prstGeom prst="rect">
            <a:avLst>
              <a:gd name="adj" fmla="val 1768"/>
            </a:avLst>
          </a:prstGeom>
          <a:solidFill>
            <a:srgbClr val="EFF6FF"/>
          </a:solidFill>
          <a:ln w="6350">
            <a:solidFill>
              <a:srgbClr val="3068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69664" y="1078992"/>
            <a:ext cx="3621024" cy="658368"/>
          </a:xfrm>
          <a:prstGeom prst="rect">
            <a:avLst>
              <a:gd name="adj" fmla="val 9722"/>
            </a:avLst>
          </a:prstGeom>
          <a:solidFill>
            <a:srgbClr val="ECFEFF"/>
          </a:solidFill>
          <a:ln w="19050">
            <a:solidFill>
              <a:srgbClr val="0891B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69664" y="1078992"/>
            <a:ext cx="3621024" cy="6400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97680" y="111556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DMO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297680" y="1426464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Governance, policies &amp; migration mgmt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169664" y="1773936"/>
            <a:ext cx="3621024" cy="4736592"/>
          </a:xfrm>
          <a:prstGeom prst="rect">
            <a:avLst>
              <a:gd name="adj" fmla="val 1768"/>
            </a:avLst>
          </a:prstGeom>
          <a:solidFill>
            <a:srgbClr val="ECFEFF"/>
          </a:solidFill>
          <a:ln w="6350">
            <a:solidFill>
              <a:srgbClr val="0891B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19288" y="1078992"/>
            <a:ext cx="3621024" cy="658368"/>
          </a:xfrm>
          <a:prstGeom prst="rect">
            <a:avLst>
              <a:gd name="adj" fmla="val 9722"/>
            </a:avLst>
          </a:prstGeom>
          <a:solidFill>
            <a:srgbClr val="ECFDF5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019288" y="1078992"/>
            <a:ext cx="3621024" cy="6400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47304" y="111556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147304" y="1426464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owners, definers &amp; UAT signatories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8019288" y="1773936"/>
            <a:ext cx="3621024" cy="4736592"/>
          </a:xfrm>
          <a:prstGeom prst="rect">
            <a:avLst>
              <a:gd name="adj" fmla="val 1768"/>
            </a:avLst>
          </a:prstGeom>
          <a:solidFill>
            <a:srgbClr val="ECFDF5"/>
          </a:solidFill>
          <a:ln w="6350">
            <a:solidFill>
              <a:srgbClr val="05966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7200" y="1847088"/>
            <a:ext cx="3346704" cy="676656"/>
          </a:xfrm>
          <a:prstGeom prst="rect">
            <a:avLst>
              <a:gd name="adj" fmla="val 8108"/>
            </a:avLst>
          </a:prstGeom>
          <a:solidFill>
            <a:srgbClr val="FFFF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7200" y="1847088"/>
            <a:ext cx="54864" cy="676656"/>
          </a:xfrm>
          <a:prstGeom prst="rect">
            <a:avLst/>
          </a:prstGeom>
          <a:solidFill>
            <a:srgbClr val="3068FF"/>
          </a:solidFill>
          <a:ln w="12700">
            <a:solidFill>
              <a:srgbClr val="3068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" y="1883664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Infrastructure &amp; operations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94360" y="2139696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MinIO, Polaris catalog, Trino, Airflow, Marquez — deploy, operate, on-call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57200" y="2596896"/>
            <a:ext cx="3346704" cy="676656"/>
          </a:xfrm>
          <a:prstGeom prst="rect">
            <a:avLst>
              <a:gd name="adj" fmla="val 8108"/>
            </a:avLst>
          </a:prstGeom>
          <a:solidFill>
            <a:srgbClr val="FFFF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7200" y="2596896"/>
            <a:ext cx="54864" cy="676656"/>
          </a:xfrm>
          <a:prstGeom prst="rect">
            <a:avLst/>
          </a:prstGeom>
          <a:solidFill>
            <a:srgbClr val="3068FF"/>
          </a:solidFill>
          <a:ln w="12700">
            <a:solidFill>
              <a:srgbClr val="3068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" y="2633472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engineering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94360" y="288950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Bronze / Silver / Gold Python pipelines, framework, schema validation, CI/CD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457200" y="3346704"/>
            <a:ext cx="3346704" cy="676656"/>
          </a:xfrm>
          <a:prstGeom prst="rect">
            <a:avLst>
              <a:gd name="adj" fmla="val 8108"/>
            </a:avLst>
          </a:prstGeom>
          <a:solidFill>
            <a:srgbClr val="FFFF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7200" y="3346704"/>
            <a:ext cx="54864" cy="676656"/>
          </a:xfrm>
          <a:prstGeom prst="rect">
            <a:avLst/>
          </a:prstGeom>
          <a:solidFill>
            <a:srgbClr val="3068FF"/>
          </a:solidFill>
          <a:ln w="12700">
            <a:solidFill>
              <a:srgbClr val="3068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" y="3383280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infrastructure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94360" y="3639312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Trust3 AI or Immuta, configure AD sync, Vault KMS, Polaris RBAC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57200" y="4096512"/>
            <a:ext cx="3346704" cy="676656"/>
          </a:xfrm>
          <a:prstGeom prst="rect">
            <a:avLst>
              <a:gd name="adj" fmla="val 8108"/>
            </a:avLst>
          </a:prstGeom>
          <a:solidFill>
            <a:srgbClr val="FFFF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57200" y="4096512"/>
            <a:ext cx="54864" cy="676656"/>
          </a:xfrm>
          <a:prstGeom prst="rect">
            <a:avLst/>
          </a:prstGeom>
          <a:solidFill>
            <a:srgbClr val="3068FF"/>
          </a:solidFill>
          <a:ln w="12700">
            <a:solidFill>
              <a:srgbClr val="3068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" y="4133088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infrastructure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94360" y="4389120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OSFI audit logs, regulatory snapshot tags, OpenLineage column capture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457200" y="4846320"/>
            <a:ext cx="3346704" cy="676656"/>
          </a:xfrm>
          <a:prstGeom prst="rect">
            <a:avLst>
              <a:gd name="adj" fmla="val 8108"/>
            </a:avLst>
          </a:prstGeom>
          <a:solidFill>
            <a:srgbClr val="FFFF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7200" y="4846320"/>
            <a:ext cx="54864" cy="676656"/>
          </a:xfrm>
          <a:prstGeom prst="rect">
            <a:avLst/>
          </a:prstGeom>
          <a:solidFill>
            <a:srgbClr val="3068FF"/>
          </a:solidFill>
          <a:ln w="12700">
            <a:solidFill>
              <a:srgbClr val="3068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" y="4882896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BI/AI platform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594360" y="513892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Fabric F64 capacity config, Git integration, RBC Assist / Azure AI Foundry connect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57200" y="5596128"/>
            <a:ext cx="3346704" cy="676656"/>
          </a:xfrm>
          <a:prstGeom prst="rect">
            <a:avLst>
              <a:gd name="adj" fmla="val 8108"/>
            </a:avLst>
          </a:prstGeom>
          <a:solidFill>
            <a:srgbClr val="FFFF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57200" y="5596128"/>
            <a:ext cx="54864" cy="676656"/>
          </a:xfrm>
          <a:prstGeom prst="rect">
            <a:avLst/>
          </a:prstGeom>
          <a:solidFill>
            <a:srgbClr val="3068FF"/>
          </a:solidFill>
          <a:ln w="12700">
            <a:solidFill>
              <a:srgbClr val="3068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94360" y="5632704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Migration engineering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594360" y="5888736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DataStage → Python builds, Teradata dual-write decoupling, Delta copy to Fabric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4306824" y="1847088"/>
            <a:ext cx="3346704" cy="676656"/>
          </a:xfrm>
          <a:prstGeom prst="rect">
            <a:avLst>
              <a:gd name="adj" fmla="val 8108"/>
            </a:avLst>
          </a:prstGeom>
          <a:solidFill>
            <a:srgbClr val="FFFFFF"/>
          </a:solidFill>
          <a:ln w="6350">
            <a:solidFill>
              <a:srgbClr val="A5F3F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306824" y="1847088"/>
            <a:ext cx="54864" cy="676656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443984" y="1883664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authoring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4443984" y="1883664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authoring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4443984" y="2139696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Translate Teradata GRANTs → Ranger/Immuta policies; author column masks &amp; row filters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4306824" y="2596896"/>
            <a:ext cx="3346704" cy="676656"/>
          </a:xfrm>
          <a:prstGeom prst="rect">
            <a:avLst>
              <a:gd name="adj" fmla="val 8108"/>
            </a:avLst>
          </a:prstGeom>
          <a:solidFill>
            <a:srgbClr val="FFFFFF"/>
          </a:solidFill>
          <a:ln w="6350">
            <a:solidFill>
              <a:srgbClr val="A5F3FC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306824" y="2596896"/>
            <a:ext cx="54864" cy="676656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443984" y="2633472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glossary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4443984" y="2633472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glossary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4443984" y="288950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 and maintain canonical term definitions in OpenMetadata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4306824" y="3346704"/>
            <a:ext cx="3346704" cy="676656"/>
          </a:xfrm>
          <a:prstGeom prst="rect">
            <a:avLst>
              <a:gd name="adj" fmla="val 8108"/>
            </a:avLst>
          </a:prstGeom>
          <a:solidFill>
            <a:srgbClr val="FFFFFF"/>
          </a:solidFill>
          <a:ln w="6350">
            <a:solidFill>
              <a:srgbClr val="A5F3FC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306824" y="3346704"/>
            <a:ext cx="54864" cy="676656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443984" y="3383280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Metadata &amp; lineage docs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4443984" y="3383280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Metadata &amp; lineage docs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4443984" y="3639312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Table/column descriptions, BCBS 239 Principle documentation, lineage paths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4306824" y="4096512"/>
            <a:ext cx="3346704" cy="676656"/>
          </a:xfrm>
          <a:prstGeom prst="rect">
            <a:avLst>
              <a:gd name="adj" fmla="val 8108"/>
            </a:avLst>
          </a:prstGeom>
          <a:solidFill>
            <a:srgbClr val="FFFFFF"/>
          </a:solidFill>
          <a:ln w="6350">
            <a:solidFill>
              <a:srgbClr val="A5F3FC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306824" y="4096512"/>
            <a:ext cx="54864" cy="676656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443984" y="4133088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OBIEE → Power BI migration</a:t>
            </a:r>
            <a:endParaRPr lang="en-US" sz="950" dirty="0"/>
          </a:p>
        </p:txBody>
      </p:sp>
      <p:sp>
        <p:nvSpPr>
          <p:cNvPr id="66" name="Text 64"/>
          <p:cNvSpPr/>
          <p:nvPr/>
        </p:nvSpPr>
        <p:spPr>
          <a:xfrm>
            <a:off x="4443984" y="4133088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OBIEE → Power BI migration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4443984" y="4389120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 1,000+ report migration; DAX measure build; Fabric RLS rules; Verified Answers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4306824" y="4846320"/>
            <a:ext cx="3346704" cy="676656"/>
          </a:xfrm>
          <a:prstGeom prst="rect">
            <a:avLst>
              <a:gd name="adj" fmla="val 8108"/>
            </a:avLst>
          </a:prstGeom>
          <a:solidFill>
            <a:srgbClr val="FFFFFF"/>
          </a:solidFill>
          <a:ln w="6350">
            <a:solidFill>
              <a:srgbClr val="A5F3F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06824" y="4846320"/>
            <a:ext cx="54864" cy="676656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443984" y="4882896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quality governance</a:t>
            </a:r>
            <a:endParaRPr lang="en-US" sz="950" dirty="0"/>
          </a:p>
        </p:txBody>
      </p:sp>
      <p:sp>
        <p:nvSpPr>
          <p:cNvPr id="71" name="Text 69"/>
          <p:cNvSpPr/>
          <p:nvPr/>
        </p:nvSpPr>
        <p:spPr>
          <a:xfrm>
            <a:off x="4443984" y="4882896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quality governance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4443984" y="513892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Soda check rules, thresholds, and quality SLA dashboards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4306824" y="5596128"/>
            <a:ext cx="3346704" cy="676656"/>
          </a:xfrm>
          <a:prstGeom prst="rect">
            <a:avLst>
              <a:gd name="adj" fmla="val 8108"/>
            </a:avLst>
          </a:prstGeom>
          <a:solidFill>
            <a:srgbClr val="FFFFFF"/>
          </a:solidFill>
          <a:ln w="6350">
            <a:solidFill>
              <a:srgbClr val="A5F3FC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4306824" y="5596128"/>
            <a:ext cx="54864" cy="676656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443984" y="5632704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documentation</a:t>
            </a:r>
            <a:endParaRPr lang="en-US" sz="950" dirty="0"/>
          </a:p>
        </p:txBody>
      </p:sp>
      <p:sp>
        <p:nvSpPr>
          <p:cNvPr id="76" name="Text 74"/>
          <p:cNvSpPr/>
          <p:nvPr/>
        </p:nvSpPr>
        <p:spPr>
          <a:xfrm>
            <a:off x="4443984" y="5632704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documentation</a:t>
            </a:r>
            <a:endParaRPr lang="en-US" sz="950" dirty="0"/>
          </a:p>
        </p:txBody>
      </p:sp>
      <p:sp>
        <p:nvSpPr>
          <p:cNvPr id="77" name="Text 75"/>
          <p:cNvSpPr/>
          <p:nvPr/>
        </p:nvSpPr>
        <p:spPr>
          <a:xfrm>
            <a:off x="4443984" y="5888736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BCBS 239 principle mapping; OSFI B-10 third-party risk assessments</a:t>
            </a:r>
            <a:endParaRPr lang="en-US" sz="850" dirty="0"/>
          </a:p>
        </p:txBody>
      </p:sp>
      <p:sp>
        <p:nvSpPr>
          <p:cNvPr id="78" name="Shape 76"/>
          <p:cNvSpPr/>
          <p:nvPr/>
        </p:nvSpPr>
        <p:spPr>
          <a:xfrm>
            <a:off x="8156448" y="1847088"/>
            <a:ext cx="3346704" cy="676656"/>
          </a:xfrm>
          <a:prstGeom prst="rect">
            <a:avLst>
              <a:gd name="adj" fmla="val 8108"/>
            </a:avLst>
          </a:prstGeom>
          <a:solidFill>
            <a:srgbClr val="FFFFFF"/>
          </a:solidFill>
          <a:ln w="6350">
            <a:solidFill>
              <a:srgbClr val="A7F3D0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8156448" y="1847088"/>
            <a:ext cx="54864" cy="676656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8293608" y="1883664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 definitions</a:t>
            </a:r>
            <a:endParaRPr lang="en-US" sz="950" dirty="0"/>
          </a:p>
        </p:txBody>
      </p:sp>
      <p:sp>
        <p:nvSpPr>
          <p:cNvPr id="81" name="Text 79"/>
          <p:cNvSpPr/>
          <p:nvPr/>
        </p:nvSpPr>
        <p:spPr>
          <a:xfrm>
            <a:off x="8293608" y="2139696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the precise logic for every certified KPI (NII, VaR 95/99, LCR Ratio, etc.)</a:t>
            </a:r>
            <a:endParaRPr lang="en-US" sz="850" dirty="0"/>
          </a:p>
        </p:txBody>
      </p:sp>
      <p:sp>
        <p:nvSpPr>
          <p:cNvPr id="82" name="Shape 80"/>
          <p:cNvSpPr/>
          <p:nvPr/>
        </p:nvSpPr>
        <p:spPr>
          <a:xfrm>
            <a:off x="8156448" y="2596896"/>
            <a:ext cx="3346704" cy="676656"/>
          </a:xfrm>
          <a:prstGeom prst="rect">
            <a:avLst>
              <a:gd name="adj" fmla="val 8108"/>
            </a:avLst>
          </a:prstGeom>
          <a:solidFill>
            <a:srgbClr val="FFFFFF"/>
          </a:solidFill>
          <a:ln w="6350">
            <a:solidFill>
              <a:srgbClr val="A7F3D0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8156448" y="2596896"/>
            <a:ext cx="54864" cy="676656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8293608" y="2633472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access governance</a:t>
            </a:r>
            <a:endParaRPr lang="en-US" sz="950" dirty="0"/>
          </a:p>
        </p:txBody>
      </p:sp>
      <p:sp>
        <p:nvSpPr>
          <p:cNvPr id="85" name="Text 83"/>
          <p:cNvSpPr/>
          <p:nvPr/>
        </p:nvSpPr>
        <p:spPr>
          <a:xfrm>
            <a:off x="8293608" y="288950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Determine which AD groups need access to which domain data — owns the request</a:t>
            </a:r>
            <a:endParaRPr lang="en-US" sz="850" dirty="0"/>
          </a:p>
        </p:txBody>
      </p:sp>
      <p:sp>
        <p:nvSpPr>
          <p:cNvPr id="86" name="Shape 84"/>
          <p:cNvSpPr/>
          <p:nvPr/>
        </p:nvSpPr>
        <p:spPr>
          <a:xfrm>
            <a:off x="8156448" y="3346704"/>
            <a:ext cx="3346704" cy="676656"/>
          </a:xfrm>
          <a:prstGeom prst="rect">
            <a:avLst>
              <a:gd name="adj" fmla="val 8108"/>
            </a:avLst>
          </a:prstGeom>
          <a:solidFill>
            <a:srgbClr val="FFFFFF"/>
          </a:solidFill>
          <a:ln w="6350">
            <a:solidFill>
              <a:srgbClr val="A7F3D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8156448" y="3346704"/>
            <a:ext cx="54864" cy="676656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293608" y="3383280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UAT sign-off</a:t>
            </a:r>
            <a:endParaRPr lang="en-US" sz="950" dirty="0"/>
          </a:p>
        </p:txBody>
      </p:sp>
      <p:sp>
        <p:nvSpPr>
          <p:cNvPr id="89" name="Text 87"/>
          <p:cNvSpPr/>
          <p:nvPr/>
        </p:nvSpPr>
        <p:spPr>
          <a:xfrm>
            <a:off x="8293608" y="3639312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 data parity for all pipeline and report migrations before production cutover</a:t>
            </a:r>
            <a:endParaRPr lang="en-US" sz="850" dirty="0"/>
          </a:p>
        </p:txBody>
      </p:sp>
      <p:sp>
        <p:nvSpPr>
          <p:cNvPr id="90" name="Shape 88"/>
          <p:cNvSpPr/>
          <p:nvPr/>
        </p:nvSpPr>
        <p:spPr>
          <a:xfrm>
            <a:off x="8156448" y="4096512"/>
            <a:ext cx="3346704" cy="676656"/>
          </a:xfrm>
          <a:prstGeom prst="rect">
            <a:avLst>
              <a:gd name="adj" fmla="val 8108"/>
            </a:avLst>
          </a:prstGeom>
          <a:solidFill>
            <a:srgbClr val="FFFFFF"/>
          </a:solidFill>
          <a:ln w="6350">
            <a:solidFill>
              <a:srgbClr val="A7F3D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8156448" y="4096512"/>
            <a:ext cx="54864" cy="676656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293608" y="4133088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data stewardship</a:t>
            </a:r>
            <a:endParaRPr lang="en-US" sz="950" dirty="0"/>
          </a:p>
        </p:txBody>
      </p:sp>
      <p:sp>
        <p:nvSpPr>
          <p:cNvPr id="93" name="Text 91"/>
          <p:cNvSpPr/>
          <p:nvPr/>
        </p:nvSpPr>
        <p:spPr>
          <a:xfrm>
            <a:off x="8293608" y="4389120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glossary terms and declare ownership of each Gold domain mart</a:t>
            </a:r>
            <a:endParaRPr lang="en-US" sz="850" dirty="0"/>
          </a:p>
        </p:txBody>
      </p:sp>
      <p:sp>
        <p:nvSpPr>
          <p:cNvPr id="94" name="Shape 92"/>
          <p:cNvSpPr/>
          <p:nvPr/>
        </p:nvSpPr>
        <p:spPr>
          <a:xfrm>
            <a:off x="8156448" y="4846320"/>
            <a:ext cx="3346704" cy="676656"/>
          </a:xfrm>
          <a:prstGeom prst="rect">
            <a:avLst>
              <a:gd name="adj" fmla="val 8108"/>
            </a:avLst>
          </a:prstGeom>
          <a:solidFill>
            <a:srgbClr val="FFFFFF"/>
          </a:solidFill>
          <a:ln w="6350">
            <a:solidFill>
              <a:srgbClr val="A7F3D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8156448" y="4846320"/>
            <a:ext cx="54864" cy="676656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293608" y="4882896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system issues</a:t>
            </a:r>
            <a:endParaRPr lang="en-US" sz="950" dirty="0"/>
          </a:p>
        </p:txBody>
      </p:sp>
      <p:sp>
        <p:nvSpPr>
          <p:cNvPr id="97" name="Text 95"/>
          <p:cNvSpPr/>
          <p:nvPr/>
        </p:nvSpPr>
        <p:spPr>
          <a:xfrm>
            <a:off x="8293608" y="513892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Root-cause analysis and remediation for quality failures originating in source systems</a:t>
            </a:r>
            <a:endParaRPr lang="en-US" sz="850" dirty="0"/>
          </a:p>
        </p:txBody>
      </p:sp>
      <p:sp>
        <p:nvSpPr>
          <p:cNvPr id="98" name="Shape 96"/>
          <p:cNvSpPr/>
          <p:nvPr/>
        </p:nvSpPr>
        <p:spPr>
          <a:xfrm>
            <a:off x="8156448" y="5596128"/>
            <a:ext cx="3346704" cy="676656"/>
          </a:xfrm>
          <a:prstGeom prst="rect">
            <a:avLst>
              <a:gd name="adj" fmla="val 8108"/>
            </a:avLst>
          </a:prstGeom>
          <a:solidFill>
            <a:srgbClr val="FFFFFF"/>
          </a:solidFill>
          <a:ln w="6350">
            <a:solidFill>
              <a:srgbClr val="A7F3D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8156448" y="5596128"/>
            <a:ext cx="54864" cy="676656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293608" y="5632704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Regulatory validation</a:t>
            </a:r>
            <a:endParaRPr lang="en-US" sz="950" dirty="0"/>
          </a:p>
        </p:txBody>
      </p:sp>
      <p:sp>
        <p:nvSpPr>
          <p:cNvPr id="101" name="Text 99"/>
          <p:cNvSpPr/>
          <p:nvPr/>
        </p:nvSpPr>
        <p:spPr>
          <a:xfrm>
            <a:off x="8293608" y="5888736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that platform outputs meet regulatory submission requirements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37744"/>
          </a:xfrm>
          <a:prstGeom prst="rect">
            <a:avLst/>
          </a:prstGeom>
          <a:solidFill>
            <a:srgbClr val="F3F4FB"/>
          </a:solidFill>
          <a:ln w="12700">
            <a:solidFill>
              <a:srgbClr val="F3F4F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36576"/>
            <a:ext cx="5486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7A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Internal Use Only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8778240" y="36576"/>
            <a:ext cx="3200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7A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Lumina · RBC Enterprise Data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11704320" y="662940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7A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65760" y="310896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3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Boundaries Matter Most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65760" y="768096"/>
            <a:ext cx="9144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hand-off points where unclear ownership creates the most risk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1005840"/>
            <a:ext cx="11457432" cy="20117"/>
          </a:xfrm>
          <a:prstGeom prst="rect">
            <a:avLst/>
          </a:prstGeom>
          <a:solidFill>
            <a:srgbClr val="87AFBF"/>
          </a:solidFill>
          <a:ln w="12700">
            <a:solidFill>
              <a:srgbClr val="87AFB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1078992"/>
            <a:ext cx="2633472" cy="274320"/>
          </a:xfrm>
          <a:prstGeom prst="rect">
            <a:avLst>
              <a:gd name="adj" fmla="val 13333"/>
            </a:avLst>
          </a:prstGeom>
          <a:solidFill>
            <a:srgbClr val="F8FAFC"/>
          </a:solidFill>
          <a:ln w="12700">
            <a:solidFill>
              <a:srgbClr val="3068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03320" y="1078992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06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492240" y="1078992"/>
            <a:ext cx="2633472" cy="274320"/>
          </a:xfrm>
          <a:prstGeom prst="rect">
            <a:avLst>
              <a:gd name="adj" fmla="val 13333"/>
            </a:avLst>
          </a:prstGeom>
          <a:solidFill>
            <a:srgbClr val="F8FAFC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1078992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DMO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9281160" y="1078992"/>
            <a:ext cx="2633472" cy="274320"/>
          </a:xfrm>
          <a:prstGeom prst="rect">
            <a:avLst>
              <a:gd name="adj" fmla="val 13333"/>
            </a:avLst>
          </a:prstGeom>
          <a:solidFill>
            <a:srgbClr val="F8FAFC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81160" y="1078992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657600" y="1060704"/>
            <a:ext cx="9144" cy="5532120"/>
          </a:xfrm>
          <a:prstGeom prst="rect">
            <a:avLst/>
          </a:prstGeom>
          <a:solidFill>
            <a:srgbClr val="DEE5EF"/>
          </a:solidFill>
          <a:ln w="12700">
            <a:solidFill>
              <a:srgbClr val="DEE5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46520" y="1060704"/>
            <a:ext cx="9144" cy="5532120"/>
          </a:xfrm>
          <a:prstGeom prst="rect">
            <a:avLst/>
          </a:prstGeom>
          <a:solidFill>
            <a:srgbClr val="DEE5EF"/>
          </a:solidFill>
          <a:ln w="12700">
            <a:solidFill>
              <a:srgbClr val="DEE5E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235440" y="1060704"/>
            <a:ext cx="9144" cy="5532120"/>
          </a:xfrm>
          <a:prstGeom prst="rect">
            <a:avLst/>
          </a:prstGeom>
          <a:solidFill>
            <a:srgbClr val="DEE5EF"/>
          </a:solidFill>
          <a:ln w="12700">
            <a:solidFill>
              <a:srgbClr val="DEE5E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" y="1426464"/>
            <a:ext cx="11548872" cy="1005840"/>
          </a:xfrm>
          <a:prstGeom prst="rect">
            <a:avLst>
              <a:gd name="adj" fmla="val 4545"/>
            </a:avLst>
          </a:prstGeom>
          <a:solidFill>
            <a:srgbClr val="FAFBFF"/>
          </a:solidFill>
          <a:ln w="6350">
            <a:solidFill>
              <a:srgbClr val="DEE5E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8912" y="1481328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3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Gold metric build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38912" y="1773936"/>
            <a:ext cx="3154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Business does not define the metric and Platform builds from assumptions — numbers are wrong in production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3657600" y="1499616"/>
            <a:ext cx="18288" cy="859536"/>
          </a:xfrm>
          <a:prstGeom prst="rect">
            <a:avLst/>
          </a:prstGeom>
          <a:solidFill>
            <a:srgbClr val="DEE5EF"/>
          </a:solidFill>
          <a:ln w="12700">
            <a:solidFill>
              <a:srgbClr val="DEE5E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767328" y="1499616"/>
            <a:ext cx="2606040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22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Gold aggregation pipeline once metric logic is confirmed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446520" y="1499616"/>
            <a:ext cx="18288" cy="859536"/>
          </a:xfrm>
          <a:prstGeom prst="rect">
            <a:avLst/>
          </a:prstGeom>
          <a:solidFill>
            <a:srgbClr val="DEE5EF"/>
          </a:solidFill>
          <a:ln w="12700">
            <a:solidFill>
              <a:srgbClr val="DEE5E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56248" y="1499616"/>
            <a:ext cx="2606040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22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Specify the SQL/DAX transformation logic from FSDM source to Gold output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9235440" y="1499616"/>
            <a:ext cx="18288" cy="859536"/>
          </a:xfrm>
          <a:prstGeom prst="rect">
            <a:avLst/>
          </a:prstGeom>
          <a:solidFill>
            <a:srgbClr val="DEE5EF"/>
          </a:solidFill>
          <a:ln w="12700">
            <a:solidFill>
              <a:srgbClr val="DEE5E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345168" y="1499616"/>
            <a:ext cx="2606040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22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the business rule: what counts, what filters, what time grain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20040" y="2496312"/>
            <a:ext cx="11548872" cy="1005840"/>
          </a:xfrm>
          <a:prstGeom prst="rect">
            <a:avLst>
              <a:gd name="adj" fmla="val 4545"/>
            </a:avLst>
          </a:prstGeom>
          <a:solidFill>
            <a:srgbClr val="FFFFFF"/>
          </a:solidFill>
          <a:ln w="6350">
            <a:solidFill>
              <a:srgbClr val="DEE5E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8912" y="2551176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3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Security policy migration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38912" y="2843784"/>
            <a:ext cx="3154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Teradata masking views are missed — data exposed when Iceberg tables go live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3657600" y="2569464"/>
            <a:ext cx="18288" cy="859536"/>
          </a:xfrm>
          <a:prstGeom prst="rect">
            <a:avLst/>
          </a:prstGeom>
          <a:solidFill>
            <a:srgbClr val="DEE5EF"/>
          </a:solidFill>
          <a:ln w="12700">
            <a:solidFill>
              <a:srgbClr val="DEE5E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767328" y="2569464"/>
            <a:ext cx="2606040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22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 policies in Trust3 AI / Immuta once authored; configure AD sync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6446520" y="2569464"/>
            <a:ext cx="18288" cy="859536"/>
          </a:xfrm>
          <a:prstGeom prst="rect">
            <a:avLst/>
          </a:prstGeom>
          <a:solidFill>
            <a:srgbClr val="DEE5EF"/>
          </a:solidFill>
          <a:ln w="12700">
            <a:solidFill>
              <a:srgbClr val="DEE5E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56248" y="2569464"/>
            <a:ext cx="2606040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22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masking views; translate all GRANTs to policies before cutover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9235440" y="2569464"/>
            <a:ext cx="18288" cy="859536"/>
          </a:xfrm>
          <a:prstGeom prst="rect">
            <a:avLst/>
          </a:prstGeom>
          <a:solidFill>
            <a:srgbClr val="DEE5EF"/>
          </a:solidFill>
          <a:ln w="12700">
            <a:solidFill>
              <a:srgbClr val="DEE5E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345168" y="2569464"/>
            <a:ext cx="2606040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22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which AD groups retain access — cannot be assumed from Teradata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320040" y="3566160"/>
            <a:ext cx="11548872" cy="1005840"/>
          </a:xfrm>
          <a:prstGeom prst="rect">
            <a:avLst>
              <a:gd name="adj" fmla="val 4545"/>
            </a:avLst>
          </a:prstGeom>
          <a:solidFill>
            <a:srgbClr val="FAFBFF"/>
          </a:solidFill>
          <a:ln w="6350">
            <a:solidFill>
              <a:srgbClr val="DEE5E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38912" y="3621024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3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OBIEE → Power BI UAT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438912" y="3913632"/>
            <a:ext cx="3154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Business sign-off on each report, a number change goes undetected until a regulator or exec sees it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3657600" y="3639312"/>
            <a:ext cx="18288" cy="859536"/>
          </a:xfrm>
          <a:prstGeom prst="rect">
            <a:avLst/>
          </a:prstGeom>
          <a:solidFill>
            <a:srgbClr val="DEE5EF"/>
          </a:solidFill>
          <a:ln w="12700">
            <a:solidFill>
              <a:srgbClr val="DEE5E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767328" y="3639312"/>
            <a:ext cx="2606040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22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Ensure the Fabric semantic model produces correct numbers from Gold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6446520" y="3639312"/>
            <a:ext cx="18288" cy="859536"/>
          </a:xfrm>
          <a:prstGeom prst="rect">
            <a:avLst/>
          </a:prstGeom>
          <a:solidFill>
            <a:srgbClr val="DEE5EF"/>
          </a:solidFill>
          <a:ln w="12700">
            <a:solidFill>
              <a:srgbClr val="DEE5E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556248" y="3639312"/>
            <a:ext cx="2606040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22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Migrate report design and certified measures into Power BI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9235440" y="3639312"/>
            <a:ext cx="18288" cy="859536"/>
          </a:xfrm>
          <a:prstGeom prst="rect">
            <a:avLst/>
          </a:prstGeom>
          <a:solidFill>
            <a:srgbClr val="DEE5EF"/>
          </a:solidFill>
          <a:ln w="12700">
            <a:solidFill>
              <a:srgbClr val="DEE5E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345168" y="3639312"/>
            <a:ext cx="2606040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22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 off that migrated report numbers match the Teradata baseline — report by report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320040" y="4636008"/>
            <a:ext cx="11548872" cy="1005840"/>
          </a:xfrm>
          <a:prstGeom prst="rect">
            <a:avLst>
              <a:gd name="adj" fmla="val 4545"/>
            </a:avLst>
          </a:prstGeom>
          <a:solidFill>
            <a:srgbClr val="FFFFFF"/>
          </a:solidFill>
          <a:ln w="6350">
            <a:solidFill>
              <a:srgbClr val="DEE5E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38912" y="4690872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3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Teradata decommission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438912" y="4983480"/>
            <a:ext cx="3154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 table is retired before all downstream consumers are confirmed, reports break silently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3657600" y="4709160"/>
            <a:ext cx="18288" cy="859536"/>
          </a:xfrm>
          <a:prstGeom prst="rect">
            <a:avLst/>
          </a:prstGeom>
          <a:solidFill>
            <a:srgbClr val="DEE5EF"/>
          </a:solidFill>
          <a:ln w="12700">
            <a:solidFill>
              <a:srgbClr val="DEE5E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767328" y="4709160"/>
            <a:ext cx="2606040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22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no Trino or pipeline queries reference the Teradata table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6446520" y="4709160"/>
            <a:ext cx="18288" cy="859536"/>
          </a:xfrm>
          <a:prstGeom prst="rect">
            <a:avLst/>
          </a:prstGeom>
          <a:solidFill>
            <a:srgbClr val="DEE5EF"/>
          </a:solidFill>
          <a:ln w="12700">
            <a:solidFill>
              <a:srgbClr val="DEE5E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56248" y="4709160"/>
            <a:ext cx="2606040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22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all DataStage jobs and OBIEE reports using that table are migrated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9235440" y="4709160"/>
            <a:ext cx="18288" cy="859536"/>
          </a:xfrm>
          <a:prstGeom prst="rect">
            <a:avLst/>
          </a:prstGeom>
          <a:solidFill>
            <a:srgbClr val="DEE5EF"/>
          </a:solidFill>
          <a:ln w="12700">
            <a:solidFill>
              <a:srgbClr val="DEE5E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345168" y="4709160"/>
            <a:ext cx="2606040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22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no business process, spreadsheet extract, or manual query depends on it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320040" y="5705856"/>
            <a:ext cx="11548872" cy="1005840"/>
          </a:xfrm>
          <a:prstGeom prst="rect">
            <a:avLst>
              <a:gd name="adj" fmla="val 4545"/>
            </a:avLst>
          </a:prstGeom>
          <a:solidFill>
            <a:srgbClr val="FAFBFF"/>
          </a:solidFill>
          <a:ln w="6350">
            <a:solidFill>
              <a:srgbClr val="DEE5E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38912" y="576072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3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 BCBS 239 compliance sign-off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438912" y="6053328"/>
            <a:ext cx="3154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Regulators require proof that risk data is accurate, traceable, and governed — missing one piece fails the audit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3657600" y="5779008"/>
            <a:ext cx="18288" cy="859536"/>
          </a:xfrm>
          <a:prstGeom prst="rect">
            <a:avLst/>
          </a:prstGeom>
          <a:solidFill>
            <a:srgbClr val="DEE5EF"/>
          </a:solidFill>
          <a:ln w="12700">
            <a:solidFill>
              <a:srgbClr val="DEE5E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767328" y="5779008"/>
            <a:ext cx="2606040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22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 column-level lineage from source to regulatory output via OpenLineage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6446520" y="5779008"/>
            <a:ext cx="18288" cy="859536"/>
          </a:xfrm>
          <a:prstGeom prst="rect">
            <a:avLst/>
          </a:prstGeom>
          <a:solidFill>
            <a:srgbClr val="DEE5EF"/>
          </a:solidFill>
          <a:ln w="12700">
            <a:solidFill>
              <a:srgbClr val="DEE5E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556248" y="5779008"/>
            <a:ext cx="2606040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22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 which BCBS 239 principle each platform capability satisfies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9235440" y="5779008"/>
            <a:ext cx="18288" cy="859536"/>
          </a:xfrm>
          <a:prstGeom prst="rect">
            <a:avLst/>
          </a:prstGeom>
          <a:solidFill>
            <a:srgbClr val="DEE5EF"/>
          </a:solidFill>
          <a:ln w="12700">
            <a:solidFill>
              <a:srgbClr val="DEE5E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9345168" y="5779008"/>
            <a:ext cx="2606040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227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 off that the regulatory data aggregation meets requirements — risk function ownership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365760" y="6601968"/>
            <a:ext cx="11430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87A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responsibility matrix (59 activities): chilakos.github.io/lakehouse/governance/responsibility-matrix.html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Lumina Responsibility — Who Does What</dc:title>
  <dc:subject>PptxGenJS Presentation</dc:subject>
  <dc:creator>PptxGenJS</dc:creator>
  <cp:lastModifiedBy>PptxGenJS</cp:lastModifiedBy>
  <cp:revision>1</cp:revision>
  <dcterms:created xsi:type="dcterms:W3CDTF">2026-04-14T13:28:28Z</dcterms:created>
  <dcterms:modified xsi:type="dcterms:W3CDTF">2026-04-14T13:28:28Z</dcterms:modified>
</cp:coreProperties>
</file>