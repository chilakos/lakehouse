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F3F4FB"/>
          </a:solidFill>
          <a:ln w="12700">
            <a:solidFill>
              <a:srgbClr val="F3F4FB"/>
            </a:solidFill>
            <a:prstDash val="solid"/>
          </a:ln>
        </p:spPr>
      </p:sp>
      <p:sp>
        <p:nvSpPr>
          <p:cNvPr id="3" name="Text 1"/>
          <p:cNvSpPr/>
          <p:nvPr/>
        </p:nvSpPr>
        <p:spPr>
          <a:xfrm>
            <a:off x="274320" y="36576"/>
            <a:ext cx="5486400" cy="164592"/>
          </a:xfrm>
          <a:prstGeom prst="rect">
            <a:avLst/>
          </a:prstGeom>
          <a:noFill/>
          <a:ln/>
        </p:spPr>
        <p:txBody>
          <a:bodyPr wrap="square" rtlCol="0" anchor="ctr"/>
          <a:lstStyle/>
          <a:p>
            <a:pPr indent="0" marL="0">
              <a:buNone/>
            </a:pPr>
            <a:r>
              <a:rPr lang="en-US" sz="700" dirty="0">
                <a:solidFill>
                  <a:srgbClr val="87AFBF"/>
                </a:solidFill>
                <a:latin typeface="Arial" pitchFamily="34" charset="0"/>
                <a:ea typeface="Arial" pitchFamily="34" charset="-122"/>
                <a:cs typeface="Arial" pitchFamily="34" charset="-120"/>
              </a:rPr>
              <a:t>Confidential — Internal Use Only</a:t>
            </a:r>
            <a:endParaRPr lang="en-US" sz="700" dirty="0"/>
          </a:p>
        </p:txBody>
      </p:sp>
      <p:sp>
        <p:nvSpPr>
          <p:cNvPr id="4" name="Text 2"/>
          <p:cNvSpPr/>
          <p:nvPr/>
        </p:nvSpPr>
        <p:spPr>
          <a:xfrm>
            <a:off x="8778240" y="36576"/>
            <a:ext cx="3200400" cy="164592"/>
          </a:xfrm>
          <a:prstGeom prst="rect">
            <a:avLst/>
          </a:prstGeom>
          <a:noFill/>
          <a:ln/>
        </p:spPr>
        <p:txBody>
          <a:bodyPr wrap="square" rtlCol="0" anchor="ctr"/>
          <a:lstStyle/>
          <a:p>
            <a:pPr algn="r" indent="0" marL="0">
              <a:buNone/>
            </a:pPr>
            <a:r>
              <a:rPr lang="en-US" sz="700" dirty="0">
                <a:solidFill>
                  <a:srgbClr val="87AFBF"/>
                </a:solidFill>
                <a:latin typeface="Arial" pitchFamily="34" charset="0"/>
                <a:ea typeface="Arial" pitchFamily="34" charset="-122"/>
                <a:cs typeface="Arial" pitchFamily="34" charset="-120"/>
              </a:rPr>
              <a:t>Lumina · RBC Enterprise Data</a:t>
            </a:r>
            <a:endParaRPr lang="en-US" sz="700" dirty="0"/>
          </a:p>
        </p:txBody>
      </p:sp>
      <p:sp>
        <p:nvSpPr>
          <p:cNvPr id="5" name="Text 3"/>
          <p:cNvSpPr/>
          <p:nvPr/>
        </p:nvSpPr>
        <p:spPr>
          <a:xfrm>
            <a:off x="11704320" y="6629400"/>
            <a:ext cx="365760" cy="182880"/>
          </a:xfrm>
          <a:prstGeom prst="rect">
            <a:avLst/>
          </a:prstGeom>
          <a:noFill/>
          <a:ln/>
        </p:spPr>
        <p:txBody>
          <a:bodyPr wrap="square" rtlCol="0" anchor="ctr"/>
          <a:lstStyle/>
          <a:p>
            <a:pPr algn="r" indent="0" marL="0">
              <a:buNone/>
            </a:pPr>
            <a:r>
              <a:rPr lang="en-US" sz="800" dirty="0">
                <a:solidFill>
                  <a:srgbClr val="87AFBF"/>
                </a:solidFill>
                <a:latin typeface="Arial" pitchFamily="34" charset="0"/>
                <a:ea typeface="Arial" pitchFamily="34" charset="-122"/>
                <a:cs typeface="Arial" pitchFamily="34" charset="-120"/>
              </a:rPr>
              <a:t>1</a:t>
            </a:r>
            <a:endParaRPr lang="en-US" sz="800" dirty="0"/>
          </a:p>
        </p:txBody>
      </p:sp>
      <p:sp>
        <p:nvSpPr>
          <p:cNvPr id="6" name="Text 4"/>
          <p:cNvSpPr/>
          <p:nvPr/>
        </p:nvSpPr>
        <p:spPr>
          <a:xfrm>
            <a:off x="365760" y="310896"/>
            <a:ext cx="9144000" cy="457200"/>
          </a:xfrm>
          <a:prstGeom prst="rect">
            <a:avLst/>
          </a:prstGeom>
          <a:noFill/>
          <a:ln/>
        </p:spPr>
        <p:txBody>
          <a:bodyPr wrap="square" rtlCol="0" anchor="ctr"/>
          <a:lstStyle/>
          <a:p>
            <a:pPr indent="0" marL="0">
              <a:buNone/>
            </a:pPr>
            <a:r>
              <a:rPr lang="en-US" sz="2200" b="1" dirty="0">
                <a:solidFill>
                  <a:srgbClr val="003068"/>
                </a:solidFill>
                <a:latin typeface="Arial" pitchFamily="34" charset="0"/>
                <a:ea typeface="Arial" pitchFamily="34" charset="-122"/>
                <a:cs typeface="Arial" pitchFamily="34" charset="-120"/>
              </a:rPr>
              <a:t>Lumina — Who Is Responsible For What</a:t>
            </a:r>
            <a:endParaRPr lang="en-US" sz="2200" dirty="0"/>
          </a:p>
        </p:txBody>
      </p:sp>
      <p:sp>
        <p:nvSpPr>
          <p:cNvPr id="7" name="Text 5"/>
          <p:cNvSpPr/>
          <p:nvPr/>
        </p:nvSpPr>
        <p:spPr>
          <a:xfrm>
            <a:off x="365760" y="768096"/>
            <a:ext cx="9144000" cy="219456"/>
          </a:xfrm>
          <a:prstGeom prst="rect">
            <a:avLst/>
          </a:prstGeom>
          <a:noFill/>
          <a:ln/>
        </p:spPr>
        <p:txBody>
          <a:bodyPr wrap="square" rtlCol="0" anchor="ctr"/>
          <a:lstStyle/>
          <a:p>
            <a:pPr indent="0" marL="0">
              <a:buNone/>
            </a:pPr>
            <a:r>
              <a:rPr lang="en-US" sz="1000" i="1" dirty="0">
                <a:solidFill>
                  <a:srgbClr val="64748B"/>
                </a:solidFill>
                <a:latin typeface="Arial" pitchFamily="34" charset="0"/>
                <a:ea typeface="Arial" pitchFamily="34" charset="-122"/>
                <a:cs typeface="Arial" pitchFamily="34" charset="-120"/>
              </a:rPr>
              <a:t>Focused on R only · RACI (Accountable, Consulted, Informed) to follow</a:t>
            </a:r>
            <a:endParaRPr lang="en-US" sz="1000" dirty="0"/>
          </a:p>
        </p:txBody>
      </p:sp>
      <p:sp>
        <p:nvSpPr>
          <p:cNvPr id="8" name="Shape 6"/>
          <p:cNvSpPr/>
          <p:nvPr/>
        </p:nvSpPr>
        <p:spPr>
          <a:xfrm>
            <a:off x="365760" y="1005840"/>
            <a:ext cx="11457432" cy="20117"/>
          </a:xfrm>
          <a:prstGeom prst="rect">
            <a:avLst/>
          </a:prstGeom>
          <a:solidFill>
            <a:srgbClr val="87AFBF"/>
          </a:solidFill>
          <a:ln w="12700">
            <a:solidFill>
              <a:srgbClr val="87AFBF"/>
            </a:solidFill>
            <a:prstDash val="solid"/>
          </a:ln>
        </p:spPr>
      </p:sp>
      <p:sp>
        <p:nvSpPr>
          <p:cNvPr id="9" name="Shape 7"/>
          <p:cNvSpPr/>
          <p:nvPr/>
        </p:nvSpPr>
        <p:spPr>
          <a:xfrm>
            <a:off x="320040" y="1078992"/>
            <a:ext cx="3621024" cy="658368"/>
          </a:xfrm>
          <a:prstGeom prst="rect">
            <a:avLst>
              <a:gd name="adj" fmla="val 9722"/>
            </a:avLst>
          </a:prstGeom>
          <a:solidFill>
            <a:srgbClr val="EFF6FF"/>
          </a:solidFill>
          <a:ln w="19050">
            <a:solidFill>
              <a:srgbClr val="3068FF"/>
            </a:solidFill>
            <a:prstDash val="solid"/>
          </a:ln>
        </p:spPr>
      </p:sp>
      <p:sp>
        <p:nvSpPr>
          <p:cNvPr id="10" name="Shape 8"/>
          <p:cNvSpPr/>
          <p:nvPr/>
        </p:nvSpPr>
        <p:spPr>
          <a:xfrm>
            <a:off x="320040" y="1078992"/>
            <a:ext cx="3621024" cy="64008"/>
          </a:xfrm>
          <a:prstGeom prst="rect">
            <a:avLst/>
          </a:prstGeom>
          <a:solidFill>
            <a:srgbClr val="3068FF"/>
          </a:solidFill>
          <a:ln w="12700">
            <a:solidFill>
              <a:srgbClr val="3068FF"/>
            </a:solidFill>
            <a:prstDash val="solid"/>
          </a:ln>
        </p:spPr>
      </p:sp>
      <p:sp>
        <p:nvSpPr>
          <p:cNvPr id="11" name="Text 9"/>
          <p:cNvSpPr/>
          <p:nvPr/>
        </p:nvSpPr>
        <p:spPr>
          <a:xfrm>
            <a:off x="448056" y="1115568"/>
            <a:ext cx="3383280" cy="310896"/>
          </a:xfrm>
          <a:prstGeom prst="rect">
            <a:avLst/>
          </a:prstGeom>
          <a:noFill/>
          <a:ln/>
        </p:spPr>
        <p:txBody>
          <a:bodyPr wrap="square" lIns="0" tIns="0" rIns="0" bIns="0" rtlCol="0" anchor="ctr"/>
          <a:lstStyle/>
          <a:p>
            <a:pPr indent="0" marL="0">
              <a:buNone/>
            </a:pPr>
            <a:r>
              <a:rPr lang="en-US" sz="1300" b="1" dirty="0">
                <a:solidFill>
                  <a:srgbClr val="3068FF"/>
                </a:solidFill>
                <a:latin typeface="Arial" pitchFamily="34" charset="0"/>
                <a:ea typeface="Arial" pitchFamily="34" charset="-122"/>
                <a:cs typeface="Arial" pitchFamily="34" charset="-120"/>
              </a:rPr>
              <a:t>Platform Team</a:t>
            </a:r>
            <a:endParaRPr lang="en-US" sz="1300" dirty="0"/>
          </a:p>
        </p:txBody>
      </p:sp>
      <p:sp>
        <p:nvSpPr>
          <p:cNvPr id="12" name="Text 10"/>
          <p:cNvSpPr/>
          <p:nvPr/>
        </p:nvSpPr>
        <p:spPr>
          <a:xfrm>
            <a:off x="448056" y="1426464"/>
            <a:ext cx="3383280" cy="256032"/>
          </a:xfrm>
          <a:prstGeom prst="rect">
            <a:avLst/>
          </a:prstGeom>
          <a:noFill/>
          <a:ln/>
        </p:spPr>
        <p:txBody>
          <a:bodyPr wrap="square" lIns="0" tIns="0" rIns="0" bIns="0" rtlCol="0" anchor="ctr"/>
          <a:lstStyle/>
          <a:p>
            <a:pPr indent="0" marL="0">
              <a:buNone/>
            </a:pPr>
            <a:r>
              <a:rPr lang="en-US" sz="850" i="1" dirty="0">
                <a:solidFill>
                  <a:srgbClr val="64748B"/>
                </a:solidFill>
                <a:latin typeface="Arial" pitchFamily="34" charset="0"/>
                <a:ea typeface="Arial" pitchFamily="34" charset="-122"/>
                <a:cs typeface="Arial" pitchFamily="34" charset="-120"/>
              </a:rPr>
              <a:t>Builds &amp; operates the lakehouse</a:t>
            </a:r>
            <a:endParaRPr lang="en-US" sz="850" dirty="0"/>
          </a:p>
        </p:txBody>
      </p:sp>
      <p:sp>
        <p:nvSpPr>
          <p:cNvPr id="13" name="Shape 11"/>
          <p:cNvSpPr/>
          <p:nvPr/>
        </p:nvSpPr>
        <p:spPr>
          <a:xfrm>
            <a:off x="320040" y="1773936"/>
            <a:ext cx="3621024" cy="4736592"/>
          </a:xfrm>
          <a:prstGeom prst="rect">
            <a:avLst>
              <a:gd name="adj" fmla="val 1768"/>
            </a:avLst>
          </a:prstGeom>
          <a:solidFill>
            <a:srgbClr val="EFF6FF"/>
          </a:solidFill>
          <a:ln w="6350">
            <a:solidFill>
              <a:srgbClr val="3068FF"/>
            </a:solidFill>
            <a:prstDash val="solid"/>
          </a:ln>
        </p:spPr>
      </p:sp>
      <p:sp>
        <p:nvSpPr>
          <p:cNvPr id="14" name="Shape 12"/>
          <p:cNvSpPr/>
          <p:nvPr/>
        </p:nvSpPr>
        <p:spPr>
          <a:xfrm>
            <a:off x="4169664" y="1078992"/>
            <a:ext cx="3621024" cy="658368"/>
          </a:xfrm>
          <a:prstGeom prst="rect">
            <a:avLst>
              <a:gd name="adj" fmla="val 9722"/>
            </a:avLst>
          </a:prstGeom>
          <a:solidFill>
            <a:srgbClr val="ECFEFF"/>
          </a:solidFill>
          <a:ln w="19050">
            <a:solidFill>
              <a:srgbClr val="0891B2"/>
            </a:solidFill>
            <a:prstDash val="solid"/>
          </a:ln>
        </p:spPr>
      </p:sp>
      <p:sp>
        <p:nvSpPr>
          <p:cNvPr id="15" name="Shape 13"/>
          <p:cNvSpPr/>
          <p:nvPr/>
        </p:nvSpPr>
        <p:spPr>
          <a:xfrm>
            <a:off x="4169664" y="1078992"/>
            <a:ext cx="3621024" cy="64008"/>
          </a:xfrm>
          <a:prstGeom prst="rect">
            <a:avLst/>
          </a:prstGeom>
          <a:solidFill>
            <a:srgbClr val="0891B2"/>
          </a:solidFill>
          <a:ln w="12700">
            <a:solidFill>
              <a:srgbClr val="0891B2"/>
            </a:solidFill>
            <a:prstDash val="solid"/>
          </a:ln>
        </p:spPr>
      </p:sp>
      <p:sp>
        <p:nvSpPr>
          <p:cNvPr id="16" name="Text 14"/>
          <p:cNvSpPr/>
          <p:nvPr/>
        </p:nvSpPr>
        <p:spPr>
          <a:xfrm>
            <a:off x="4297680" y="1115568"/>
            <a:ext cx="3383280" cy="310896"/>
          </a:xfrm>
          <a:prstGeom prst="rect">
            <a:avLst/>
          </a:prstGeom>
          <a:noFill/>
          <a:ln/>
        </p:spPr>
        <p:txBody>
          <a:bodyPr wrap="square" lIns="0" tIns="0" rIns="0" bIns="0" rtlCol="0" anchor="ctr"/>
          <a:lstStyle/>
          <a:p>
            <a:pPr indent="0" marL="0">
              <a:buNone/>
            </a:pPr>
            <a:r>
              <a:rPr lang="en-US" sz="1300" b="1" dirty="0">
                <a:solidFill>
                  <a:srgbClr val="0891B2"/>
                </a:solidFill>
                <a:latin typeface="Arial" pitchFamily="34" charset="0"/>
                <a:ea typeface="Arial" pitchFamily="34" charset="-122"/>
                <a:cs typeface="Arial" pitchFamily="34" charset="-120"/>
              </a:rPr>
              <a:t>DMO</a:t>
            </a:r>
            <a:endParaRPr lang="en-US" sz="1300" dirty="0"/>
          </a:p>
        </p:txBody>
      </p:sp>
      <p:sp>
        <p:nvSpPr>
          <p:cNvPr id="17" name="Text 15"/>
          <p:cNvSpPr/>
          <p:nvPr/>
        </p:nvSpPr>
        <p:spPr>
          <a:xfrm>
            <a:off x="4297680" y="1426464"/>
            <a:ext cx="3383280" cy="256032"/>
          </a:xfrm>
          <a:prstGeom prst="rect">
            <a:avLst/>
          </a:prstGeom>
          <a:noFill/>
          <a:ln/>
        </p:spPr>
        <p:txBody>
          <a:bodyPr wrap="square" lIns="0" tIns="0" rIns="0" bIns="0" rtlCol="0" anchor="ctr"/>
          <a:lstStyle/>
          <a:p>
            <a:pPr indent="0" marL="0">
              <a:buNone/>
            </a:pPr>
            <a:r>
              <a:rPr lang="en-US" sz="850" i="1" dirty="0">
                <a:solidFill>
                  <a:srgbClr val="64748B"/>
                </a:solidFill>
                <a:latin typeface="Arial" pitchFamily="34" charset="0"/>
                <a:ea typeface="Arial" pitchFamily="34" charset="-122"/>
                <a:cs typeface="Arial" pitchFamily="34" charset="-120"/>
              </a:rPr>
              <a:t>Governance, policies &amp; migration mgmt</a:t>
            </a:r>
            <a:endParaRPr lang="en-US" sz="850" dirty="0"/>
          </a:p>
        </p:txBody>
      </p:sp>
      <p:sp>
        <p:nvSpPr>
          <p:cNvPr id="18" name="Shape 16"/>
          <p:cNvSpPr/>
          <p:nvPr/>
        </p:nvSpPr>
        <p:spPr>
          <a:xfrm>
            <a:off x="4169664" y="1773936"/>
            <a:ext cx="3621024" cy="4736592"/>
          </a:xfrm>
          <a:prstGeom prst="rect">
            <a:avLst>
              <a:gd name="adj" fmla="val 1768"/>
            </a:avLst>
          </a:prstGeom>
          <a:solidFill>
            <a:srgbClr val="ECFEFF"/>
          </a:solidFill>
          <a:ln w="6350">
            <a:solidFill>
              <a:srgbClr val="0891B2"/>
            </a:solidFill>
            <a:prstDash val="solid"/>
          </a:ln>
        </p:spPr>
      </p:sp>
      <p:sp>
        <p:nvSpPr>
          <p:cNvPr id="19" name="Shape 17"/>
          <p:cNvSpPr/>
          <p:nvPr/>
        </p:nvSpPr>
        <p:spPr>
          <a:xfrm>
            <a:off x="8019288" y="1078992"/>
            <a:ext cx="3621024" cy="658368"/>
          </a:xfrm>
          <a:prstGeom prst="rect">
            <a:avLst>
              <a:gd name="adj" fmla="val 9722"/>
            </a:avLst>
          </a:prstGeom>
          <a:solidFill>
            <a:srgbClr val="ECFDF5"/>
          </a:solidFill>
          <a:ln w="19050">
            <a:solidFill>
              <a:srgbClr val="059669"/>
            </a:solidFill>
            <a:prstDash val="solid"/>
          </a:ln>
        </p:spPr>
      </p:sp>
      <p:sp>
        <p:nvSpPr>
          <p:cNvPr id="20" name="Shape 18"/>
          <p:cNvSpPr/>
          <p:nvPr/>
        </p:nvSpPr>
        <p:spPr>
          <a:xfrm>
            <a:off x="8019288" y="1078992"/>
            <a:ext cx="3621024" cy="64008"/>
          </a:xfrm>
          <a:prstGeom prst="rect">
            <a:avLst/>
          </a:prstGeom>
          <a:solidFill>
            <a:srgbClr val="059669"/>
          </a:solidFill>
          <a:ln w="12700">
            <a:solidFill>
              <a:srgbClr val="059669"/>
            </a:solidFill>
            <a:prstDash val="solid"/>
          </a:ln>
        </p:spPr>
      </p:sp>
      <p:sp>
        <p:nvSpPr>
          <p:cNvPr id="21" name="Text 19"/>
          <p:cNvSpPr/>
          <p:nvPr/>
        </p:nvSpPr>
        <p:spPr>
          <a:xfrm>
            <a:off x="8147304" y="1115568"/>
            <a:ext cx="3383280" cy="310896"/>
          </a:xfrm>
          <a:prstGeom prst="rect">
            <a:avLst/>
          </a:prstGeom>
          <a:noFill/>
          <a:ln/>
        </p:spPr>
        <p:txBody>
          <a:bodyPr wrap="square" lIns="0" tIns="0" rIns="0" bIns="0" rtlCol="0" anchor="ctr"/>
          <a:lstStyle/>
          <a:p>
            <a:pPr indent="0" marL="0">
              <a:buNone/>
            </a:pPr>
            <a:r>
              <a:rPr lang="en-US" sz="1300" b="1" dirty="0">
                <a:solidFill>
                  <a:srgbClr val="059669"/>
                </a:solidFill>
                <a:latin typeface="Arial" pitchFamily="34" charset="0"/>
                <a:ea typeface="Arial" pitchFamily="34" charset="-122"/>
                <a:cs typeface="Arial" pitchFamily="34" charset="-120"/>
              </a:rPr>
              <a:t>Business</a:t>
            </a:r>
            <a:endParaRPr lang="en-US" sz="1300" dirty="0"/>
          </a:p>
        </p:txBody>
      </p:sp>
      <p:sp>
        <p:nvSpPr>
          <p:cNvPr id="22" name="Text 20"/>
          <p:cNvSpPr/>
          <p:nvPr/>
        </p:nvSpPr>
        <p:spPr>
          <a:xfrm>
            <a:off x="8147304" y="1426464"/>
            <a:ext cx="3383280" cy="256032"/>
          </a:xfrm>
          <a:prstGeom prst="rect">
            <a:avLst/>
          </a:prstGeom>
          <a:noFill/>
          <a:ln/>
        </p:spPr>
        <p:txBody>
          <a:bodyPr wrap="square" lIns="0" tIns="0" rIns="0" bIns="0" rtlCol="0" anchor="ctr"/>
          <a:lstStyle/>
          <a:p>
            <a:pPr indent="0" marL="0">
              <a:buNone/>
            </a:pPr>
            <a:r>
              <a:rPr lang="en-US" sz="850" i="1" dirty="0">
                <a:solidFill>
                  <a:srgbClr val="64748B"/>
                </a:solidFill>
                <a:latin typeface="Arial" pitchFamily="34" charset="0"/>
                <a:ea typeface="Arial" pitchFamily="34" charset="-122"/>
                <a:cs typeface="Arial" pitchFamily="34" charset="-120"/>
              </a:rPr>
              <a:t>Data owners, definers &amp; UAT signatories</a:t>
            </a:r>
            <a:endParaRPr lang="en-US" sz="850" dirty="0"/>
          </a:p>
        </p:txBody>
      </p:sp>
      <p:sp>
        <p:nvSpPr>
          <p:cNvPr id="23" name="Shape 21"/>
          <p:cNvSpPr/>
          <p:nvPr/>
        </p:nvSpPr>
        <p:spPr>
          <a:xfrm>
            <a:off x="8019288" y="1773936"/>
            <a:ext cx="3621024" cy="4736592"/>
          </a:xfrm>
          <a:prstGeom prst="rect">
            <a:avLst>
              <a:gd name="adj" fmla="val 1768"/>
            </a:avLst>
          </a:prstGeom>
          <a:solidFill>
            <a:srgbClr val="ECFDF5"/>
          </a:solidFill>
          <a:ln w="6350">
            <a:solidFill>
              <a:srgbClr val="059669"/>
            </a:solidFill>
            <a:prstDash val="solid"/>
          </a:ln>
        </p:spPr>
      </p:sp>
      <p:sp>
        <p:nvSpPr>
          <p:cNvPr id="24" name="Shape 22"/>
          <p:cNvSpPr/>
          <p:nvPr/>
        </p:nvSpPr>
        <p:spPr>
          <a:xfrm>
            <a:off x="457200" y="1847088"/>
            <a:ext cx="3346704" cy="676656"/>
          </a:xfrm>
          <a:prstGeom prst="rect">
            <a:avLst>
              <a:gd name="adj" fmla="val 8108"/>
            </a:avLst>
          </a:prstGeom>
          <a:solidFill>
            <a:srgbClr val="FFFFFF"/>
          </a:solidFill>
          <a:ln w="6350">
            <a:solidFill>
              <a:srgbClr val="BFDBFE"/>
            </a:solidFill>
            <a:prstDash val="solid"/>
          </a:ln>
        </p:spPr>
      </p:sp>
      <p:sp>
        <p:nvSpPr>
          <p:cNvPr id="25" name="Shape 23"/>
          <p:cNvSpPr/>
          <p:nvPr/>
        </p:nvSpPr>
        <p:spPr>
          <a:xfrm>
            <a:off x="457200" y="1847088"/>
            <a:ext cx="54864" cy="676656"/>
          </a:xfrm>
          <a:prstGeom prst="rect">
            <a:avLst/>
          </a:prstGeom>
          <a:solidFill>
            <a:srgbClr val="3068FF"/>
          </a:solidFill>
          <a:ln w="12700">
            <a:solidFill>
              <a:srgbClr val="3068FF"/>
            </a:solidFill>
            <a:prstDash val="solid"/>
          </a:ln>
        </p:spPr>
      </p:sp>
      <p:sp>
        <p:nvSpPr>
          <p:cNvPr id="26" name="Text 24"/>
          <p:cNvSpPr/>
          <p:nvPr/>
        </p:nvSpPr>
        <p:spPr>
          <a:xfrm>
            <a:off x="594360" y="1883664"/>
            <a:ext cx="3063240" cy="256032"/>
          </a:xfrm>
          <a:prstGeom prst="rect">
            <a:avLst/>
          </a:prstGeom>
          <a:noFill/>
          <a:ln/>
        </p:spPr>
        <p:txBody>
          <a:bodyPr wrap="square" lIns="0" tIns="0" rIns="0" bIns="0" rtlCol="0" anchor="ctr"/>
          <a:lstStyle/>
          <a:p>
            <a:pPr indent="0" marL="0">
              <a:buNone/>
            </a:pPr>
            <a:r>
              <a:rPr lang="en-US" sz="950" b="1" dirty="0">
                <a:solidFill>
                  <a:srgbClr val="003068"/>
                </a:solidFill>
                <a:latin typeface="Arial" pitchFamily="34" charset="0"/>
                <a:ea typeface="Arial" pitchFamily="34" charset="-122"/>
                <a:cs typeface="Arial" pitchFamily="34" charset="-120"/>
              </a:rPr>
              <a:t>Infrastructure &amp; operations</a:t>
            </a:r>
            <a:endParaRPr lang="en-US" sz="950" dirty="0"/>
          </a:p>
        </p:txBody>
      </p:sp>
      <p:sp>
        <p:nvSpPr>
          <p:cNvPr id="27" name="Text 25"/>
          <p:cNvSpPr/>
          <p:nvPr/>
        </p:nvSpPr>
        <p:spPr>
          <a:xfrm>
            <a:off x="594360" y="2139696"/>
            <a:ext cx="3063240" cy="329184"/>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MinIO, Polaris catalog, Trino, Airflow, Marquez — deploy, operate, on-call</a:t>
            </a:r>
            <a:endParaRPr lang="en-US" sz="850" dirty="0"/>
          </a:p>
        </p:txBody>
      </p:sp>
      <p:sp>
        <p:nvSpPr>
          <p:cNvPr id="28" name="Shape 26"/>
          <p:cNvSpPr/>
          <p:nvPr/>
        </p:nvSpPr>
        <p:spPr>
          <a:xfrm>
            <a:off x="457200" y="2596896"/>
            <a:ext cx="3346704" cy="676656"/>
          </a:xfrm>
          <a:prstGeom prst="rect">
            <a:avLst>
              <a:gd name="adj" fmla="val 8108"/>
            </a:avLst>
          </a:prstGeom>
          <a:solidFill>
            <a:srgbClr val="FFFFFF"/>
          </a:solidFill>
          <a:ln w="6350">
            <a:solidFill>
              <a:srgbClr val="BFDBFE"/>
            </a:solidFill>
            <a:prstDash val="solid"/>
          </a:ln>
        </p:spPr>
      </p:sp>
      <p:sp>
        <p:nvSpPr>
          <p:cNvPr id="29" name="Shape 27"/>
          <p:cNvSpPr/>
          <p:nvPr/>
        </p:nvSpPr>
        <p:spPr>
          <a:xfrm>
            <a:off x="457200" y="2596896"/>
            <a:ext cx="54864" cy="676656"/>
          </a:xfrm>
          <a:prstGeom prst="rect">
            <a:avLst/>
          </a:prstGeom>
          <a:solidFill>
            <a:srgbClr val="3068FF"/>
          </a:solidFill>
          <a:ln w="12700">
            <a:solidFill>
              <a:srgbClr val="3068FF"/>
            </a:solidFill>
            <a:prstDash val="solid"/>
          </a:ln>
        </p:spPr>
      </p:sp>
      <p:sp>
        <p:nvSpPr>
          <p:cNvPr id="30" name="Text 28"/>
          <p:cNvSpPr/>
          <p:nvPr/>
        </p:nvSpPr>
        <p:spPr>
          <a:xfrm>
            <a:off x="594360" y="2633472"/>
            <a:ext cx="3063240" cy="256032"/>
          </a:xfrm>
          <a:prstGeom prst="rect">
            <a:avLst/>
          </a:prstGeom>
          <a:noFill/>
          <a:ln/>
        </p:spPr>
        <p:txBody>
          <a:bodyPr wrap="square" lIns="0" tIns="0" rIns="0" bIns="0" rtlCol="0" anchor="ctr"/>
          <a:lstStyle/>
          <a:p>
            <a:pPr indent="0" marL="0">
              <a:buNone/>
            </a:pPr>
            <a:r>
              <a:rPr lang="en-US" sz="950" b="1" dirty="0">
                <a:solidFill>
                  <a:srgbClr val="003068"/>
                </a:solidFill>
                <a:latin typeface="Arial" pitchFamily="34" charset="0"/>
                <a:ea typeface="Arial" pitchFamily="34" charset="-122"/>
                <a:cs typeface="Arial" pitchFamily="34" charset="-120"/>
              </a:rPr>
              <a:t>Pipeline engineering</a:t>
            </a:r>
            <a:endParaRPr lang="en-US" sz="950" dirty="0"/>
          </a:p>
        </p:txBody>
      </p:sp>
      <p:sp>
        <p:nvSpPr>
          <p:cNvPr id="31" name="Text 29"/>
          <p:cNvSpPr/>
          <p:nvPr/>
        </p:nvSpPr>
        <p:spPr>
          <a:xfrm>
            <a:off x="594360" y="2889504"/>
            <a:ext cx="3063240" cy="329184"/>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Bronze / Silver / Gold Python pipelines, framework, schema validation, CI/CD</a:t>
            </a:r>
            <a:endParaRPr lang="en-US" sz="850" dirty="0"/>
          </a:p>
        </p:txBody>
      </p:sp>
      <p:sp>
        <p:nvSpPr>
          <p:cNvPr id="32" name="Shape 30"/>
          <p:cNvSpPr/>
          <p:nvPr/>
        </p:nvSpPr>
        <p:spPr>
          <a:xfrm>
            <a:off x="457200" y="3346704"/>
            <a:ext cx="3346704" cy="676656"/>
          </a:xfrm>
          <a:prstGeom prst="rect">
            <a:avLst>
              <a:gd name="adj" fmla="val 8108"/>
            </a:avLst>
          </a:prstGeom>
          <a:solidFill>
            <a:srgbClr val="FFFFFF"/>
          </a:solidFill>
          <a:ln w="6350">
            <a:solidFill>
              <a:srgbClr val="BFDBFE"/>
            </a:solidFill>
            <a:prstDash val="solid"/>
          </a:ln>
        </p:spPr>
      </p:sp>
      <p:sp>
        <p:nvSpPr>
          <p:cNvPr id="33" name="Shape 31"/>
          <p:cNvSpPr/>
          <p:nvPr/>
        </p:nvSpPr>
        <p:spPr>
          <a:xfrm>
            <a:off x="457200" y="3346704"/>
            <a:ext cx="54864" cy="676656"/>
          </a:xfrm>
          <a:prstGeom prst="rect">
            <a:avLst/>
          </a:prstGeom>
          <a:solidFill>
            <a:srgbClr val="3068FF"/>
          </a:solidFill>
          <a:ln w="12700">
            <a:solidFill>
              <a:srgbClr val="3068FF"/>
            </a:solidFill>
            <a:prstDash val="solid"/>
          </a:ln>
        </p:spPr>
      </p:sp>
      <p:sp>
        <p:nvSpPr>
          <p:cNvPr id="34" name="Text 32"/>
          <p:cNvSpPr/>
          <p:nvPr/>
        </p:nvSpPr>
        <p:spPr>
          <a:xfrm>
            <a:off x="594360" y="3383280"/>
            <a:ext cx="3063240" cy="256032"/>
          </a:xfrm>
          <a:prstGeom prst="rect">
            <a:avLst/>
          </a:prstGeom>
          <a:noFill/>
          <a:ln/>
        </p:spPr>
        <p:txBody>
          <a:bodyPr wrap="square" lIns="0" tIns="0" rIns="0" bIns="0" rtlCol="0" anchor="ctr"/>
          <a:lstStyle/>
          <a:p>
            <a:pPr indent="0" marL="0">
              <a:buNone/>
            </a:pPr>
            <a:r>
              <a:rPr lang="en-US" sz="950" b="1" dirty="0">
                <a:solidFill>
                  <a:srgbClr val="003068"/>
                </a:solidFill>
                <a:latin typeface="Arial" pitchFamily="34" charset="0"/>
                <a:ea typeface="Arial" pitchFamily="34" charset="-122"/>
                <a:cs typeface="Arial" pitchFamily="34" charset="-120"/>
              </a:rPr>
              <a:t>Security infrastructure</a:t>
            </a:r>
            <a:endParaRPr lang="en-US" sz="950" dirty="0"/>
          </a:p>
        </p:txBody>
      </p:sp>
      <p:sp>
        <p:nvSpPr>
          <p:cNvPr id="35" name="Text 33"/>
          <p:cNvSpPr/>
          <p:nvPr/>
        </p:nvSpPr>
        <p:spPr>
          <a:xfrm>
            <a:off x="594360" y="3639312"/>
            <a:ext cx="3063240" cy="329184"/>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Deploy Trust3 AI or Immuta, configure AD sync, Vault KMS, Polaris RBAC</a:t>
            </a:r>
            <a:endParaRPr lang="en-US" sz="850" dirty="0"/>
          </a:p>
        </p:txBody>
      </p:sp>
      <p:sp>
        <p:nvSpPr>
          <p:cNvPr id="36" name="Shape 34"/>
          <p:cNvSpPr/>
          <p:nvPr/>
        </p:nvSpPr>
        <p:spPr>
          <a:xfrm>
            <a:off x="457200" y="4096512"/>
            <a:ext cx="3346704" cy="676656"/>
          </a:xfrm>
          <a:prstGeom prst="rect">
            <a:avLst>
              <a:gd name="adj" fmla="val 8108"/>
            </a:avLst>
          </a:prstGeom>
          <a:solidFill>
            <a:srgbClr val="FFFFFF"/>
          </a:solidFill>
          <a:ln w="6350">
            <a:solidFill>
              <a:srgbClr val="BFDBFE"/>
            </a:solidFill>
            <a:prstDash val="solid"/>
          </a:ln>
        </p:spPr>
      </p:sp>
      <p:sp>
        <p:nvSpPr>
          <p:cNvPr id="37" name="Shape 35"/>
          <p:cNvSpPr/>
          <p:nvPr/>
        </p:nvSpPr>
        <p:spPr>
          <a:xfrm>
            <a:off x="457200" y="4096512"/>
            <a:ext cx="54864" cy="676656"/>
          </a:xfrm>
          <a:prstGeom prst="rect">
            <a:avLst/>
          </a:prstGeom>
          <a:solidFill>
            <a:srgbClr val="3068FF"/>
          </a:solidFill>
          <a:ln w="12700">
            <a:solidFill>
              <a:srgbClr val="3068FF"/>
            </a:solidFill>
            <a:prstDash val="solid"/>
          </a:ln>
        </p:spPr>
      </p:sp>
      <p:sp>
        <p:nvSpPr>
          <p:cNvPr id="38" name="Text 36"/>
          <p:cNvSpPr/>
          <p:nvPr/>
        </p:nvSpPr>
        <p:spPr>
          <a:xfrm>
            <a:off x="594360" y="4133088"/>
            <a:ext cx="3063240" cy="256032"/>
          </a:xfrm>
          <a:prstGeom prst="rect">
            <a:avLst/>
          </a:prstGeom>
          <a:noFill/>
          <a:ln/>
        </p:spPr>
        <p:txBody>
          <a:bodyPr wrap="square" lIns="0" tIns="0" rIns="0" bIns="0" rtlCol="0" anchor="ctr"/>
          <a:lstStyle/>
          <a:p>
            <a:pPr indent="0" marL="0">
              <a:buNone/>
            </a:pPr>
            <a:r>
              <a:rPr lang="en-US" sz="950" b="1" dirty="0">
                <a:solidFill>
                  <a:srgbClr val="003068"/>
                </a:solidFill>
                <a:latin typeface="Arial" pitchFamily="34" charset="0"/>
                <a:ea typeface="Arial" pitchFamily="34" charset="-122"/>
                <a:cs typeface="Arial" pitchFamily="34" charset="-120"/>
              </a:rPr>
              <a:t>Compliance infrastructure</a:t>
            </a:r>
            <a:endParaRPr lang="en-US" sz="950" dirty="0"/>
          </a:p>
        </p:txBody>
      </p:sp>
      <p:sp>
        <p:nvSpPr>
          <p:cNvPr id="39" name="Text 37"/>
          <p:cNvSpPr/>
          <p:nvPr/>
        </p:nvSpPr>
        <p:spPr>
          <a:xfrm>
            <a:off x="594360" y="4389120"/>
            <a:ext cx="3063240" cy="329184"/>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OSFI audit logs, regulatory snapshot tags, OpenLineage column capture</a:t>
            </a:r>
            <a:endParaRPr lang="en-US" sz="850" dirty="0"/>
          </a:p>
        </p:txBody>
      </p:sp>
      <p:sp>
        <p:nvSpPr>
          <p:cNvPr id="40" name="Shape 38"/>
          <p:cNvSpPr/>
          <p:nvPr/>
        </p:nvSpPr>
        <p:spPr>
          <a:xfrm>
            <a:off x="457200" y="4846320"/>
            <a:ext cx="3346704" cy="676656"/>
          </a:xfrm>
          <a:prstGeom prst="rect">
            <a:avLst>
              <a:gd name="adj" fmla="val 8108"/>
            </a:avLst>
          </a:prstGeom>
          <a:solidFill>
            <a:srgbClr val="FFFFFF"/>
          </a:solidFill>
          <a:ln w="6350">
            <a:solidFill>
              <a:srgbClr val="BFDBFE"/>
            </a:solidFill>
            <a:prstDash val="solid"/>
          </a:ln>
        </p:spPr>
      </p:sp>
      <p:sp>
        <p:nvSpPr>
          <p:cNvPr id="41" name="Shape 39"/>
          <p:cNvSpPr/>
          <p:nvPr/>
        </p:nvSpPr>
        <p:spPr>
          <a:xfrm>
            <a:off x="457200" y="4846320"/>
            <a:ext cx="54864" cy="676656"/>
          </a:xfrm>
          <a:prstGeom prst="rect">
            <a:avLst/>
          </a:prstGeom>
          <a:solidFill>
            <a:srgbClr val="3068FF"/>
          </a:solidFill>
          <a:ln w="12700">
            <a:solidFill>
              <a:srgbClr val="3068FF"/>
            </a:solidFill>
            <a:prstDash val="solid"/>
          </a:ln>
        </p:spPr>
      </p:sp>
      <p:sp>
        <p:nvSpPr>
          <p:cNvPr id="42" name="Text 40"/>
          <p:cNvSpPr/>
          <p:nvPr/>
        </p:nvSpPr>
        <p:spPr>
          <a:xfrm>
            <a:off x="594360" y="4882896"/>
            <a:ext cx="3063240" cy="256032"/>
          </a:xfrm>
          <a:prstGeom prst="rect">
            <a:avLst/>
          </a:prstGeom>
          <a:noFill/>
          <a:ln/>
        </p:spPr>
        <p:txBody>
          <a:bodyPr wrap="square" lIns="0" tIns="0" rIns="0" bIns="0" rtlCol="0" anchor="ctr"/>
          <a:lstStyle/>
          <a:p>
            <a:pPr indent="0" marL="0">
              <a:buNone/>
            </a:pPr>
            <a:r>
              <a:rPr lang="en-US" sz="950" b="1" dirty="0">
                <a:solidFill>
                  <a:srgbClr val="003068"/>
                </a:solidFill>
                <a:latin typeface="Arial" pitchFamily="34" charset="0"/>
                <a:ea typeface="Arial" pitchFamily="34" charset="-122"/>
                <a:cs typeface="Arial" pitchFamily="34" charset="-120"/>
              </a:rPr>
              <a:t>BI/AI platform</a:t>
            </a:r>
            <a:endParaRPr lang="en-US" sz="950" dirty="0"/>
          </a:p>
        </p:txBody>
      </p:sp>
      <p:sp>
        <p:nvSpPr>
          <p:cNvPr id="43" name="Text 41"/>
          <p:cNvSpPr/>
          <p:nvPr/>
        </p:nvSpPr>
        <p:spPr>
          <a:xfrm>
            <a:off x="594360" y="5138928"/>
            <a:ext cx="3063240" cy="329184"/>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Fabric F64 capacity config, Git integration, RBC Assist / Azure AI Foundry connect</a:t>
            </a:r>
            <a:endParaRPr lang="en-US" sz="850" dirty="0"/>
          </a:p>
        </p:txBody>
      </p:sp>
      <p:sp>
        <p:nvSpPr>
          <p:cNvPr id="44" name="Shape 42"/>
          <p:cNvSpPr/>
          <p:nvPr/>
        </p:nvSpPr>
        <p:spPr>
          <a:xfrm>
            <a:off x="457200" y="5596128"/>
            <a:ext cx="3346704" cy="676656"/>
          </a:xfrm>
          <a:prstGeom prst="rect">
            <a:avLst>
              <a:gd name="adj" fmla="val 8108"/>
            </a:avLst>
          </a:prstGeom>
          <a:solidFill>
            <a:srgbClr val="FFFFFF"/>
          </a:solidFill>
          <a:ln w="6350">
            <a:solidFill>
              <a:srgbClr val="BFDBFE"/>
            </a:solidFill>
            <a:prstDash val="solid"/>
          </a:ln>
        </p:spPr>
      </p:sp>
      <p:sp>
        <p:nvSpPr>
          <p:cNvPr id="45" name="Shape 43"/>
          <p:cNvSpPr/>
          <p:nvPr/>
        </p:nvSpPr>
        <p:spPr>
          <a:xfrm>
            <a:off x="457200" y="5596128"/>
            <a:ext cx="54864" cy="676656"/>
          </a:xfrm>
          <a:prstGeom prst="rect">
            <a:avLst/>
          </a:prstGeom>
          <a:solidFill>
            <a:srgbClr val="3068FF"/>
          </a:solidFill>
          <a:ln w="12700">
            <a:solidFill>
              <a:srgbClr val="3068FF"/>
            </a:solidFill>
            <a:prstDash val="solid"/>
          </a:ln>
        </p:spPr>
      </p:sp>
      <p:sp>
        <p:nvSpPr>
          <p:cNvPr id="46" name="Text 44"/>
          <p:cNvSpPr/>
          <p:nvPr/>
        </p:nvSpPr>
        <p:spPr>
          <a:xfrm>
            <a:off x="594360" y="5632704"/>
            <a:ext cx="3063240" cy="256032"/>
          </a:xfrm>
          <a:prstGeom prst="rect">
            <a:avLst/>
          </a:prstGeom>
          <a:noFill/>
          <a:ln/>
        </p:spPr>
        <p:txBody>
          <a:bodyPr wrap="square" lIns="0" tIns="0" rIns="0" bIns="0" rtlCol="0" anchor="ctr"/>
          <a:lstStyle/>
          <a:p>
            <a:pPr indent="0" marL="0">
              <a:buNone/>
            </a:pPr>
            <a:r>
              <a:rPr lang="en-US" sz="950" b="1" dirty="0">
                <a:solidFill>
                  <a:srgbClr val="003068"/>
                </a:solidFill>
                <a:latin typeface="Arial" pitchFamily="34" charset="0"/>
                <a:ea typeface="Arial" pitchFamily="34" charset="-122"/>
                <a:cs typeface="Arial" pitchFamily="34" charset="-120"/>
              </a:rPr>
              <a:t>Migration engineering</a:t>
            </a:r>
            <a:endParaRPr lang="en-US" sz="950" dirty="0"/>
          </a:p>
        </p:txBody>
      </p:sp>
      <p:sp>
        <p:nvSpPr>
          <p:cNvPr id="47" name="Text 45"/>
          <p:cNvSpPr/>
          <p:nvPr/>
        </p:nvSpPr>
        <p:spPr>
          <a:xfrm>
            <a:off x="594360" y="5888736"/>
            <a:ext cx="3063240" cy="329184"/>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DataStage → Python builds, Teradata dual-write decoupling, Delta copy to Fabric</a:t>
            </a:r>
            <a:endParaRPr lang="en-US" sz="850" dirty="0"/>
          </a:p>
        </p:txBody>
      </p:sp>
      <p:sp>
        <p:nvSpPr>
          <p:cNvPr id="48" name="Shape 46"/>
          <p:cNvSpPr/>
          <p:nvPr/>
        </p:nvSpPr>
        <p:spPr>
          <a:xfrm>
            <a:off x="4306824" y="1847088"/>
            <a:ext cx="3346704" cy="676656"/>
          </a:xfrm>
          <a:prstGeom prst="rect">
            <a:avLst>
              <a:gd name="adj" fmla="val 8108"/>
            </a:avLst>
          </a:prstGeom>
          <a:solidFill>
            <a:srgbClr val="FFFFFF"/>
          </a:solidFill>
          <a:ln w="6350">
            <a:solidFill>
              <a:srgbClr val="A5F3FC"/>
            </a:solidFill>
            <a:prstDash val="solid"/>
          </a:ln>
        </p:spPr>
      </p:sp>
      <p:sp>
        <p:nvSpPr>
          <p:cNvPr id="49" name="Shape 47"/>
          <p:cNvSpPr/>
          <p:nvPr/>
        </p:nvSpPr>
        <p:spPr>
          <a:xfrm>
            <a:off x="4306824" y="1847088"/>
            <a:ext cx="54864" cy="676656"/>
          </a:xfrm>
          <a:prstGeom prst="rect">
            <a:avLst/>
          </a:prstGeom>
          <a:solidFill>
            <a:srgbClr val="0891B2"/>
          </a:solidFill>
          <a:ln w="12700">
            <a:solidFill>
              <a:srgbClr val="0891B2"/>
            </a:solidFill>
            <a:prstDash val="solid"/>
          </a:ln>
        </p:spPr>
      </p:sp>
      <p:sp>
        <p:nvSpPr>
          <p:cNvPr id="50" name="Text 48"/>
          <p:cNvSpPr/>
          <p:nvPr/>
        </p:nvSpPr>
        <p:spPr>
          <a:xfrm>
            <a:off x="4443984" y="1883664"/>
            <a:ext cx="3063240" cy="256032"/>
          </a:xfrm>
          <a:prstGeom prst="rect">
            <a:avLst/>
          </a:prstGeom>
          <a:noFill/>
          <a:ln/>
        </p:spPr>
        <p:txBody>
          <a:bodyPr wrap="square" lIns="0" tIns="0" rIns="0" bIns="0" rtlCol="0" anchor="ctr"/>
          <a:lstStyle/>
          <a:p>
            <a:pPr indent="0" marL="0">
              <a:buNone/>
            </a:pPr>
            <a:r>
              <a:rPr lang="en-US" sz="950" b="1" dirty="0">
                <a:solidFill>
                  <a:srgbClr val="065F46"/>
                </a:solidFill>
                <a:latin typeface="Arial" pitchFamily="34" charset="0"/>
                <a:ea typeface="Arial" pitchFamily="34" charset="-122"/>
                <a:cs typeface="Arial" pitchFamily="34" charset="-120"/>
              </a:rPr>
              <a:t>Policy authoring</a:t>
            </a:r>
            <a:endParaRPr lang="en-US" sz="950" dirty="0"/>
          </a:p>
        </p:txBody>
      </p:sp>
      <p:sp>
        <p:nvSpPr>
          <p:cNvPr id="51" name="Text 49"/>
          <p:cNvSpPr/>
          <p:nvPr/>
        </p:nvSpPr>
        <p:spPr>
          <a:xfrm>
            <a:off x="4443984" y="1883664"/>
            <a:ext cx="3063240" cy="256032"/>
          </a:xfrm>
          <a:prstGeom prst="rect">
            <a:avLst/>
          </a:prstGeom>
          <a:noFill/>
          <a:ln/>
        </p:spPr>
        <p:txBody>
          <a:bodyPr wrap="square" lIns="0" tIns="0" rIns="0" bIns="0" rtlCol="0" anchor="ctr"/>
          <a:lstStyle/>
          <a:p>
            <a:pPr indent="0" marL="0">
              <a:buNone/>
            </a:pPr>
            <a:r>
              <a:rPr lang="en-US" sz="950" b="1" dirty="0">
                <a:solidFill>
                  <a:srgbClr val="0E7490"/>
                </a:solidFill>
                <a:latin typeface="Arial" pitchFamily="34" charset="0"/>
                <a:ea typeface="Arial" pitchFamily="34" charset="-122"/>
                <a:cs typeface="Arial" pitchFamily="34" charset="-120"/>
              </a:rPr>
              <a:t>Policy authoring</a:t>
            </a:r>
            <a:endParaRPr lang="en-US" sz="950" dirty="0"/>
          </a:p>
        </p:txBody>
      </p:sp>
      <p:sp>
        <p:nvSpPr>
          <p:cNvPr id="52" name="Text 50"/>
          <p:cNvSpPr/>
          <p:nvPr/>
        </p:nvSpPr>
        <p:spPr>
          <a:xfrm>
            <a:off x="4443984" y="2139696"/>
            <a:ext cx="3063240" cy="329184"/>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Translate Teradata GRANTs → Ranger/Immuta policies; author column masks &amp; row filters</a:t>
            </a:r>
            <a:endParaRPr lang="en-US" sz="850" dirty="0"/>
          </a:p>
        </p:txBody>
      </p:sp>
      <p:sp>
        <p:nvSpPr>
          <p:cNvPr id="53" name="Shape 51"/>
          <p:cNvSpPr/>
          <p:nvPr/>
        </p:nvSpPr>
        <p:spPr>
          <a:xfrm>
            <a:off x="4306824" y="2596896"/>
            <a:ext cx="3346704" cy="676656"/>
          </a:xfrm>
          <a:prstGeom prst="rect">
            <a:avLst>
              <a:gd name="adj" fmla="val 8108"/>
            </a:avLst>
          </a:prstGeom>
          <a:solidFill>
            <a:srgbClr val="FFFFFF"/>
          </a:solidFill>
          <a:ln w="6350">
            <a:solidFill>
              <a:srgbClr val="A5F3FC"/>
            </a:solidFill>
            <a:prstDash val="solid"/>
          </a:ln>
        </p:spPr>
      </p:sp>
      <p:sp>
        <p:nvSpPr>
          <p:cNvPr id="54" name="Shape 52"/>
          <p:cNvSpPr/>
          <p:nvPr/>
        </p:nvSpPr>
        <p:spPr>
          <a:xfrm>
            <a:off x="4306824" y="2596896"/>
            <a:ext cx="54864" cy="676656"/>
          </a:xfrm>
          <a:prstGeom prst="rect">
            <a:avLst/>
          </a:prstGeom>
          <a:solidFill>
            <a:srgbClr val="0891B2"/>
          </a:solidFill>
          <a:ln w="12700">
            <a:solidFill>
              <a:srgbClr val="0891B2"/>
            </a:solidFill>
            <a:prstDash val="solid"/>
          </a:ln>
        </p:spPr>
      </p:sp>
      <p:sp>
        <p:nvSpPr>
          <p:cNvPr id="55" name="Text 53"/>
          <p:cNvSpPr/>
          <p:nvPr/>
        </p:nvSpPr>
        <p:spPr>
          <a:xfrm>
            <a:off x="4443984" y="2633472"/>
            <a:ext cx="3063240" cy="256032"/>
          </a:xfrm>
          <a:prstGeom prst="rect">
            <a:avLst/>
          </a:prstGeom>
          <a:noFill/>
          <a:ln/>
        </p:spPr>
        <p:txBody>
          <a:bodyPr wrap="square" lIns="0" tIns="0" rIns="0" bIns="0" rtlCol="0" anchor="ctr"/>
          <a:lstStyle/>
          <a:p>
            <a:pPr indent="0" marL="0">
              <a:buNone/>
            </a:pPr>
            <a:r>
              <a:rPr lang="en-US" sz="950" b="1" dirty="0">
                <a:solidFill>
                  <a:srgbClr val="065F46"/>
                </a:solidFill>
                <a:latin typeface="Arial" pitchFamily="34" charset="0"/>
                <a:ea typeface="Arial" pitchFamily="34" charset="-122"/>
                <a:cs typeface="Arial" pitchFamily="34" charset="-120"/>
              </a:rPr>
              <a:t>Business glossary</a:t>
            </a:r>
            <a:endParaRPr lang="en-US" sz="950" dirty="0"/>
          </a:p>
        </p:txBody>
      </p:sp>
      <p:sp>
        <p:nvSpPr>
          <p:cNvPr id="56" name="Text 54"/>
          <p:cNvSpPr/>
          <p:nvPr/>
        </p:nvSpPr>
        <p:spPr>
          <a:xfrm>
            <a:off x="4443984" y="2633472"/>
            <a:ext cx="3063240" cy="256032"/>
          </a:xfrm>
          <a:prstGeom prst="rect">
            <a:avLst/>
          </a:prstGeom>
          <a:noFill/>
          <a:ln/>
        </p:spPr>
        <p:txBody>
          <a:bodyPr wrap="square" lIns="0" tIns="0" rIns="0" bIns="0" rtlCol="0" anchor="ctr"/>
          <a:lstStyle/>
          <a:p>
            <a:pPr indent="0" marL="0">
              <a:buNone/>
            </a:pPr>
            <a:r>
              <a:rPr lang="en-US" sz="950" b="1" dirty="0">
                <a:solidFill>
                  <a:srgbClr val="0E7490"/>
                </a:solidFill>
                <a:latin typeface="Arial" pitchFamily="34" charset="0"/>
                <a:ea typeface="Arial" pitchFamily="34" charset="-122"/>
                <a:cs typeface="Arial" pitchFamily="34" charset="-120"/>
              </a:rPr>
              <a:t>Business glossary</a:t>
            </a:r>
            <a:endParaRPr lang="en-US" sz="950" dirty="0"/>
          </a:p>
        </p:txBody>
      </p:sp>
      <p:sp>
        <p:nvSpPr>
          <p:cNvPr id="57" name="Text 55"/>
          <p:cNvSpPr/>
          <p:nvPr/>
        </p:nvSpPr>
        <p:spPr>
          <a:xfrm>
            <a:off x="4443984" y="2889504"/>
            <a:ext cx="3063240" cy="329184"/>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Author and maintain canonical term definitions in OpenMetadata</a:t>
            </a:r>
            <a:endParaRPr lang="en-US" sz="850" dirty="0"/>
          </a:p>
        </p:txBody>
      </p:sp>
      <p:sp>
        <p:nvSpPr>
          <p:cNvPr id="58" name="Shape 56"/>
          <p:cNvSpPr/>
          <p:nvPr/>
        </p:nvSpPr>
        <p:spPr>
          <a:xfrm>
            <a:off x="4306824" y="3346704"/>
            <a:ext cx="3346704" cy="676656"/>
          </a:xfrm>
          <a:prstGeom prst="rect">
            <a:avLst>
              <a:gd name="adj" fmla="val 8108"/>
            </a:avLst>
          </a:prstGeom>
          <a:solidFill>
            <a:srgbClr val="FFFFFF"/>
          </a:solidFill>
          <a:ln w="6350">
            <a:solidFill>
              <a:srgbClr val="A5F3FC"/>
            </a:solidFill>
            <a:prstDash val="solid"/>
          </a:ln>
        </p:spPr>
      </p:sp>
      <p:sp>
        <p:nvSpPr>
          <p:cNvPr id="59" name="Shape 57"/>
          <p:cNvSpPr/>
          <p:nvPr/>
        </p:nvSpPr>
        <p:spPr>
          <a:xfrm>
            <a:off x="4306824" y="3346704"/>
            <a:ext cx="54864" cy="676656"/>
          </a:xfrm>
          <a:prstGeom prst="rect">
            <a:avLst/>
          </a:prstGeom>
          <a:solidFill>
            <a:srgbClr val="0891B2"/>
          </a:solidFill>
          <a:ln w="12700">
            <a:solidFill>
              <a:srgbClr val="0891B2"/>
            </a:solidFill>
            <a:prstDash val="solid"/>
          </a:ln>
        </p:spPr>
      </p:sp>
      <p:sp>
        <p:nvSpPr>
          <p:cNvPr id="60" name="Text 58"/>
          <p:cNvSpPr/>
          <p:nvPr/>
        </p:nvSpPr>
        <p:spPr>
          <a:xfrm>
            <a:off x="4443984" y="3383280"/>
            <a:ext cx="3063240" cy="256032"/>
          </a:xfrm>
          <a:prstGeom prst="rect">
            <a:avLst/>
          </a:prstGeom>
          <a:noFill/>
          <a:ln/>
        </p:spPr>
        <p:txBody>
          <a:bodyPr wrap="square" lIns="0" tIns="0" rIns="0" bIns="0" rtlCol="0" anchor="ctr"/>
          <a:lstStyle/>
          <a:p>
            <a:pPr indent="0" marL="0">
              <a:buNone/>
            </a:pPr>
            <a:r>
              <a:rPr lang="en-US" sz="950" b="1" dirty="0">
                <a:solidFill>
                  <a:srgbClr val="065F46"/>
                </a:solidFill>
                <a:latin typeface="Arial" pitchFamily="34" charset="0"/>
                <a:ea typeface="Arial" pitchFamily="34" charset="-122"/>
                <a:cs typeface="Arial" pitchFamily="34" charset="-120"/>
              </a:rPr>
              <a:t>Metadata &amp; lineage docs</a:t>
            </a:r>
            <a:endParaRPr lang="en-US" sz="950" dirty="0"/>
          </a:p>
        </p:txBody>
      </p:sp>
      <p:sp>
        <p:nvSpPr>
          <p:cNvPr id="61" name="Text 59"/>
          <p:cNvSpPr/>
          <p:nvPr/>
        </p:nvSpPr>
        <p:spPr>
          <a:xfrm>
            <a:off x="4443984" y="3383280"/>
            <a:ext cx="3063240" cy="256032"/>
          </a:xfrm>
          <a:prstGeom prst="rect">
            <a:avLst/>
          </a:prstGeom>
          <a:noFill/>
          <a:ln/>
        </p:spPr>
        <p:txBody>
          <a:bodyPr wrap="square" lIns="0" tIns="0" rIns="0" bIns="0" rtlCol="0" anchor="ctr"/>
          <a:lstStyle/>
          <a:p>
            <a:pPr indent="0" marL="0">
              <a:buNone/>
            </a:pPr>
            <a:r>
              <a:rPr lang="en-US" sz="950" b="1" dirty="0">
                <a:solidFill>
                  <a:srgbClr val="0E7490"/>
                </a:solidFill>
                <a:latin typeface="Arial" pitchFamily="34" charset="0"/>
                <a:ea typeface="Arial" pitchFamily="34" charset="-122"/>
                <a:cs typeface="Arial" pitchFamily="34" charset="-120"/>
              </a:rPr>
              <a:t>Metadata &amp; lineage docs</a:t>
            </a:r>
            <a:endParaRPr lang="en-US" sz="950" dirty="0"/>
          </a:p>
        </p:txBody>
      </p:sp>
      <p:sp>
        <p:nvSpPr>
          <p:cNvPr id="62" name="Text 60"/>
          <p:cNvSpPr/>
          <p:nvPr/>
        </p:nvSpPr>
        <p:spPr>
          <a:xfrm>
            <a:off x="4443984" y="3639312"/>
            <a:ext cx="3063240" cy="329184"/>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Table/column descriptions, BCBS 239 Principle documentation, lineage paths</a:t>
            </a:r>
            <a:endParaRPr lang="en-US" sz="850" dirty="0"/>
          </a:p>
        </p:txBody>
      </p:sp>
      <p:sp>
        <p:nvSpPr>
          <p:cNvPr id="63" name="Shape 61"/>
          <p:cNvSpPr/>
          <p:nvPr/>
        </p:nvSpPr>
        <p:spPr>
          <a:xfrm>
            <a:off x="4306824" y="4096512"/>
            <a:ext cx="3346704" cy="676656"/>
          </a:xfrm>
          <a:prstGeom prst="rect">
            <a:avLst>
              <a:gd name="adj" fmla="val 8108"/>
            </a:avLst>
          </a:prstGeom>
          <a:solidFill>
            <a:srgbClr val="FFFFFF"/>
          </a:solidFill>
          <a:ln w="6350">
            <a:solidFill>
              <a:srgbClr val="A5F3FC"/>
            </a:solidFill>
            <a:prstDash val="solid"/>
          </a:ln>
        </p:spPr>
      </p:sp>
      <p:sp>
        <p:nvSpPr>
          <p:cNvPr id="64" name="Shape 62"/>
          <p:cNvSpPr/>
          <p:nvPr/>
        </p:nvSpPr>
        <p:spPr>
          <a:xfrm>
            <a:off x="4306824" y="4096512"/>
            <a:ext cx="54864" cy="676656"/>
          </a:xfrm>
          <a:prstGeom prst="rect">
            <a:avLst/>
          </a:prstGeom>
          <a:solidFill>
            <a:srgbClr val="0891B2"/>
          </a:solidFill>
          <a:ln w="12700">
            <a:solidFill>
              <a:srgbClr val="0891B2"/>
            </a:solidFill>
            <a:prstDash val="solid"/>
          </a:ln>
        </p:spPr>
      </p:sp>
      <p:sp>
        <p:nvSpPr>
          <p:cNvPr id="65" name="Text 63"/>
          <p:cNvSpPr/>
          <p:nvPr/>
        </p:nvSpPr>
        <p:spPr>
          <a:xfrm>
            <a:off x="4443984" y="4133088"/>
            <a:ext cx="3063240" cy="256032"/>
          </a:xfrm>
          <a:prstGeom prst="rect">
            <a:avLst/>
          </a:prstGeom>
          <a:noFill/>
          <a:ln/>
        </p:spPr>
        <p:txBody>
          <a:bodyPr wrap="square" lIns="0" tIns="0" rIns="0" bIns="0" rtlCol="0" anchor="ctr"/>
          <a:lstStyle/>
          <a:p>
            <a:pPr indent="0" marL="0">
              <a:buNone/>
            </a:pPr>
            <a:r>
              <a:rPr lang="en-US" sz="950" b="1" dirty="0">
                <a:solidFill>
                  <a:srgbClr val="065F46"/>
                </a:solidFill>
                <a:latin typeface="Arial" pitchFamily="34" charset="0"/>
                <a:ea typeface="Arial" pitchFamily="34" charset="-122"/>
                <a:cs typeface="Arial" pitchFamily="34" charset="-120"/>
              </a:rPr>
              <a:t>OBIEE → Power BI migration</a:t>
            </a:r>
            <a:endParaRPr lang="en-US" sz="950" dirty="0"/>
          </a:p>
        </p:txBody>
      </p:sp>
      <p:sp>
        <p:nvSpPr>
          <p:cNvPr id="66" name="Text 64"/>
          <p:cNvSpPr/>
          <p:nvPr/>
        </p:nvSpPr>
        <p:spPr>
          <a:xfrm>
            <a:off x="4443984" y="4133088"/>
            <a:ext cx="3063240" cy="256032"/>
          </a:xfrm>
          <a:prstGeom prst="rect">
            <a:avLst/>
          </a:prstGeom>
          <a:noFill/>
          <a:ln/>
        </p:spPr>
        <p:txBody>
          <a:bodyPr wrap="square" lIns="0" tIns="0" rIns="0" bIns="0" rtlCol="0" anchor="ctr"/>
          <a:lstStyle/>
          <a:p>
            <a:pPr indent="0" marL="0">
              <a:buNone/>
            </a:pPr>
            <a:r>
              <a:rPr lang="en-US" sz="950" b="1" dirty="0">
                <a:solidFill>
                  <a:srgbClr val="0E7490"/>
                </a:solidFill>
                <a:latin typeface="Arial" pitchFamily="34" charset="0"/>
                <a:ea typeface="Arial" pitchFamily="34" charset="-122"/>
                <a:cs typeface="Arial" pitchFamily="34" charset="-120"/>
              </a:rPr>
              <a:t>OBIEE → Power BI migration</a:t>
            </a:r>
            <a:endParaRPr lang="en-US" sz="950" dirty="0"/>
          </a:p>
        </p:txBody>
      </p:sp>
      <p:sp>
        <p:nvSpPr>
          <p:cNvPr id="67" name="Text 65"/>
          <p:cNvSpPr/>
          <p:nvPr/>
        </p:nvSpPr>
        <p:spPr>
          <a:xfrm>
            <a:off x="4443984" y="4389120"/>
            <a:ext cx="3063240" cy="329184"/>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Manage 1,000+ report migration; DAX measure build; Fabric RLS rules; Verified Answers</a:t>
            </a:r>
            <a:endParaRPr lang="en-US" sz="850" dirty="0"/>
          </a:p>
        </p:txBody>
      </p:sp>
      <p:sp>
        <p:nvSpPr>
          <p:cNvPr id="68" name="Shape 66"/>
          <p:cNvSpPr/>
          <p:nvPr/>
        </p:nvSpPr>
        <p:spPr>
          <a:xfrm>
            <a:off x="4306824" y="4846320"/>
            <a:ext cx="3346704" cy="676656"/>
          </a:xfrm>
          <a:prstGeom prst="rect">
            <a:avLst>
              <a:gd name="adj" fmla="val 8108"/>
            </a:avLst>
          </a:prstGeom>
          <a:solidFill>
            <a:srgbClr val="FFFFFF"/>
          </a:solidFill>
          <a:ln w="6350">
            <a:solidFill>
              <a:srgbClr val="A5F3FC"/>
            </a:solidFill>
            <a:prstDash val="solid"/>
          </a:ln>
        </p:spPr>
      </p:sp>
      <p:sp>
        <p:nvSpPr>
          <p:cNvPr id="69" name="Shape 67"/>
          <p:cNvSpPr/>
          <p:nvPr/>
        </p:nvSpPr>
        <p:spPr>
          <a:xfrm>
            <a:off x="4306824" y="4846320"/>
            <a:ext cx="54864" cy="676656"/>
          </a:xfrm>
          <a:prstGeom prst="rect">
            <a:avLst/>
          </a:prstGeom>
          <a:solidFill>
            <a:srgbClr val="0891B2"/>
          </a:solidFill>
          <a:ln w="12700">
            <a:solidFill>
              <a:srgbClr val="0891B2"/>
            </a:solidFill>
            <a:prstDash val="solid"/>
          </a:ln>
        </p:spPr>
      </p:sp>
      <p:sp>
        <p:nvSpPr>
          <p:cNvPr id="70" name="Text 68"/>
          <p:cNvSpPr/>
          <p:nvPr/>
        </p:nvSpPr>
        <p:spPr>
          <a:xfrm>
            <a:off x="4443984" y="4882896"/>
            <a:ext cx="3063240" cy="256032"/>
          </a:xfrm>
          <a:prstGeom prst="rect">
            <a:avLst/>
          </a:prstGeom>
          <a:noFill/>
          <a:ln/>
        </p:spPr>
        <p:txBody>
          <a:bodyPr wrap="square" lIns="0" tIns="0" rIns="0" bIns="0" rtlCol="0" anchor="ctr"/>
          <a:lstStyle/>
          <a:p>
            <a:pPr indent="0" marL="0">
              <a:buNone/>
            </a:pPr>
            <a:r>
              <a:rPr lang="en-US" sz="950" b="1" dirty="0">
                <a:solidFill>
                  <a:srgbClr val="065F46"/>
                </a:solidFill>
                <a:latin typeface="Arial" pitchFamily="34" charset="0"/>
                <a:ea typeface="Arial" pitchFamily="34" charset="-122"/>
                <a:cs typeface="Arial" pitchFamily="34" charset="-120"/>
              </a:rPr>
              <a:t>Data quality governance</a:t>
            </a:r>
            <a:endParaRPr lang="en-US" sz="950" dirty="0"/>
          </a:p>
        </p:txBody>
      </p:sp>
      <p:sp>
        <p:nvSpPr>
          <p:cNvPr id="71" name="Text 69"/>
          <p:cNvSpPr/>
          <p:nvPr/>
        </p:nvSpPr>
        <p:spPr>
          <a:xfrm>
            <a:off x="4443984" y="4882896"/>
            <a:ext cx="3063240" cy="256032"/>
          </a:xfrm>
          <a:prstGeom prst="rect">
            <a:avLst/>
          </a:prstGeom>
          <a:noFill/>
          <a:ln/>
        </p:spPr>
        <p:txBody>
          <a:bodyPr wrap="square" lIns="0" tIns="0" rIns="0" bIns="0" rtlCol="0" anchor="ctr"/>
          <a:lstStyle/>
          <a:p>
            <a:pPr indent="0" marL="0">
              <a:buNone/>
            </a:pPr>
            <a:r>
              <a:rPr lang="en-US" sz="950" b="1" dirty="0">
                <a:solidFill>
                  <a:srgbClr val="0E7490"/>
                </a:solidFill>
                <a:latin typeface="Arial" pitchFamily="34" charset="0"/>
                <a:ea typeface="Arial" pitchFamily="34" charset="-122"/>
                <a:cs typeface="Arial" pitchFamily="34" charset="-120"/>
              </a:rPr>
              <a:t>Data quality governance</a:t>
            </a:r>
            <a:endParaRPr lang="en-US" sz="950" dirty="0"/>
          </a:p>
        </p:txBody>
      </p:sp>
      <p:sp>
        <p:nvSpPr>
          <p:cNvPr id="72" name="Text 70"/>
          <p:cNvSpPr/>
          <p:nvPr/>
        </p:nvSpPr>
        <p:spPr>
          <a:xfrm>
            <a:off x="4443984" y="5138928"/>
            <a:ext cx="3063240" cy="329184"/>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Define Soda check rules, thresholds, and quality SLA dashboards</a:t>
            </a:r>
            <a:endParaRPr lang="en-US" sz="850" dirty="0"/>
          </a:p>
        </p:txBody>
      </p:sp>
      <p:sp>
        <p:nvSpPr>
          <p:cNvPr id="73" name="Shape 71"/>
          <p:cNvSpPr/>
          <p:nvPr/>
        </p:nvSpPr>
        <p:spPr>
          <a:xfrm>
            <a:off x="4306824" y="5596128"/>
            <a:ext cx="3346704" cy="676656"/>
          </a:xfrm>
          <a:prstGeom prst="rect">
            <a:avLst>
              <a:gd name="adj" fmla="val 8108"/>
            </a:avLst>
          </a:prstGeom>
          <a:solidFill>
            <a:srgbClr val="FFFFFF"/>
          </a:solidFill>
          <a:ln w="6350">
            <a:solidFill>
              <a:srgbClr val="A5F3FC"/>
            </a:solidFill>
            <a:prstDash val="solid"/>
          </a:ln>
        </p:spPr>
      </p:sp>
      <p:sp>
        <p:nvSpPr>
          <p:cNvPr id="74" name="Shape 72"/>
          <p:cNvSpPr/>
          <p:nvPr/>
        </p:nvSpPr>
        <p:spPr>
          <a:xfrm>
            <a:off x="4306824" y="5596128"/>
            <a:ext cx="54864" cy="676656"/>
          </a:xfrm>
          <a:prstGeom prst="rect">
            <a:avLst/>
          </a:prstGeom>
          <a:solidFill>
            <a:srgbClr val="0891B2"/>
          </a:solidFill>
          <a:ln w="12700">
            <a:solidFill>
              <a:srgbClr val="0891B2"/>
            </a:solidFill>
            <a:prstDash val="solid"/>
          </a:ln>
        </p:spPr>
      </p:sp>
      <p:sp>
        <p:nvSpPr>
          <p:cNvPr id="75" name="Text 73"/>
          <p:cNvSpPr/>
          <p:nvPr/>
        </p:nvSpPr>
        <p:spPr>
          <a:xfrm>
            <a:off x="4443984" y="5632704"/>
            <a:ext cx="3063240" cy="256032"/>
          </a:xfrm>
          <a:prstGeom prst="rect">
            <a:avLst/>
          </a:prstGeom>
          <a:noFill/>
          <a:ln/>
        </p:spPr>
        <p:txBody>
          <a:bodyPr wrap="square" lIns="0" tIns="0" rIns="0" bIns="0" rtlCol="0" anchor="ctr"/>
          <a:lstStyle/>
          <a:p>
            <a:pPr indent="0" marL="0">
              <a:buNone/>
            </a:pPr>
            <a:r>
              <a:rPr lang="en-US" sz="950" b="1" dirty="0">
                <a:solidFill>
                  <a:srgbClr val="065F46"/>
                </a:solidFill>
                <a:latin typeface="Arial" pitchFamily="34" charset="0"/>
                <a:ea typeface="Arial" pitchFamily="34" charset="-122"/>
                <a:cs typeface="Arial" pitchFamily="34" charset="-120"/>
              </a:rPr>
              <a:t>Compliance documentation</a:t>
            </a:r>
            <a:endParaRPr lang="en-US" sz="950" dirty="0"/>
          </a:p>
        </p:txBody>
      </p:sp>
      <p:sp>
        <p:nvSpPr>
          <p:cNvPr id="76" name="Text 74"/>
          <p:cNvSpPr/>
          <p:nvPr/>
        </p:nvSpPr>
        <p:spPr>
          <a:xfrm>
            <a:off x="4443984" y="5632704"/>
            <a:ext cx="3063240" cy="256032"/>
          </a:xfrm>
          <a:prstGeom prst="rect">
            <a:avLst/>
          </a:prstGeom>
          <a:noFill/>
          <a:ln/>
        </p:spPr>
        <p:txBody>
          <a:bodyPr wrap="square" lIns="0" tIns="0" rIns="0" bIns="0" rtlCol="0" anchor="ctr"/>
          <a:lstStyle/>
          <a:p>
            <a:pPr indent="0" marL="0">
              <a:buNone/>
            </a:pPr>
            <a:r>
              <a:rPr lang="en-US" sz="950" b="1" dirty="0">
                <a:solidFill>
                  <a:srgbClr val="0E7490"/>
                </a:solidFill>
                <a:latin typeface="Arial" pitchFamily="34" charset="0"/>
                <a:ea typeface="Arial" pitchFamily="34" charset="-122"/>
                <a:cs typeface="Arial" pitchFamily="34" charset="-120"/>
              </a:rPr>
              <a:t>Compliance documentation</a:t>
            </a:r>
            <a:endParaRPr lang="en-US" sz="950" dirty="0"/>
          </a:p>
        </p:txBody>
      </p:sp>
      <p:sp>
        <p:nvSpPr>
          <p:cNvPr id="77" name="Text 75"/>
          <p:cNvSpPr/>
          <p:nvPr/>
        </p:nvSpPr>
        <p:spPr>
          <a:xfrm>
            <a:off x="4443984" y="5888736"/>
            <a:ext cx="3063240" cy="329184"/>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BCBS 239 principle mapping; OSFI B-10 third-party risk assessments</a:t>
            </a:r>
            <a:endParaRPr lang="en-US" sz="850" dirty="0"/>
          </a:p>
        </p:txBody>
      </p:sp>
      <p:sp>
        <p:nvSpPr>
          <p:cNvPr id="78" name="Shape 76"/>
          <p:cNvSpPr/>
          <p:nvPr/>
        </p:nvSpPr>
        <p:spPr>
          <a:xfrm>
            <a:off x="8156448" y="1847088"/>
            <a:ext cx="3346704" cy="676656"/>
          </a:xfrm>
          <a:prstGeom prst="rect">
            <a:avLst>
              <a:gd name="adj" fmla="val 8108"/>
            </a:avLst>
          </a:prstGeom>
          <a:solidFill>
            <a:srgbClr val="FFFFFF"/>
          </a:solidFill>
          <a:ln w="6350">
            <a:solidFill>
              <a:srgbClr val="A7F3D0"/>
            </a:solidFill>
            <a:prstDash val="solid"/>
          </a:ln>
        </p:spPr>
      </p:sp>
      <p:sp>
        <p:nvSpPr>
          <p:cNvPr id="79" name="Shape 77"/>
          <p:cNvSpPr/>
          <p:nvPr/>
        </p:nvSpPr>
        <p:spPr>
          <a:xfrm>
            <a:off x="8156448" y="1847088"/>
            <a:ext cx="54864" cy="676656"/>
          </a:xfrm>
          <a:prstGeom prst="rect">
            <a:avLst/>
          </a:prstGeom>
          <a:solidFill>
            <a:srgbClr val="059669"/>
          </a:solidFill>
          <a:ln w="12700">
            <a:solidFill>
              <a:srgbClr val="059669"/>
            </a:solidFill>
            <a:prstDash val="solid"/>
          </a:ln>
        </p:spPr>
      </p:sp>
      <p:sp>
        <p:nvSpPr>
          <p:cNvPr id="80" name="Text 78"/>
          <p:cNvSpPr/>
          <p:nvPr/>
        </p:nvSpPr>
        <p:spPr>
          <a:xfrm>
            <a:off x="8293608" y="1883664"/>
            <a:ext cx="3063240" cy="256032"/>
          </a:xfrm>
          <a:prstGeom prst="rect">
            <a:avLst/>
          </a:prstGeom>
          <a:noFill/>
          <a:ln/>
        </p:spPr>
        <p:txBody>
          <a:bodyPr wrap="square" lIns="0" tIns="0" rIns="0" bIns="0" rtlCol="0" anchor="ctr"/>
          <a:lstStyle/>
          <a:p>
            <a:pPr indent="0" marL="0">
              <a:buNone/>
            </a:pPr>
            <a:r>
              <a:rPr lang="en-US" sz="950" b="1" dirty="0">
                <a:solidFill>
                  <a:srgbClr val="059669"/>
                </a:solidFill>
                <a:latin typeface="Arial" pitchFamily="34" charset="0"/>
                <a:ea typeface="Arial" pitchFamily="34" charset="-122"/>
                <a:cs typeface="Arial" pitchFamily="34" charset="-120"/>
              </a:rPr>
              <a:t>Metric definitions</a:t>
            </a:r>
            <a:endParaRPr lang="en-US" sz="950" dirty="0"/>
          </a:p>
        </p:txBody>
      </p:sp>
      <p:sp>
        <p:nvSpPr>
          <p:cNvPr id="81" name="Text 79"/>
          <p:cNvSpPr/>
          <p:nvPr/>
        </p:nvSpPr>
        <p:spPr>
          <a:xfrm>
            <a:off x="8293608" y="2139696"/>
            <a:ext cx="3063240" cy="329184"/>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Approve the precise logic for every certified KPI (NII, VaR 95/99, LCR Ratio, etc.)</a:t>
            </a:r>
            <a:endParaRPr lang="en-US" sz="850" dirty="0"/>
          </a:p>
        </p:txBody>
      </p:sp>
      <p:sp>
        <p:nvSpPr>
          <p:cNvPr id="82" name="Shape 80"/>
          <p:cNvSpPr/>
          <p:nvPr/>
        </p:nvSpPr>
        <p:spPr>
          <a:xfrm>
            <a:off x="8156448" y="2596896"/>
            <a:ext cx="3346704" cy="676656"/>
          </a:xfrm>
          <a:prstGeom prst="rect">
            <a:avLst>
              <a:gd name="adj" fmla="val 8108"/>
            </a:avLst>
          </a:prstGeom>
          <a:solidFill>
            <a:srgbClr val="FFFFFF"/>
          </a:solidFill>
          <a:ln w="6350">
            <a:solidFill>
              <a:srgbClr val="A7F3D0"/>
            </a:solidFill>
            <a:prstDash val="solid"/>
          </a:ln>
        </p:spPr>
      </p:sp>
      <p:sp>
        <p:nvSpPr>
          <p:cNvPr id="83" name="Shape 81"/>
          <p:cNvSpPr/>
          <p:nvPr/>
        </p:nvSpPr>
        <p:spPr>
          <a:xfrm>
            <a:off x="8156448" y="2596896"/>
            <a:ext cx="54864" cy="676656"/>
          </a:xfrm>
          <a:prstGeom prst="rect">
            <a:avLst/>
          </a:prstGeom>
          <a:solidFill>
            <a:srgbClr val="059669"/>
          </a:solidFill>
          <a:ln w="12700">
            <a:solidFill>
              <a:srgbClr val="059669"/>
            </a:solidFill>
            <a:prstDash val="solid"/>
          </a:ln>
        </p:spPr>
      </p:sp>
      <p:sp>
        <p:nvSpPr>
          <p:cNvPr id="84" name="Text 82"/>
          <p:cNvSpPr/>
          <p:nvPr/>
        </p:nvSpPr>
        <p:spPr>
          <a:xfrm>
            <a:off x="8293608" y="2633472"/>
            <a:ext cx="3063240" cy="256032"/>
          </a:xfrm>
          <a:prstGeom prst="rect">
            <a:avLst/>
          </a:prstGeom>
          <a:noFill/>
          <a:ln/>
        </p:spPr>
        <p:txBody>
          <a:bodyPr wrap="square" lIns="0" tIns="0" rIns="0" bIns="0" rtlCol="0" anchor="ctr"/>
          <a:lstStyle/>
          <a:p>
            <a:pPr indent="0" marL="0">
              <a:buNone/>
            </a:pPr>
            <a:r>
              <a:rPr lang="en-US" sz="950" b="1" dirty="0">
                <a:solidFill>
                  <a:srgbClr val="059669"/>
                </a:solidFill>
                <a:latin typeface="Arial" pitchFamily="34" charset="0"/>
                <a:ea typeface="Arial" pitchFamily="34" charset="-122"/>
                <a:cs typeface="Arial" pitchFamily="34" charset="-120"/>
              </a:rPr>
              <a:t>Data access governance</a:t>
            </a:r>
            <a:endParaRPr lang="en-US" sz="950" dirty="0"/>
          </a:p>
        </p:txBody>
      </p:sp>
      <p:sp>
        <p:nvSpPr>
          <p:cNvPr id="85" name="Text 83"/>
          <p:cNvSpPr/>
          <p:nvPr/>
        </p:nvSpPr>
        <p:spPr>
          <a:xfrm>
            <a:off x="8293608" y="2889504"/>
            <a:ext cx="3063240" cy="329184"/>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Determine which AD groups need access to which domain data — owns the request</a:t>
            </a:r>
            <a:endParaRPr lang="en-US" sz="850" dirty="0"/>
          </a:p>
        </p:txBody>
      </p:sp>
      <p:sp>
        <p:nvSpPr>
          <p:cNvPr id="86" name="Shape 84"/>
          <p:cNvSpPr/>
          <p:nvPr/>
        </p:nvSpPr>
        <p:spPr>
          <a:xfrm>
            <a:off x="8156448" y="3346704"/>
            <a:ext cx="3346704" cy="676656"/>
          </a:xfrm>
          <a:prstGeom prst="rect">
            <a:avLst>
              <a:gd name="adj" fmla="val 8108"/>
            </a:avLst>
          </a:prstGeom>
          <a:solidFill>
            <a:srgbClr val="FFFFFF"/>
          </a:solidFill>
          <a:ln w="6350">
            <a:solidFill>
              <a:srgbClr val="A7F3D0"/>
            </a:solidFill>
            <a:prstDash val="solid"/>
          </a:ln>
        </p:spPr>
      </p:sp>
      <p:sp>
        <p:nvSpPr>
          <p:cNvPr id="87" name="Shape 85"/>
          <p:cNvSpPr/>
          <p:nvPr/>
        </p:nvSpPr>
        <p:spPr>
          <a:xfrm>
            <a:off x="8156448" y="3346704"/>
            <a:ext cx="54864" cy="676656"/>
          </a:xfrm>
          <a:prstGeom prst="rect">
            <a:avLst/>
          </a:prstGeom>
          <a:solidFill>
            <a:srgbClr val="059669"/>
          </a:solidFill>
          <a:ln w="12700">
            <a:solidFill>
              <a:srgbClr val="059669"/>
            </a:solidFill>
            <a:prstDash val="solid"/>
          </a:ln>
        </p:spPr>
      </p:sp>
      <p:sp>
        <p:nvSpPr>
          <p:cNvPr id="88" name="Text 86"/>
          <p:cNvSpPr/>
          <p:nvPr/>
        </p:nvSpPr>
        <p:spPr>
          <a:xfrm>
            <a:off x="8293608" y="3383280"/>
            <a:ext cx="3063240" cy="256032"/>
          </a:xfrm>
          <a:prstGeom prst="rect">
            <a:avLst/>
          </a:prstGeom>
          <a:noFill/>
          <a:ln/>
        </p:spPr>
        <p:txBody>
          <a:bodyPr wrap="square" lIns="0" tIns="0" rIns="0" bIns="0" rtlCol="0" anchor="ctr"/>
          <a:lstStyle/>
          <a:p>
            <a:pPr indent="0" marL="0">
              <a:buNone/>
            </a:pPr>
            <a:r>
              <a:rPr lang="en-US" sz="950" b="1" dirty="0">
                <a:solidFill>
                  <a:srgbClr val="059669"/>
                </a:solidFill>
                <a:latin typeface="Arial" pitchFamily="34" charset="0"/>
                <a:ea typeface="Arial" pitchFamily="34" charset="-122"/>
                <a:cs typeface="Arial" pitchFamily="34" charset="-120"/>
              </a:rPr>
              <a:t>UAT sign-off</a:t>
            </a:r>
            <a:endParaRPr lang="en-US" sz="950" dirty="0"/>
          </a:p>
        </p:txBody>
      </p:sp>
      <p:sp>
        <p:nvSpPr>
          <p:cNvPr id="89" name="Text 87"/>
          <p:cNvSpPr/>
          <p:nvPr/>
        </p:nvSpPr>
        <p:spPr>
          <a:xfrm>
            <a:off x="8293608" y="3639312"/>
            <a:ext cx="3063240" cy="329184"/>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Validate data parity for all pipeline and report migrations before production cutover</a:t>
            </a:r>
            <a:endParaRPr lang="en-US" sz="850" dirty="0"/>
          </a:p>
        </p:txBody>
      </p:sp>
      <p:sp>
        <p:nvSpPr>
          <p:cNvPr id="90" name="Shape 88"/>
          <p:cNvSpPr/>
          <p:nvPr/>
        </p:nvSpPr>
        <p:spPr>
          <a:xfrm>
            <a:off x="8156448" y="4096512"/>
            <a:ext cx="3346704" cy="676656"/>
          </a:xfrm>
          <a:prstGeom prst="rect">
            <a:avLst>
              <a:gd name="adj" fmla="val 8108"/>
            </a:avLst>
          </a:prstGeom>
          <a:solidFill>
            <a:srgbClr val="FFFFFF"/>
          </a:solidFill>
          <a:ln w="6350">
            <a:solidFill>
              <a:srgbClr val="A7F3D0"/>
            </a:solidFill>
            <a:prstDash val="solid"/>
          </a:ln>
        </p:spPr>
      </p:sp>
      <p:sp>
        <p:nvSpPr>
          <p:cNvPr id="91" name="Shape 89"/>
          <p:cNvSpPr/>
          <p:nvPr/>
        </p:nvSpPr>
        <p:spPr>
          <a:xfrm>
            <a:off x="8156448" y="4096512"/>
            <a:ext cx="54864" cy="676656"/>
          </a:xfrm>
          <a:prstGeom prst="rect">
            <a:avLst/>
          </a:prstGeom>
          <a:solidFill>
            <a:srgbClr val="059669"/>
          </a:solidFill>
          <a:ln w="12700">
            <a:solidFill>
              <a:srgbClr val="059669"/>
            </a:solidFill>
            <a:prstDash val="solid"/>
          </a:ln>
        </p:spPr>
      </p:sp>
      <p:sp>
        <p:nvSpPr>
          <p:cNvPr id="92" name="Text 90"/>
          <p:cNvSpPr/>
          <p:nvPr/>
        </p:nvSpPr>
        <p:spPr>
          <a:xfrm>
            <a:off x="8293608" y="4133088"/>
            <a:ext cx="3063240" cy="256032"/>
          </a:xfrm>
          <a:prstGeom prst="rect">
            <a:avLst/>
          </a:prstGeom>
          <a:noFill/>
          <a:ln/>
        </p:spPr>
        <p:txBody>
          <a:bodyPr wrap="square" lIns="0" tIns="0" rIns="0" bIns="0" rtlCol="0" anchor="ctr"/>
          <a:lstStyle/>
          <a:p>
            <a:pPr indent="0" marL="0">
              <a:buNone/>
            </a:pPr>
            <a:r>
              <a:rPr lang="en-US" sz="950" b="1" dirty="0">
                <a:solidFill>
                  <a:srgbClr val="059669"/>
                </a:solidFill>
                <a:latin typeface="Arial" pitchFamily="34" charset="0"/>
                <a:ea typeface="Arial" pitchFamily="34" charset="-122"/>
                <a:cs typeface="Arial" pitchFamily="34" charset="-120"/>
              </a:rPr>
              <a:t>Domain data stewardship</a:t>
            </a:r>
            <a:endParaRPr lang="en-US" sz="950" dirty="0"/>
          </a:p>
        </p:txBody>
      </p:sp>
      <p:sp>
        <p:nvSpPr>
          <p:cNvPr id="93" name="Text 91"/>
          <p:cNvSpPr/>
          <p:nvPr/>
        </p:nvSpPr>
        <p:spPr>
          <a:xfrm>
            <a:off x="8293608" y="4389120"/>
            <a:ext cx="3063240" cy="329184"/>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Approve glossary terms and declare ownership of each Gold domain mart</a:t>
            </a:r>
            <a:endParaRPr lang="en-US" sz="850" dirty="0"/>
          </a:p>
        </p:txBody>
      </p:sp>
      <p:sp>
        <p:nvSpPr>
          <p:cNvPr id="94" name="Shape 92"/>
          <p:cNvSpPr/>
          <p:nvPr/>
        </p:nvSpPr>
        <p:spPr>
          <a:xfrm>
            <a:off x="8156448" y="4846320"/>
            <a:ext cx="3346704" cy="676656"/>
          </a:xfrm>
          <a:prstGeom prst="rect">
            <a:avLst>
              <a:gd name="adj" fmla="val 8108"/>
            </a:avLst>
          </a:prstGeom>
          <a:solidFill>
            <a:srgbClr val="FFFFFF"/>
          </a:solidFill>
          <a:ln w="6350">
            <a:solidFill>
              <a:srgbClr val="A7F3D0"/>
            </a:solidFill>
            <a:prstDash val="solid"/>
          </a:ln>
        </p:spPr>
      </p:sp>
      <p:sp>
        <p:nvSpPr>
          <p:cNvPr id="95" name="Shape 93"/>
          <p:cNvSpPr/>
          <p:nvPr/>
        </p:nvSpPr>
        <p:spPr>
          <a:xfrm>
            <a:off x="8156448" y="4846320"/>
            <a:ext cx="54864" cy="676656"/>
          </a:xfrm>
          <a:prstGeom prst="rect">
            <a:avLst/>
          </a:prstGeom>
          <a:solidFill>
            <a:srgbClr val="059669"/>
          </a:solidFill>
          <a:ln w="12700">
            <a:solidFill>
              <a:srgbClr val="059669"/>
            </a:solidFill>
            <a:prstDash val="solid"/>
          </a:ln>
        </p:spPr>
      </p:sp>
      <p:sp>
        <p:nvSpPr>
          <p:cNvPr id="96" name="Text 94"/>
          <p:cNvSpPr/>
          <p:nvPr/>
        </p:nvSpPr>
        <p:spPr>
          <a:xfrm>
            <a:off x="8293608" y="4882896"/>
            <a:ext cx="3063240" cy="256032"/>
          </a:xfrm>
          <a:prstGeom prst="rect">
            <a:avLst/>
          </a:prstGeom>
          <a:noFill/>
          <a:ln/>
        </p:spPr>
        <p:txBody>
          <a:bodyPr wrap="square" lIns="0" tIns="0" rIns="0" bIns="0" rtlCol="0" anchor="ctr"/>
          <a:lstStyle/>
          <a:p>
            <a:pPr indent="0" marL="0">
              <a:buNone/>
            </a:pPr>
            <a:r>
              <a:rPr lang="en-US" sz="950" b="1" dirty="0">
                <a:solidFill>
                  <a:srgbClr val="059669"/>
                </a:solidFill>
                <a:latin typeface="Arial" pitchFamily="34" charset="0"/>
                <a:ea typeface="Arial" pitchFamily="34" charset="-122"/>
                <a:cs typeface="Arial" pitchFamily="34" charset="-120"/>
              </a:rPr>
              <a:t>Source system issues</a:t>
            </a:r>
            <a:endParaRPr lang="en-US" sz="950" dirty="0"/>
          </a:p>
        </p:txBody>
      </p:sp>
      <p:sp>
        <p:nvSpPr>
          <p:cNvPr id="97" name="Text 95"/>
          <p:cNvSpPr/>
          <p:nvPr/>
        </p:nvSpPr>
        <p:spPr>
          <a:xfrm>
            <a:off x="8293608" y="5138928"/>
            <a:ext cx="3063240" cy="329184"/>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Root-cause analysis and remediation for quality failures originating in source systems</a:t>
            </a:r>
            <a:endParaRPr lang="en-US" sz="850" dirty="0"/>
          </a:p>
        </p:txBody>
      </p:sp>
      <p:sp>
        <p:nvSpPr>
          <p:cNvPr id="98" name="Shape 96"/>
          <p:cNvSpPr/>
          <p:nvPr/>
        </p:nvSpPr>
        <p:spPr>
          <a:xfrm>
            <a:off x="8156448" y="5596128"/>
            <a:ext cx="3346704" cy="676656"/>
          </a:xfrm>
          <a:prstGeom prst="rect">
            <a:avLst>
              <a:gd name="adj" fmla="val 8108"/>
            </a:avLst>
          </a:prstGeom>
          <a:solidFill>
            <a:srgbClr val="FFFFFF"/>
          </a:solidFill>
          <a:ln w="6350">
            <a:solidFill>
              <a:srgbClr val="A7F3D0"/>
            </a:solidFill>
            <a:prstDash val="solid"/>
          </a:ln>
        </p:spPr>
      </p:sp>
      <p:sp>
        <p:nvSpPr>
          <p:cNvPr id="99" name="Shape 97"/>
          <p:cNvSpPr/>
          <p:nvPr/>
        </p:nvSpPr>
        <p:spPr>
          <a:xfrm>
            <a:off x="8156448" y="5596128"/>
            <a:ext cx="54864" cy="676656"/>
          </a:xfrm>
          <a:prstGeom prst="rect">
            <a:avLst/>
          </a:prstGeom>
          <a:solidFill>
            <a:srgbClr val="059669"/>
          </a:solidFill>
          <a:ln w="12700">
            <a:solidFill>
              <a:srgbClr val="059669"/>
            </a:solidFill>
            <a:prstDash val="solid"/>
          </a:ln>
        </p:spPr>
      </p:sp>
      <p:sp>
        <p:nvSpPr>
          <p:cNvPr id="100" name="Text 98"/>
          <p:cNvSpPr/>
          <p:nvPr/>
        </p:nvSpPr>
        <p:spPr>
          <a:xfrm>
            <a:off x="8293608" y="5632704"/>
            <a:ext cx="3063240" cy="256032"/>
          </a:xfrm>
          <a:prstGeom prst="rect">
            <a:avLst/>
          </a:prstGeom>
          <a:noFill/>
          <a:ln/>
        </p:spPr>
        <p:txBody>
          <a:bodyPr wrap="square" lIns="0" tIns="0" rIns="0" bIns="0" rtlCol="0" anchor="ctr"/>
          <a:lstStyle/>
          <a:p>
            <a:pPr indent="0" marL="0">
              <a:buNone/>
            </a:pPr>
            <a:r>
              <a:rPr lang="en-US" sz="950" b="1" dirty="0">
                <a:solidFill>
                  <a:srgbClr val="059669"/>
                </a:solidFill>
                <a:latin typeface="Arial" pitchFamily="34" charset="0"/>
                <a:ea typeface="Arial" pitchFamily="34" charset="-122"/>
                <a:cs typeface="Arial" pitchFamily="34" charset="-120"/>
              </a:rPr>
              <a:t>Regulatory validation</a:t>
            </a:r>
            <a:endParaRPr lang="en-US" sz="950" dirty="0"/>
          </a:p>
        </p:txBody>
      </p:sp>
      <p:sp>
        <p:nvSpPr>
          <p:cNvPr id="101" name="Text 99"/>
          <p:cNvSpPr/>
          <p:nvPr/>
        </p:nvSpPr>
        <p:spPr>
          <a:xfrm>
            <a:off x="8293608" y="5888736"/>
            <a:ext cx="3063240" cy="329184"/>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Confirm that platform outputs meet regulatory submission requirements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F3F4FB"/>
          </a:solidFill>
          <a:ln w="12700">
            <a:solidFill>
              <a:srgbClr val="F3F4FB"/>
            </a:solidFill>
            <a:prstDash val="solid"/>
          </a:ln>
        </p:spPr>
      </p:sp>
      <p:sp>
        <p:nvSpPr>
          <p:cNvPr id="3" name="Text 1"/>
          <p:cNvSpPr/>
          <p:nvPr/>
        </p:nvSpPr>
        <p:spPr>
          <a:xfrm>
            <a:off x="274320" y="36576"/>
            <a:ext cx="5486400" cy="164592"/>
          </a:xfrm>
          <a:prstGeom prst="rect">
            <a:avLst/>
          </a:prstGeom>
          <a:noFill/>
          <a:ln/>
        </p:spPr>
        <p:txBody>
          <a:bodyPr wrap="square" rtlCol="0" anchor="ctr"/>
          <a:lstStyle/>
          <a:p>
            <a:pPr indent="0" marL="0">
              <a:buNone/>
            </a:pPr>
            <a:r>
              <a:rPr lang="en-US" sz="700" dirty="0">
                <a:solidFill>
                  <a:srgbClr val="87AFBF"/>
                </a:solidFill>
                <a:latin typeface="Arial" pitchFamily="34" charset="0"/>
                <a:ea typeface="Arial" pitchFamily="34" charset="-122"/>
                <a:cs typeface="Arial" pitchFamily="34" charset="-120"/>
              </a:rPr>
              <a:t>Confidential — Internal Use Only</a:t>
            </a:r>
            <a:endParaRPr lang="en-US" sz="700" dirty="0"/>
          </a:p>
        </p:txBody>
      </p:sp>
      <p:sp>
        <p:nvSpPr>
          <p:cNvPr id="4" name="Text 2"/>
          <p:cNvSpPr/>
          <p:nvPr/>
        </p:nvSpPr>
        <p:spPr>
          <a:xfrm>
            <a:off x="8778240" y="36576"/>
            <a:ext cx="3200400" cy="164592"/>
          </a:xfrm>
          <a:prstGeom prst="rect">
            <a:avLst/>
          </a:prstGeom>
          <a:noFill/>
          <a:ln/>
        </p:spPr>
        <p:txBody>
          <a:bodyPr wrap="square" rtlCol="0" anchor="ctr"/>
          <a:lstStyle/>
          <a:p>
            <a:pPr algn="r" indent="0" marL="0">
              <a:buNone/>
            </a:pPr>
            <a:r>
              <a:rPr lang="en-US" sz="700" dirty="0">
                <a:solidFill>
                  <a:srgbClr val="87AFBF"/>
                </a:solidFill>
                <a:latin typeface="Arial" pitchFamily="34" charset="0"/>
                <a:ea typeface="Arial" pitchFamily="34" charset="-122"/>
                <a:cs typeface="Arial" pitchFamily="34" charset="-120"/>
              </a:rPr>
              <a:t>Lumina · RBC Enterprise Data</a:t>
            </a:r>
            <a:endParaRPr lang="en-US" sz="700" dirty="0"/>
          </a:p>
        </p:txBody>
      </p:sp>
      <p:sp>
        <p:nvSpPr>
          <p:cNvPr id="5" name="Text 3"/>
          <p:cNvSpPr/>
          <p:nvPr/>
        </p:nvSpPr>
        <p:spPr>
          <a:xfrm>
            <a:off x="11704320" y="6629400"/>
            <a:ext cx="365760" cy="182880"/>
          </a:xfrm>
          <a:prstGeom prst="rect">
            <a:avLst/>
          </a:prstGeom>
          <a:noFill/>
          <a:ln/>
        </p:spPr>
        <p:txBody>
          <a:bodyPr wrap="square" rtlCol="0" anchor="ctr"/>
          <a:lstStyle/>
          <a:p>
            <a:pPr algn="r" indent="0" marL="0">
              <a:buNone/>
            </a:pPr>
            <a:r>
              <a:rPr lang="en-US" sz="800" dirty="0">
                <a:solidFill>
                  <a:srgbClr val="87AFBF"/>
                </a:solidFill>
                <a:latin typeface="Arial" pitchFamily="34" charset="0"/>
                <a:ea typeface="Arial" pitchFamily="34" charset="-122"/>
                <a:cs typeface="Arial" pitchFamily="34" charset="-120"/>
              </a:rPr>
              <a:t>2</a:t>
            </a:r>
            <a:endParaRPr lang="en-US" sz="800" dirty="0"/>
          </a:p>
        </p:txBody>
      </p:sp>
      <p:sp>
        <p:nvSpPr>
          <p:cNvPr id="6" name="Text 4"/>
          <p:cNvSpPr/>
          <p:nvPr/>
        </p:nvSpPr>
        <p:spPr>
          <a:xfrm>
            <a:off x="365760" y="310896"/>
            <a:ext cx="9144000" cy="457200"/>
          </a:xfrm>
          <a:prstGeom prst="rect">
            <a:avLst/>
          </a:prstGeom>
          <a:noFill/>
          <a:ln/>
        </p:spPr>
        <p:txBody>
          <a:bodyPr wrap="square" rtlCol="0" anchor="ctr"/>
          <a:lstStyle/>
          <a:p>
            <a:pPr indent="0" marL="0">
              <a:buNone/>
            </a:pPr>
            <a:r>
              <a:rPr lang="en-US" sz="2200" b="1" dirty="0">
                <a:solidFill>
                  <a:srgbClr val="003068"/>
                </a:solidFill>
                <a:latin typeface="Arial" pitchFamily="34" charset="0"/>
                <a:ea typeface="Arial" pitchFamily="34" charset="-122"/>
                <a:cs typeface="Arial" pitchFamily="34" charset="-120"/>
              </a:rPr>
              <a:t>Where the Boundaries Matter Most</a:t>
            </a:r>
            <a:endParaRPr lang="en-US" sz="2200" dirty="0"/>
          </a:p>
        </p:txBody>
      </p:sp>
      <p:sp>
        <p:nvSpPr>
          <p:cNvPr id="7" name="Text 5"/>
          <p:cNvSpPr/>
          <p:nvPr/>
        </p:nvSpPr>
        <p:spPr>
          <a:xfrm>
            <a:off x="365760" y="768096"/>
            <a:ext cx="9144000" cy="219456"/>
          </a:xfrm>
          <a:prstGeom prst="rect">
            <a:avLst/>
          </a:prstGeom>
          <a:noFill/>
          <a:ln/>
        </p:spPr>
        <p:txBody>
          <a:bodyPr wrap="square" rtlCol="0" anchor="ctr"/>
          <a:lstStyle/>
          <a:p>
            <a:pPr indent="0" marL="0">
              <a:buNone/>
            </a:pPr>
            <a:r>
              <a:rPr lang="en-US" sz="1000" i="1" dirty="0">
                <a:solidFill>
                  <a:srgbClr val="64748B"/>
                </a:solidFill>
                <a:latin typeface="Arial" pitchFamily="34" charset="0"/>
                <a:ea typeface="Arial" pitchFamily="34" charset="-122"/>
                <a:cs typeface="Arial" pitchFamily="34" charset="-120"/>
              </a:rPr>
              <a:t>5 hand-off points where unclear ownership creates the most risk</a:t>
            </a:r>
            <a:endParaRPr lang="en-US" sz="1000" dirty="0"/>
          </a:p>
        </p:txBody>
      </p:sp>
      <p:sp>
        <p:nvSpPr>
          <p:cNvPr id="8" name="Shape 6"/>
          <p:cNvSpPr/>
          <p:nvPr/>
        </p:nvSpPr>
        <p:spPr>
          <a:xfrm>
            <a:off x="365760" y="1005840"/>
            <a:ext cx="11457432" cy="20117"/>
          </a:xfrm>
          <a:prstGeom prst="rect">
            <a:avLst/>
          </a:prstGeom>
          <a:solidFill>
            <a:srgbClr val="87AFBF"/>
          </a:solidFill>
          <a:ln w="12700">
            <a:solidFill>
              <a:srgbClr val="87AFBF"/>
            </a:solidFill>
            <a:prstDash val="solid"/>
          </a:ln>
        </p:spPr>
      </p:sp>
      <p:sp>
        <p:nvSpPr>
          <p:cNvPr id="9" name="Shape 7"/>
          <p:cNvSpPr/>
          <p:nvPr/>
        </p:nvSpPr>
        <p:spPr>
          <a:xfrm>
            <a:off x="3703320" y="1078992"/>
            <a:ext cx="2633472" cy="274320"/>
          </a:xfrm>
          <a:prstGeom prst="rect">
            <a:avLst>
              <a:gd name="adj" fmla="val 13333"/>
            </a:avLst>
          </a:prstGeom>
          <a:solidFill>
            <a:srgbClr val="F8FAFC"/>
          </a:solidFill>
          <a:ln w="12700">
            <a:solidFill>
              <a:srgbClr val="3068FF"/>
            </a:solidFill>
            <a:prstDash val="solid"/>
          </a:ln>
        </p:spPr>
      </p:sp>
      <p:sp>
        <p:nvSpPr>
          <p:cNvPr id="10" name="Text 8"/>
          <p:cNvSpPr/>
          <p:nvPr/>
        </p:nvSpPr>
        <p:spPr>
          <a:xfrm>
            <a:off x="3703320" y="1078992"/>
            <a:ext cx="2633472" cy="274320"/>
          </a:xfrm>
          <a:prstGeom prst="rect">
            <a:avLst/>
          </a:prstGeom>
          <a:noFill/>
          <a:ln/>
        </p:spPr>
        <p:txBody>
          <a:bodyPr wrap="square" lIns="0" tIns="0" rIns="0" bIns="0" rtlCol="0" anchor="ctr"/>
          <a:lstStyle/>
          <a:p>
            <a:pPr algn="ctr" indent="0" marL="0">
              <a:buNone/>
            </a:pPr>
            <a:r>
              <a:rPr lang="en-US" sz="900" b="1" dirty="0">
                <a:solidFill>
                  <a:srgbClr val="3068FF"/>
                </a:solidFill>
                <a:latin typeface="Arial" pitchFamily="34" charset="0"/>
                <a:ea typeface="Arial" pitchFamily="34" charset="-122"/>
                <a:cs typeface="Arial" pitchFamily="34" charset="-120"/>
              </a:rPr>
              <a:t>Platform</a:t>
            </a:r>
            <a:endParaRPr lang="en-US" sz="900" dirty="0"/>
          </a:p>
        </p:txBody>
      </p:sp>
      <p:sp>
        <p:nvSpPr>
          <p:cNvPr id="11" name="Shape 9"/>
          <p:cNvSpPr/>
          <p:nvPr/>
        </p:nvSpPr>
        <p:spPr>
          <a:xfrm>
            <a:off x="6492240" y="1078992"/>
            <a:ext cx="2633472" cy="274320"/>
          </a:xfrm>
          <a:prstGeom prst="rect">
            <a:avLst>
              <a:gd name="adj" fmla="val 13333"/>
            </a:avLst>
          </a:prstGeom>
          <a:solidFill>
            <a:srgbClr val="F8FAFC"/>
          </a:solidFill>
          <a:ln w="12700">
            <a:solidFill>
              <a:srgbClr val="0891B2"/>
            </a:solidFill>
            <a:prstDash val="solid"/>
          </a:ln>
        </p:spPr>
      </p:sp>
      <p:sp>
        <p:nvSpPr>
          <p:cNvPr id="12" name="Text 10"/>
          <p:cNvSpPr/>
          <p:nvPr/>
        </p:nvSpPr>
        <p:spPr>
          <a:xfrm>
            <a:off x="6492240" y="1078992"/>
            <a:ext cx="2633472" cy="274320"/>
          </a:xfrm>
          <a:prstGeom prst="rect">
            <a:avLst/>
          </a:prstGeom>
          <a:noFill/>
          <a:ln/>
        </p:spPr>
        <p:txBody>
          <a:bodyPr wrap="square" lIns="0" tIns="0" rIns="0" bIns="0" rtlCol="0" anchor="ctr"/>
          <a:lstStyle/>
          <a:p>
            <a:pPr algn="ctr" indent="0" marL="0">
              <a:buNone/>
            </a:pPr>
            <a:r>
              <a:rPr lang="en-US" sz="900" b="1" dirty="0">
                <a:solidFill>
                  <a:srgbClr val="0891B2"/>
                </a:solidFill>
                <a:latin typeface="Arial" pitchFamily="34" charset="0"/>
                <a:ea typeface="Arial" pitchFamily="34" charset="-122"/>
                <a:cs typeface="Arial" pitchFamily="34" charset="-120"/>
              </a:rPr>
              <a:t>DMO</a:t>
            </a:r>
            <a:endParaRPr lang="en-US" sz="900" dirty="0"/>
          </a:p>
        </p:txBody>
      </p:sp>
      <p:sp>
        <p:nvSpPr>
          <p:cNvPr id="13" name="Shape 11"/>
          <p:cNvSpPr/>
          <p:nvPr/>
        </p:nvSpPr>
        <p:spPr>
          <a:xfrm>
            <a:off x="9281160" y="1078992"/>
            <a:ext cx="2633472" cy="274320"/>
          </a:xfrm>
          <a:prstGeom prst="rect">
            <a:avLst>
              <a:gd name="adj" fmla="val 13333"/>
            </a:avLst>
          </a:prstGeom>
          <a:solidFill>
            <a:srgbClr val="F8FAFC"/>
          </a:solidFill>
          <a:ln w="12700">
            <a:solidFill>
              <a:srgbClr val="059669"/>
            </a:solidFill>
            <a:prstDash val="solid"/>
          </a:ln>
        </p:spPr>
      </p:sp>
      <p:sp>
        <p:nvSpPr>
          <p:cNvPr id="14" name="Text 12"/>
          <p:cNvSpPr/>
          <p:nvPr/>
        </p:nvSpPr>
        <p:spPr>
          <a:xfrm>
            <a:off x="9281160" y="1078992"/>
            <a:ext cx="2633472" cy="274320"/>
          </a:xfrm>
          <a:prstGeom prst="rect">
            <a:avLst/>
          </a:prstGeom>
          <a:noFill/>
          <a:ln/>
        </p:spPr>
        <p:txBody>
          <a:bodyPr wrap="square" lIns="0" tIns="0" rIns="0" bIns="0" rtlCol="0" anchor="ctr"/>
          <a:lstStyle/>
          <a:p>
            <a:pPr algn="ctr" indent="0" marL="0">
              <a:buNone/>
            </a:pPr>
            <a:r>
              <a:rPr lang="en-US" sz="900" b="1" dirty="0">
                <a:solidFill>
                  <a:srgbClr val="059669"/>
                </a:solidFill>
                <a:latin typeface="Arial" pitchFamily="34" charset="0"/>
                <a:ea typeface="Arial" pitchFamily="34" charset="-122"/>
                <a:cs typeface="Arial" pitchFamily="34" charset="-120"/>
              </a:rPr>
              <a:t>Business</a:t>
            </a:r>
            <a:endParaRPr lang="en-US" sz="900" dirty="0"/>
          </a:p>
        </p:txBody>
      </p:sp>
      <p:sp>
        <p:nvSpPr>
          <p:cNvPr id="15" name="Shape 13"/>
          <p:cNvSpPr/>
          <p:nvPr/>
        </p:nvSpPr>
        <p:spPr>
          <a:xfrm>
            <a:off x="3657600" y="1060704"/>
            <a:ext cx="9144" cy="5532120"/>
          </a:xfrm>
          <a:prstGeom prst="rect">
            <a:avLst/>
          </a:prstGeom>
          <a:solidFill>
            <a:srgbClr val="DEE5EF"/>
          </a:solidFill>
          <a:ln w="12700">
            <a:solidFill>
              <a:srgbClr val="DEE5EF"/>
            </a:solidFill>
            <a:prstDash val="solid"/>
          </a:ln>
        </p:spPr>
      </p:sp>
      <p:sp>
        <p:nvSpPr>
          <p:cNvPr id="16" name="Shape 14"/>
          <p:cNvSpPr/>
          <p:nvPr/>
        </p:nvSpPr>
        <p:spPr>
          <a:xfrm>
            <a:off x="6446520" y="1060704"/>
            <a:ext cx="9144" cy="5532120"/>
          </a:xfrm>
          <a:prstGeom prst="rect">
            <a:avLst/>
          </a:prstGeom>
          <a:solidFill>
            <a:srgbClr val="DEE5EF"/>
          </a:solidFill>
          <a:ln w="12700">
            <a:solidFill>
              <a:srgbClr val="DEE5EF"/>
            </a:solidFill>
            <a:prstDash val="solid"/>
          </a:ln>
        </p:spPr>
      </p:sp>
      <p:sp>
        <p:nvSpPr>
          <p:cNvPr id="17" name="Shape 15"/>
          <p:cNvSpPr/>
          <p:nvPr/>
        </p:nvSpPr>
        <p:spPr>
          <a:xfrm>
            <a:off x="9235440" y="1060704"/>
            <a:ext cx="9144" cy="5532120"/>
          </a:xfrm>
          <a:prstGeom prst="rect">
            <a:avLst/>
          </a:prstGeom>
          <a:solidFill>
            <a:srgbClr val="DEE5EF"/>
          </a:solidFill>
          <a:ln w="12700">
            <a:solidFill>
              <a:srgbClr val="DEE5EF"/>
            </a:solidFill>
            <a:prstDash val="solid"/>
          </a:ln>
        </p:spPr>
      </p:sp>
      <p:sp>
        <p:nvSpPr>
          <p:cNvPr id="18" name="Shape 16"/>
          <p:cNvSpPr/>
          <p:nvPr/>
        </p:nvSpPr>
        <p:spPr>
          <a:xfrm>
            <a:off x="320040" y="1426464"/>
            <a:ext cx="11548872" cy="1005840"/>
          </a:xfrm>
          <a:prstGeom prst="rect">
            <a:avLst>
              <a:gd name="adj" fmla="val 4545"/>
            </a:avLst>
          </a:prstGeom>
          <a:solidFill>
            <a:srgbClr val="FAFBFF"/>
          </a:solidFill>
          <a:ln w="6350">
            <a:solidFill>
              <a:srgbClr val="DEE5EF"/>
            </a:solidFill>
            <a:prstDash val="solid"/>
          </a:ln>
        </p:spPr>
      </p:sp>
      <p:sp>
        <p:nvSpPr>
          <p:cNvPr id="19" name="Text 17"/>
          <p:cNvSpPr/>
          <p:nvPr/>
        </p:nvSpPr>
        <p:spPr>
          <a:xfrm>
            <a:off x="438912" y="1481328"/>
            <a:ext cx="3154680" cy="274320"/>
          </a:xfrm>
          <a:prstGeom prst="rect">
            <a:avLst/>
          </a:prstGeom>
          <a:noFill/>
          <a:ln/>
        </p:spPr>
        <p:txBody>
          <a:bodyPr wrap="square" lIns="0" tIns="0" rIns="0" bIns="0" rtlCol="0" anchor="ctr"/>
          <a:lstStyle/>
          <a:p>
            <a:pPr indent="0" marL="0">
              <a:buNone/>
            </a:pPr>
            <a:r>
              <a:rPr lang="en-US" sz="1050" b="1" dirty="0">
                <a:solidFill>
                  <a:srgbClr val="003068"/>
                </a:solidFill>
                <a:latin typeface="Arial" pitchFamily="34" charset="0"/>
                <a:ea typeface="Arial" pitchFamily="34" charset="-122"/>
                <a:cs typeface="Arial" pitchFamily="34" charset="-120"/>
              </a:rPr>
              <a:t>① Gold metric build</a:t>
            </a:r>
            <a:endParaRPr lang="en-US" sz="1050" dirty="0"/>
          </a:p>
        </p:txBody>
      </p:sp>
      <p:sp>
        <p:nvSpPr>
          <p:cNvPr id="20" name="Text 18"/>
          <p:cNvSpPr/>
          <p:nvPr/>
        </p:nvSpPr>
        <p:spPr>
          <a:xfrm>
            <a:off x="438912" y="1773936"/>
            <a:ext cx="3154680" cy="585216"/>
          </a:xfrm>
          <a:prstGeom prst="rect">
            <a:avLst/>
          </a:prstGeom>
          <a:noFill/>
          <a:ln/>
        </p:spPr>
        <p:txBody>
          <a:bodyPr wrap="square" lIns="0" tIns="0" rIns="0" bIns="0" rtlCol="0" anchor="t"/>
          <a:lstStyle/>
          <a:p>
            <a:pPr indent="0" marL="0">
              <a:buNone/>
            </a:pPr>
            <a:r>
              <a:rPr lang="en-US" sz="800" i="1" dirty="0">
                <a:solidFill>
                  <a:srgbClr val="B91C1C"/>
                </a:solidFill>
                <a:latin typeface="Arial" pitchFamily="34" charset="0"/>
                <a:ea typeface="Arial" pitchFamily="34" charset="-122"/>
                <a:cs typeface="Arial" pitchFamily="34" charset="-120"/>
              </a:rPr>
              <a:t>If Business does not define the metric and Platform builds from assumptions — numbers are wrong in production</a:t>
            </a:r>
            <a:endParaRPr lang="en-US" sz="800" dirty="0"/>
          </a:p>
        </p:txBody>
      </p:sp>
      <p:sp>
        <p:nvSpPr>
          <p:cNvPr id="21" name="Shape 19"/>
          <p:cNvSpPr/>
          <p:nvPr/>
        </p:nvSpPr>
        <p:spPr>
          <a:xfrm>
            <a:off x="3657600" y="1499616"/>
            <a:ext cx="18288" cy="859536"/>
          </a:xfrm>
          <a:prstGeom prst="rect">
            <a:avLst/>
          </a:prstGeom>
          <a:solidFill>
            <a:srgbClr val="DEE5EF"/>
          </a:solidFill>
          <a:ln w="12700">
            <a:solidFill>
              <a:srgbClr val="DEE5EF"/>
            </a:solidFill>
            <a:prstDash val="solid"/>
          </a:ln>
        </p:spPr>
      </p:sp>
      <p:sp>
        <p:nvSpPr>
          <p:cNvPr id="22" name="Text 20"/>
          <p:cNvSpPr/>
          <p:nvPr/>
        </p:nvSpPr>
        <p:spPr>
          <a:xfrm>
            <a:off x="3767328" y="1499616"/>
            <a:ext cx="2606040" cy="859536"/>
          </a:xfrm>
          <a:prstGeom prst="rect">
            <a:avLst/>
          </a:prstGeom>
          <a:noFill/>
          <a:ln/>
        </p:spPr>
        <p:txBody>
          <a:bodyPr wrap="square" rtlCol="0" anchor="ctr"/>
          <a:lstStyle/>
          <a:p>
            <a:pPr indent="0" marL="0">
              <a:buNone/>
            </a:pPr>
            <a:r>
              <a:rPr lang="en-US" sz="850" dirty="0">
                <a:solidFill>
                  <a:srgbClr val="222730"/>
                </a:solidFill>
                <a:latin typeface="Arial" pitchFamily="34" charset="0"/>
                <a:ea typeface="Arial" pitchFamily="34" charset="-122"/>
                <a:cs typeface="Arial" pitchFamily="34" charset="-120"/>
              </a:rPr>
              <a:t>Build the Gold aggregation pipeline once metric logic is confirmed</a:t>
            </a:r>
            <a:endParaRPr lang="en-US" sz="850" dirty="0"/>
          </a:p>
        </p:txBody>
      </p:sp>
      <p:sp>
        <p:nvSpPr>
          <p:cNvPr id="23" name="Shape 21"/>
          <p:cNvSpPr/>
          <p:nvPr/>
        </p:nvSpPr>
        <p:spPr>
          <a:xfrm>
            <a:off x="6446520" y="1499616"/>
            <a:ext cx="18288" cy="859536"/>
          </a:xfrm>
          <a:prstGeom prst="rect">
            <a:avLst/>
          </a:prstGeom>
          <a:solidFill>
            <a:srgbClr val="DEE5EF"/>
          </a:solidFill>
          <a:ln w="12700">
            <a:solidFill>
              <a:srgbClr val="DEE5EF"/>
            </a:solidFill>
            <a:prstDash val="solid"/>
          </a:ln>
        </p:spPr>
      </p:sp>
      <p:sp>
        <p:nvSpPr>
          <p:cNvPr id="24" name="Text 22"/>
          <p:cNvSpPr/>
          <p:nvPr/>
        </p:nvSpPr>
        <p:spPr>
          <a:xfrm>
            <a:off x="6556248" y="1499616"/>
            <a:ext cx="2606040" cy="859536"/>
          </a:xfrm>
          <a:prstGeom prst="rect">
            <a:avLst/>
          </a:prstGeom>
          <a:noFill/>
          <a:ln/>
        </p:spPr>
        <p:txBody>
          <a:bodyPr wrap="square" rtlCol="0" anchor="ctr"/>
          <a:lstStyle/>
          <a:p>
            <a:pPr indent="0" marL="0">
              <a:buNone/>
            </a:pPr>
            <a:r>
              <a:rPr lang="en-US" sz="850" dirty="0">
                <a:solidFill>
                  <a:srgbClr val="222730"/>
                </a:solidFill>
                <a:latin typeface="Arial" pitchFamily="34" charset="0"/>
                <a:ea typeface="Arial" pitchFamily="34" charset="-122"/>
                <a:cs typeface="Arial" pitchFamily="34" charset="-120"/>
              </a:rPr>
              <a:t>Specify the SQL/DAX transformation logic from FSDM source to Gold output</a:t>
            </a:r>
            <a:endParaRPr lang="en-US" sz="850" dirty="0"/>
          </a:p>
        </p:txBody>
      </p:sp>
      <p:sp>
        <p:nvSpPr>
          <p:cNvPr id="25" name="Shape 23"/>
          <p:cNvSpPr/>
          <p:nvPr/>
        </p:nvSpPr>
        <p:spPr>
          <a:xfrm>
            <a:off x="9235440" y="1499616"/>
            <a:ext cx="18288" cy="859536"/>
          </a:xfrm>
          <a:prstGeom prst="rect">
            <a:avLst/>
          </a:prstGeom>
          <a:solidFill>
            <a:srgbClr val="DEE5EF"/>
          </a:solidFill>
          <a:ln w="12700">
            <a:solidFill>
              <a:srgbClr val="DEE5EF"/>
            </a:solidFill>
            <a:prstDash val="solid"/>
          </a:ln>
        </p:spPr>
      </p:sp>
      <p:sp>
        <p:nvSpPr>
          <p:cNvPr id="26" name="Text 24"/>
          <p:cNvSpPr/>
          <p:nvPr/>
        </p:nvSpPr>
        <p:spPr>
          <a:xfrm>
            <a:off x="9345168" y="1499616"/>
            <a:ext cx="2606040" cy="859536"/>
          </a:xfrm>
          <a:prstGeom prst="rect">
            <a:avLst/>
          </a:prstGeom>
          <a:noFill/>
          <a:ln/>
        </p:spPr>
        <p:txBody>
          <a:bodyPr wrap="square" rtlCol="0" anchor="ctr"/>
          <a:lstStyle/>
          <a:p>
            <a:pPr indent="0" marL="0">
              <a:buNone/>
            </a:pPr>
            <a:r>
              <a:rPr lang="en-US" sz="850" dirty="0">
                <a:solidFill>
                  <a:srgbClr val="222730"/>
                </a:solidFill>
                <a:latin typeface="Arial" pitchFamily="34" charset="0"/>
                <a:ea typeface="Arial" pitchFamily="34" charset="-122"/>
                <a:cs typeface="Arial" pitchFamily="34" charset="-120"/>
              </a:rPr>
              <a:t>Define the business rule: what counts, what filters, what time grain</a:t>
            </a:r>
            <a:endParaRPr lang="en-US" sz="850" dirty="0"/>
          </a:p>
        </p:txBody>
      </p:sp>
      <p:sp>
        <p:nvSpPr>
          <p:cNvPr id="27" name="Shape 25"/>
          <p:cNvSpPr/>
          <p:nvPr/>
        </p:nvSpPr>
        <p:spPr>
          <a:xfrm>
            <a:off x="320040" y="2496312"/>
            <a:ext cx="11548872" cy="1005840"/>
          </a:xfrm>
          <a:prstGeom prst="rect">
            <a:avLst>
              <a:gd name="adj" fmla="val 4545"/>
            </a:avLst>
          </a:prstGeom>
          <a:solidFill>
            <a:srgbClr val="FFFFFF"/>
          </a:solidFill>
          <a:ln w="6350">
            <a:solidFill>
              <a:srgbClr val="DEE5EF"/>
            </a:solidFill>
            <a:prstDash val="solid"/>
          </a:ln>
        </p:spPr>
      </p:sp>
      <p:sp>
        <p:nvSpPr>
          <p:cNvPr id="28" name="Text 26"/>
          <p:cNvSpPr/>
          <p:nvPr/>
        </p:nvSpPr>
        <p:spPr>
          <a:xfrm>
            <a:off x="438912" y="2551176"/>
            <a:ext cx="3154680" cy="274320"/>
          </a:xfrm>
          <a:prstGeom prst="rect">
            <a:avLst/>
          </a:prstGeom>
          <a:noFill/>
          <a:ln/>
        </p:spPr>
        <p:txBody>
          <a:bodyPr wrap="square" lIns="0" tIns="0" rIns="0" bIns="0" rtlCol="0" anchor="ctr"/>
          <a:lstStyle/>
          <a:p>
            <a:pPr indent="0" marL="0">
              <a:buNone/>
            </a:pPr>
            <a:r>
              <a:rPr lang="en-US" sz="1050" b="1" dirty="0">
                <a:solidFill>
                  <a:srgbClr val="003068"/>
                </a:solidFill>
                <a:latin typeface="Arial" pitchFamily="34" charset="0"/>
                <a:ea typeface="Arial" pitchFamily="34" charset="-122"/>
                <a:cs typeface="Arial" pitchFamily="34" charset="-120"/>
              </a:rPr>
              <a:t>② Security policy migration</a:t>
            </a:r>
            <a:endParaRPr lang="en-US" sz="1050" dirty="0"/>
          </a:p>
        </p:txBody>
      </p:sp>
      <p:sp>
        <p:nvSpPr>
          <p:cNvPr id="29" name="Text 27"/>
          <p:cNvSpPr/>
          <p:nvPr/>
        </p:nvSpPr>
        <p:spPr>
          <a:xfrm>
            <a:off x="438912" y="2843784"/>
            <a:ext cx="3154680" cy="585216"/>
          </a:xfrm>
          <a:prstGeom prst="rect">
            <a:avLst/>
          </a:prstGeom>
          <a:noFill/>
          <a:ln/>
        </p:spPr>
        <p:txBody>
          <a:bodyPr wrap="square" lIns="0" tIns="0" rIns="0" bIns="0" rtlCol="0" anchor="t"/>
          <a:lstStyle/>
          <a:p>
            <a:pPr indent="0" marL="0">
              <a:buNone/>
            </a:pPr>
            <a:r>
              <a:rPr lang="en-US" sz="800" i="1" dirty="0">
                <a:solidFill>
                  <a:srgbClr val="B91C1C"/>
                </a:solidFill>
                <a:latin typeface="Arial" pitchFamily="34" charset="0"/>
                <a:ea typeface="Arial" pitchFamily="34" charset="-122"/>
                <a:cs typeface="Arial" pitchFamily="34" charset="-120"/>
              </a:rPr>
              <a:t>If Teradata masking views are missed — data exposed when Iceberg tables go live</a:t>
            </a:r>
            <a:endParaRPr lang="en-US" sz="800" dirty="0"/>
          </a:p>
        </p:txBody>
      </p:sp>
      <p:sp>
        <p:nvSpPr>
          <p:cNvPr id="30" name="Shape 28"/>
          <p:cNvSpPr/>
          <p:nvPr/>
        </p:nvSpPr>
        <p:spPr>
          <a:xfrm>
            <a:off x="3657600" y="2569464"/>
            <a:ext cx="18288" cy="859536"/>
          </a:xfrm>
          <a:prstGeom prst="rect">
            <a:avLst/>
          </a:prstGeom>
          <a:solidFill>
            <a:srgbClr val="DEE5EF"/>
          </a:solidFill>
          <a:ln w="12700">
            <a:solidFill>
              <a:srgbClr val="DEE5EF"/>
            </a:solidFill>
            <a:prstDash val="solid"/>
          </a:ln>
        </p:spPr>
      </p:sp>
      <p:sp>
        <p:nvSpPr>
          <p:cNvPr id="31" name="Text 29"/>
          <p:cNvSpPr/>
          <p:nvPr/>
        </p:nvSpPr>
        <p:spPr>
          <a:xfrm>
            <a:off x="3767328" y="2569464"/>
            <a:ext cx="2606040" cy="859536"/>
          </a:xfrm>
          <a:prstGeom prst="rect">
            <a:avLst/>
          </a:prstGeom>
          <a:noFill/>
          <a:ln/>
        </p:spPr>
        <p:txBody>
          <a:bodyPr wrap="square" rtlCol="0" anchor="ctr"/>
          <a:lstStyle/>
          <a:p>
            <a:pPr indent="0" marL="0">
              <a:buNone/>
            </a:pPr>
            <a:r>
              <a:rPr lang="en-US" sz="850" dirty="0">
                <a:solidFill>
                  <a:srgbClr val="222730"/>
                </a:solidFill>
                <a:latin typeface="Arial" pitchFamily="34" charset="0"/>
                <a:ea typeface="Arial" pitchFamily="34" charset="-122"/>
                <a:cs typeface="Arial" pitchFamily="34" charset="-120"/>
              </a:rPr>
              <a:t>Implement policies in Trust3 AI / Immuta once authored; configure AD sync</a:t>
            </a:r>
            <a:endParaRPr lang="en-US" sz="850" dirty="0"/>
          </a:p>
        </p:txBody>
      </p:sp>
      <p:sp>
        <p:nvSpPr>
          <p:cNvPr id="32" name="Shape 30"/>
          <p:cNvSpPr/>
          <p:nvPr/>
        </p:nvSpPr>
        <p:spPr>
          <a:xfrm>
            <a:off x="6446520" y="2569464"/>
            <a:ext cx="18288" cy="859536"/>
          </a:xfrm>
          <a:prstGeom prst="rect">
            <a:avLst/>
          </a:prstGeom>
          <a:solidFill>
            <a:srgbClr val="DEE5EF"/>
          </a:solidFill>
          <a:ln w="12700">
            <a:solidFill>
              <a:srgbClr val="DEE5EF"/>
            </a:solidFill>
            <a:prstDash val="solid"/>
          </a:ln>
        </p:spPr>
      </p:sp>
      <p:sp>
        <p:nvSpPr>
          <p:cNvPr id="33" name="Text 31"/>
          <p:cNvSpPr/>
          <p:nvPr/>
        </p:nvSpPr>
        <p:spPr>
          <a:xfrm>
            <a:off x="6556248" y="2569464"/>
            <a:ext cx="2606040" cy="859536"/>
          </a:xfrm>
          <a:prstGeom prst="rect">
            <a:avLst/>
          </a:prstGeom>
          <a:noFill/>
          <a:ln/>
        </p:spPr>
        <p:txBody>
          <a:bodyPr wrap="square" rtlCol="0" anchor="ctr"/>
          <a:lstStyle/>
          <a:p>
            <a:pPr indent="0" marL="0">
              <a:buNone/>
            </a:pPr>
            <a:r>
              <a:rPr lang="en-US" sz="850" dirty="0">
                <a:solidFill>
                  <a:srgbClr val="222730"/>
                </a:solidFill>
                <a:latin typeface="Arial" pitchFamily="34" charset="0"/>
                <a:ea typeface="Arial" pitchFamily="34" charset="-122"/>
                <a:cs typeface="Arial" pitchFamily="34" charset="-120"/>
              </a:rPr>
              <a:t>Audit masking views; translate all GRANTs to policies before cutover</a:t>
            </a:r>
            <a:endParaRPr lang="en-US" sz="850" dirty="0"/>
          </a:p>
        </p:txBody>
      </p:sp>
      <p:sp>
        <p:nvSpPr>
          <p:cNvPr id="34" name="Shape 32"/>
          <p:cNvSpPr/>
          <p:nvPr/>
        </p:nvSpPr>
        <p:spPr>
          <a:xfrm>
            <a:off x="9235440" y="2569464"/>
            <a:ext cx="18288" cy="859536"/>
          </a:xfrm>
          <a:prstGeom prst="rect">
            <a:avLst/>
          </a:prstGeom>
          <a:solidFill>
            <a:srgbClr val="DEE5EF"/>
          </a:solidFill>
          <a:ln w="12700">
            <a:solidFill>
              <a:srgbClr val="DEE5EF"/>
            </a:solidFill>
            <a:prstDash val="solid"/>
          </a:ln>
        </p:spPr>
      </p:sp>
      <p:sp>
        <p:nvSpPr>
          <p:cNvPr id="35" name="Text 33"/>
          <p:cNvSpPr/>
          <p:nvPr/>
        </p:nvSpPr>
        <p:spPr>
          <a:xfrm>
            <a:off x="9345168" y="2569464"/>
            <a:ext cx="2606040" cy="859536"/>
          </a:xfrm>
          <a:prstGeom prst="rect">
            <a:avLst/>
          </a:prstGeom>
          <a:noFill/>
          <a:ln/>
        </p:spPr>
        <p:txBody>
          <a:bodyPr wrap="square" rtlCol="0" anchor="ctr"/>
          <a:lstStyle/>
          <a:p>
            <a:pPr indent="0" marL="0">
              <a:buNone/>
            </a:pPr>
            <a:r>
              <a:rPr lang="en-US" sz="850" dirty="0">
                <a:solidFill>
                  <a:srgbClr val="222730"/>
                </a:solidFill>
                <a:latin typeface="Arial" pitchFamily="34" charset="0"/>
                <a:ea typeface="Arial" pitchFamily="34" charset="-122"/>
                <a:cs typeface="Arial" pitchFamily="34" charset="-120"/>
              </a:rPr>
              <a:t>Confirm which AD groups retain access — cannot be assumed from Teradata</a:t>
            </a:r>
            <a:endParaRPr lang="en-US" sz="850" dirty="0"/>
          </a:p>
        </p:txBody>
      </p:sp>
      <p:sp>
        <p:nvSpPr>
          <p:cNvPr id="36" name="Shape 34"/>
          <p:cNvSpPr/>
          <p:nvPr/>
        </p:nvSpPr>
        <p:spPr>
          <a:xfrm>
            <a:off x="320040" y="3566160"/>
            <a:ext cx="11548872" cy="1005840"/>
          </a:xfrm>
          <a:prstGeom prst="rect">
            <a:avLst>
              <a:gd name="adj" fmla="val 4545"/>
            </a:avLst>
          </a:prstGeom>
          <a:solidFill>
            <a:srgbClr val="FAFBFF"/>
          </a:solidFill>
          <a:ln w="6350">
            <a:solidFill>
              <a:srgbClr val="DEE5EF"/>
            </a:solidFill>
            <a:prstDash val="solid"/>
          </a:ln>
        </p:spPr>
      </p:sp>
      <p:sp>
        <p:nvSpPr>
          <p:cNvPr id="37" name="Text 35"/>
          <p:cNvSpPr/>
          <p:nvPr/>
        </p:nvSpPr>
        <p:spPr>
          <a:xfrm>
            <a:off x="438912" y="3621024"/>
            <a:ext cx="3154680" cy="274320"/>
          </a:xfrm>
          <a:prstGeom prst="rect">
            <a:avLst/>
          </a:prstGeom>
          <a:noFill/>
          <a:ln/>
        </p:spPr>
        <p:txBody>
          <a:bodyPr wrap="square" lIns="0" tIns="0" rIns="0" bIns="0" rtlCol="0" anchor="ctr"/>
          <a:lstStyle/>
          <a:p>
            <a:pPr indent="0" marL="0">
              <a:buNone/>
            </a:pPr>
            <a:r>
              <a:rPr lang="en-US" sz="1050" b="1" dirty="0">
                <a:solidFill>
                  <a:srgbClr val="003068"/>
                </a:solidFill>
                <a:latin typeface="Arial" pitchFamily="34" charset="0"/>
                <a:ea typeface="Arial" pitchFamily="34" charset="-122"/>
                <a:cs typeface="Arial" pitchFamily="34" charset="-120"/>
              </a:rPr>
              <a:t>③ OBIEE → Power BI UAT</a:t>
            </a:r>
            <a:endParaRPr lang="en-US" sz="1050" dirty="0"/>
          </a:p>
        </p:txBody>
      </p:sp>
      <p:sp>
        <p:nvSpPr>
          <p:cNvPr id="38" name="Text 36"/>
          <p:cNvSpPr/>
          <p:nvPr/>
        </p:nvSpPr>
        <p:spPr>
          <a:xfrm>
            <a:off x="438912" y="3913632"/>
            <a:ext cx="3154680" cy="585216"/>
          </a:xfrm>
          <a:prstGeom prst="rect">
            <a:avLst/>
          </a:prstGeom>
          <a:noFill/>
          <a:ln/>
        </p:spPr>
        <p:txBody>
          <a:bodyPr wrap="square" lIns="0" tIns="0" rIns="0" bIns="0" rtlCol="0" anchor="t"/>
          <a:lstStyle/>
          <a:p>
            <a:pPr indent="0" marL="0">
              <a:buNone/>
            </a:pPr>
            <a:r>
              <a:rPr lang="en-US" sz="800" i="1" dirty="0">
                <a:solidFill>
                  <a:srgbClr val="B91C1C"/>
                </a:solidFill>
                <a:latin typeface="Arial" pitchFamily="34" charset="0"/>
                <a:ea typeface="Arial" pitchFamily="34" charset="-122"/>
                <a:cs typeface="Arial" pitchFamily="34" charset="-120"/>
              </a:rPr>
              <a:t>Without Business sign-off on each report, a number change goes undetected until a regulator or exec sees it</a:t>
            </a:r>
            <a:endParaRPr lang="en-US" sz="800" dirty="0"/>
          </a:p>
        </p:txBody>
      </p:sp>
      <p:sp>
        <p:nvSpPr>
          <p:cNvPr id="39" name="Shape 37"/>
          <p:cNvSpPr/>
          <p:nvPr/>
        </p:nvSpPr>
        <p:spPr>
          <a:xfrm>
            <a:off x="3657600" y="3639312"/>
            <a:ext cx="18288" cy="859536"/>
          </a:xfrm>
          <a:prstGeom prst="rect">
            <a:avLst/>
          </a:prstGeom>
          <a:solidFill>
            <a:srgbClr val="DEE5EF"/>
          </a:solidFill>
          <a:ln w="12700">
            <a:solidFill>
              <a:srgbClr val="DEE5EF"/>
            </a:solidFill>
            <a:prstDash val="solid"/>
          </a:ln>
        </p:spPr>
      </p:sp>
      <p:sp>
        <p:nvSpPr>
          <p:cNvPr id="40" name="Text 38"/>
          <p:cNvSpPr/>
          <p:nvPr/>
        </p:nvSpPr>
        <p:spPr>
          <a:xfrm>
            <a:off x="3767328" y="3639312"/>
            <a:ext cx="2606040" cy="859536"/>
          </a:xfrm>
          <a:prstGeom prst="rect">
            <a:avLst/>
          </a:prstGeom>
          <a:noFill/>
          <a:ln/>
        </p:spPr>
        <p:txBody>
          <a:bodyPr wrap="square" rtlCol="0" anchor="ctr"/>
          <a:lstStyle/>
          <a:p>
            <a:pPr indent="0" marL="0">
              <a:buNone/>
            </a:pPr>
            <a:r>
              <a:rPr lang="en-US" sz="850" dirty="0">
                <a:solidFill>
                  <a:srgbClr val="222730"/>
                </a:solidFill>
                <a:latin typeface="Arial" pitchFamily="34" charset="0"/>
                <a:ea typeface="Arial" pitchFamily="34" charset="-122"/>
                <a:cs typeface="Arial" pitchFamily="34" charset="-120"/>
              </a:rPr>
              <a:t>Ensure the Fabric semantic model produces correct numbers from Gold</a:t>
            </a:r>
            <a:endParaRPr lang="en-US" sz="850" dirty="0"/>
          </a:p>
        </p:txBody>
      </p:sp>
      <p:sp>
        <p:nvSpPr>
          <p:cNvPr id="41" name="Shape 39"/>
          <p:cNvSpPr/>
          <p:nvPr/>
        </p:nvSpPr>
        <p:spPr>
          <a:xfrm>
            <a:off x="6446520" y="3639312"/>
            <a:ext cx="18288" cy="859536"/>
          </a:xfrm>
          <a:prstGeom prst="rect">
            <a:avLst/>
          </a:prstGeom>
          <a:solidFill>
            <a:srgbClr val="DEE5EF"/>
          </a:solidFill>
          <a:ln w="12700">
            <a:solidFill>
              <a:srgbClr val="DEE5EF"/>
            </a:solidFill>
            <a:prstDash val="solid"/>
          </a:ln>
        </p:spPr>
      </p:sp>
      <p:sp>
        <p:nvSpPr>
          <p:cNvPr id="42" name="Text 40"/>
          <p:cNvSpPr/>
          <p:nvPr/>
        </p:nvSpPr>
        <p:spPr>
          <a:xfrm>
            <a:off x="6556248" y="3639312"/>
            <a:ext cx="2606040" cy="859536"/>
          </a:xfrm>
          <a:prstGeom prst="rect">
            <a:avLst/>
          </a:prstGeom>
          <a:noFill/>
          <a:ln/>
        </p:spPr>
        <p:txBody>
          <a:bodyPr wrap="square" rtlCol="0" anchor="ctr"/>
          <a:lstStyle/>
          <a:p>
            <a:pPr indent="0" marL="0">
              <a:buNone/>
            </a:pPr>
            <a:r>
              <a:rPr lang="en-US" sz="850" dirty="0">
                <a:solidFill>
                  <a:srgbClr val="222730"/>
                </a:solidFill>
                <a:latin typeface="Arial" pitchFamily="34" charset="0"/>
                <a:ea typeface="Arial" pitchFamily="34" charset="-122"/>
                <a:cs typeface="Arial" pitchFamily="34" charset="-120"/>
              </a:rPr>
              <a:t>Migrate report design and certified measures into Power BI</a:t>
            </a:r>
            <a:endParaRPr lang="en-US" sz="850" dirty="0"/>
          </a:p>
        </p:txBody>
      </p:sp>
      <p:sp>
        <p:nvSpPr>
          <p:cNvPr id="43" name="Shape 41"/>
          <p:cNvSpPr/>
          <p:nvPr/>
        </p:nvSpPr>
        <p:spPr>
          <a:xfrm>
            <a:off x="9235440" y="3639312"/>
            <a:ext cx="18288" cy="859536"/>
          </a:xfrm>
          <a:prstGeom prst="rect">
            <a:avLst/>
          </a:prstGeom>
          <a:solidFill>
            <a:srgbClr val="DEE5EF"/>
          </a:solidFill>
          <a:ln w="12700">
            <a:solidFill>
              <a:srgbClr val="DEE5EF"/>
            </a:solidFill>
            <a:prstDash val="solid"/>
          </a:ln>
        </p:spPr>
      </p:sp>
      <p:sp>
        <p:nvSpPr>
          <p:cNvPr id="44" name="Text 42"/>
          <p:cNvSpPr/>
          <p:nvPr/>
        </p:nvSpPr>
        <p:spPr>
          <a:xfrm>
            <a:off x="9345168" y="3639312"/>
            <a:ext cx="2606040" cy="859536"/>
          </a:xfrm>
          <a:prstGeom prst="rect">
            <a:avLst/>
          </a:prstGeom>
          <a:noFill/>
          <a:ln/>
        </p:spPr>
        <p:txBody>
          <a:bodyPr wrap="square" rtlCol="0" anchor="ctr"/>
          <a:lstStyle/>
          <a:p>
            <a:pPr indent="0" marL="0">
              <a:buNone/>
            </a:pPr>
            <a:r>
              <a:rPr lang="en-US" sz="850" dirty="0">
                <a:solidFill>
                  <a:srgbClr val="222730"/>
                </a:solidFill>
                <a:latin typeface="Arial" pitchFamily="34" charset="0"/>
                <a:ea typeface="Arial" pitchFamily="34" charset="-122"/>
                <a:cs typeface="Arial" pitchFamily="34" charset="-120"/>
              </a:rPr>
              <a:t>Sign off that migrated report numbers match the Teradata baseline — report by report</a:t>
            </a:r>
            <a:endParaRPr lang="en-US" sz="850" dirty="0"/>
          </a:p>
        </p:txBody>
      </p:sp>
      <p:sp>
        <p:nvSpPr>
          <p:cNvPr id="45" name="Shape 43"/>
          <p:cNvSpPr/>
          <p:nvPr/>
        </p:nvSpPr>
        <p:spPr>
          <a:xfrm>
            <a:off x="320040" y="4636008"/>
            <a:ext cx="11548872" cy="1005840"/>
          </a:xfrm>
          <a:prstGeom prst="rect">
            <a:avLst>
              <a:gd name="adj" fmla="val 4545"/>
            </a:avLst>
          </a:prstGeom>
          <a:solidFill>
            <a:srgbClr val="FFFFFF"/>
          </a:solidFill>
          <a:ln w="6350">
            <a:solidFill>
              <a:srgbClr val="DEE5EF"/>
            </a:solidFill>
            <a:prstDash val="solid"/>
          </a:ln>
        </p:spPr>
      </p:sp>
      <p:sp>
        <p:nvSpPr>
          <p:cNvPr id="46" name="Text 44"/>
          <p:cNvSpPr/>
          <p:nvPr/>
        </p:nvSpPr>
        <p:spPr>
          <a:xfrm>
            <a:off x="438912" y="4690872"/>
            <a:ext cx="3154680" cy="274320"/>
          </a:xfrm>
          <a:prstGeom prst="rect">
            <a:avLst/>
          </a:prstGeom>
          <a:noFill/>
          <a:ln/>
        </p:spPr>
        <p:txBody>
          <a:bodyPr wrap="square" lIns="0" tIns="0" rIns="0" bIns="0" rtlCol="0" anchor="ctr"/>
          <a:lstStyle/>
          <a:p>
            <a:pPr indent="0" marL="0">
              <a:buNone/>
            </a:pPr>
            <a:r>
              <a:rPr lang="en-US" sz="1050" b="1" dirty="0">
                <a:solidFill>
                  <a:srgbClr val="003068"/>
                </a:solidFill>
                <a:latin typeface="Arial" pitchFamily="34" charset="0"/>
                <a:ea typeface="Arial" pitchFamily="34" charset="-122"/>
                <a:cs typeface="Arial" pitchFamily="34" charset="-120"/>
              </a:rPr>
              <a:t>④ Teradata decommission</a:t>
            </a:r>
            <a:endParaRPr lang="en-US" sz="1050" dirty="0"/>
          </a:p>
        </p:txBody>
      </p:sp>
      <p:sp>
        <p:nvSpPr>
          <p:cNvPr id="47" name="Text 45"/>
          <p:cNvSpPr/>
          <p:nvPr/>
        </p:nvSpPr>
        <p:spPr>
          <a:xfrm>
            <a:off x="438912" y="4983480"/>
            <a:ext cx="3154680" cy="585216"/>
          </a:xfrm>
          <a:prstGeom prst="rect">
            <a:avLst/>
          </a:prstGeom>
          <a:noFill/>
          <a:ln/>
        </p:spPr>
        <p:txBody>
          <a:bodyPr wrap="square" lIns="0" tIns="0" rIns="0" bIns="0" rtlCol="0" anchor="t"/>
          <a:lstStyle/>
          <a:p>
            <a:pPr indent="0" marL="0">
              <a:buNone/>
            </a:pPr>
            <a:r>
              <a:rPr lang="en-US" sz="800" i="1" dirty="0">
                <a:solidFill>
                  <a:srgbClr val="B91C1C"/>
                </a:solidFill>
                <a:latin typeface="Arial" pitchFamily="34" charset="0"/>
                <a:ea typeface="Arial" pitchFamily="34" charset="-122"/>
                <a:cs typeface="Arial" pitchFamily="34" charset="-120"/>
              </a:rPr>
              <a:t>If a table is retired before all downstream consumers are confirmed, reports break silently</a:t>
            </a:r>
            <a:endParaRPr lang="en-US" sz="800" dirty="0"/>
          </a:p>
        </p:txBody>
      </p:sp>
      <p:sp>
        <p:nvSpPr>
          <p:cNvPr id="48" name="Shape 46"/>
          <p:cNvSpPr/>
          <p:nvPr/>
        </p:nvSpPr>
        <p:spPr>
          <a:xfrm>
            <a:off x="3657600" y="4709160"/>
            <a:ext cx="18288" cy="859536"/>
          </a:xfrm>
          <a:prstGeom prst="rect">
            <a:avLst/>
          </a:prstGeom>
          <a:solidFill>
            <a:srgbClr val="DEE5EF"/>
          </a:solidFill>
          <a:ln w="12700">
            <a:solidFill>
              <a:srgbClr val="DEE5EF"/>
            </a:solidFill>
            <a:prstDash val="solid"/>
          </a:ln>
        </p:spPr>
      </p:sp>
      <p:sp>
        <p:nvSpPr>
          <p:cNvPr id="49" name="Text 47"/>
          <p:cNvSpPr/>
          <p:nvPr/>
        </p:nvSpPr>
        <p:spPr>
          <a:xfrm>
            <a:off x="3767328" y="4709160"/>
            <a:ext cx="2606040" cy="859536"/>
          </a:xfrm>
          <a:prstGeom prst="rect">
            <a:avLst/>
          </a:prstGeom>
          <a:noFill/>
          <a:ln/>
        </p:spPr>
        <p:txBody>
          <a:bodyPr wrap="square" rtlCol="0" anchor="ctr"/>
          <a:lstStyle/>
          <a:p>
            <a:pPr indent="0" marL="0">
              <a:buNone/>
            </a:pPr>
            <a:r>
              <a:rPr lang="en-US" sz="850" dirty="0">
                <a:solidFill>
                  <a:srgbClr val="222730"/>
                </a:solidFill>
                <a:latin typeface="Arial" pitchFamily="34" charset="0"/>
                <a:ea typeface="Arial" pitchFamily="34" charset="-122"/>
                <a:cs typeface="Arial" pitchFamily="34" charset="-120"/>
              </a:rPr>
              <a:t>Confirm no Trino or pipeline queries reference the Teradata table</a:t>
            </a:r>
            <a:endParaRPr lang="en-US" sz="850" dirty="0"/>
          </a:p>
        </p:txBody>
      </p:sp>
      <p:sp>
        <p:nvSpPr>
          <p:cNvPr id="50" name="Shape 48"/>
          <p:cNvSpPr/>
          <p:nvPr/>
        </p:nvSpPr>
        <p:spPr>
          <a:xfrm>
            <a:off x="6446520" y="4709160"/>
            <a:ext cx="18288" cy="859536"/>
          </a:xfrm>
          <a:prstGeom prst="rect">
            <a:avLst/>
          </a:prstGeom>
          <a:solidFill>
            <a:srgbClr val="DEE5EF"/>
          </a:solidFill>
          <a:ln w="12700">
            <a:solidFill>
              <a:srgbClr val="DEE5EF"/>
            </a:solidFill>
            <a:prstDash val="solid"/>
          </a:ln>
        </p:spPr>
      </p:sp>
      <p:sp>
        <p:nvSpPr>
          <p:cNvPr id="51" name="Text 49"/>
          <p:cNvSpPr/>
          <p:nvPr/>
        </p:nvSpPr>
        <p:spPr>
          <a:xfrm>
            <a:off x="6556248" y="4709160"/>
            <a:ext cx="2606040" cy="859536"/>
          </a:xfrm>
          <a:prstGeom prst="rect">
            <a:avLst/>
          </a:prstGeom>
          <a:noFill/>
          <a:ln/>
        </p:spPr>
        <p:txBody>
          <a:bodyPr wrap="square" rtlCol="0" anchor="ctr"/>
          <a:lstStyle/>
          <a:p>
            <a:pPr indent="0" marL="0">
              <a:buNone/>
            </a:pPr>
            <a:r>
              <a:rPr lang="en-US" sz="850" dirty="0">
                <a:solidFill>
                  <a:srgbClr val="222730"/>
                </a:solidFill>
                <a:latin typeface="Arial" pitchFamily="34" charset="0"/>
                <a:ea typeface="Arial" pitchFamily="34" charset="-122"/>
                <a:cs typeface="Arial" pitchFamily="34" charset="-120"/>
              </a:rPr>
              <a:t>Confirm all DataStage jobs and OBIEE reports using that table are migrated</a:t>
            </a:r>
            <a:endParaRPr lang="en-US" sz="850" dirty="0"/>
          </a:p>
        </p:txBody>
      </p:sp>
      <p:sp>
        <p:nvSpPr>
          <p:cNvPr id="52" name="Shape 50"/>
          <p:cNvSpPr/>
          <p:nvPr/>
        </p:nvSpPr>
        <p:spPr>
          <a:xfrm>
            <a:off x="9235440" y="4709160"/>
            <a:ext cx="18288" cy="859536"/>
          </a:xfrm>
          <a:prstGeom prst="rect">
            <a:avLst/>
          </a:prstGeom>
          <a:solidFill>
            <a:srgbClr val="DEE5EF"/>
          </a:solidFill>
          <a:ln w="12700">
            <a:solidFill>
              <a:srgbClr val="DEE5EF"/>
            </a:solidFill>
            <a:prstDash val="solid"/>
          </a:ln>
        </p:spPr>
      </p:sp>
      <p:sp>
        <p:nvSpPr>
          <p:cNvPr id="53" name="Text 51"/>
          <p:cNvSpPr/>
          <p:nvPr/>
        </p:nvSpPr>
        <p:spPr>
          <a:xfrm>
            <a:off x="9345168" y="4709160"/>
            <a:ext cx="2606040" cy="859536"/>
          </a:xfrm>
          <a:prstGeom prst="rect">
            <a:avLst/>
          </a:prstGeom>
          <a:noFill/>
          <a:ln/>
        </p:spPr>
        <p:txBody>
          <a:bodyPr wrap="square" rtlCol="0" anchor="ctr"/>
          <a:lstStyle/>
          <a:p>
            <a:pPr indent="0" marL="0">
              <a:buNone/>
            </a:pPr>
            <a:r>
              <a:rPr lang="en-US" sz="850" dirty="0">
                <a:solidFill>
                  <a:srgbClr val="222730"/>
                </a:solidFill>
                <a:latin typeface="Arial" pitchFamily="34" charset="0"/>
                <a:ea typeface="Arial" pitchFamily="34" charset="-122"/>
                <a:cs typeface="Arial" pitchFamily="34" charset="-120"/>
              </a:rPr>
              <a:t>Confirm no business process, spreadsheet extract, or manual query depends on it</a:t>
            </a:r>
            <a:endParaRPr lang="en-US" sz="850" dirty="0"/>
          </a:p>
        </p:txBody>
      </p:sp>
      <p:sp>
        <p:nvSpPr>
          <p:cNvPr id="54" name="Shape 52"/>
          <p:cNvSpPr/>
          <p:nvPr/>
        </p:nvSpPr>
        <p:spPr>
          <a:xfrm>
            <a:off x="320040" y="5705856"/>
            <a:ext cx="11548872" cy="1005840"/>
          </a:xfrm>
          <a:prstGeom prst="rect">
            <a:avLst>
              <a:gd name="adj" fmla="val 4545"/>
            </a:avLst>
          </a:prstGeom>
          <a:solidFill>
            <a:srgbClr val="FAFBFF"/>
          </a:solidFill>
          <a:ln w="6350">
            <a:solidFill>
              <a:srgbClr val="DEE5EF"/>
            </a:solidFill>
            <a:prstDash val="solid"/>
          </a:ln>
        </p:spPr>
      </p:sp>
      <p:sp>
        <p:nvSpPr>
          <p:cNvPr id="55" name="Text 53"/>
          <p:cNvSpPr/>
          <p:nvPr/>
        </p:nvSpPr>
        <p:spPr>
          <a:xfrm>
            <a:off x="438912" y="5760720"/>
            <a:ext cx="3154680" cy="274320"/>
          </a:xfrm>
          <a:prstGeom prst="rect">
            <a:avLst/>
          </a:prstGeom>
          <a:noFill/>
          <a:ln/>
        </p:spPr>
        <p:txBody>
          <a:bodyPr wrap="square" lIns="0" tIns="0" rIns="0" bIns="0" rtlCol="0" anchor="ctr"/>
          <a:lstStyle/>
          <a:p>
            <a:pPr indent="0" marL="0">
              <a:buNone/>
            </a:pPr>
            <a:r>
              <a:rPr lang="en-US" sz="1050" b="1" dirty="0">
                <a:solidFill>
                  <a:srgbClr val="003068"/>
                </a:solidFill>
                <a:latin typeface="Arial" pitchFamily="34" charset="0"/>
                <a:ea typeface="Arial" pitchFamily="34" charset="-122"/>
                <a:cs typeface="Arial" pitchFamily="34" charset="-120"/>
              </a:rPr>
              <a:t>⑤ BCBS 239 compliance sign-off</a:t>
            </a:r>
            <a:endParaRPr lang="en-US" sz="1050" dirty="0"/>
          </a:p>
        </p:txBody>
      </p:sp>
      <p:sp>
        <p:nvSpPr>
          <p:cNvPr id="56" name="Text 54"/>
          <p:cNvSpPr/>
          <p:nvPr/>
        </p:nvSpPr>
        <p:spPr>
          <a:xfrm>
            <a:off x="438912" y="6053328"/>
            <a:ext cx="3154680" cy="585216"/>
          </a:xfrm>
          <a:prstGeom prst="rect">
            <a:avLst/>
          </a:prstGeom>
          <a:noFill/>
          <a:ln/>
        </p:spPr>
        <p:txBody>
          <a:bodyPr wrap="square" lIns="0" tIns="0" rIns="0" bIns="0" rtlCol="0" anchor="t"/>
          <a:lstStyle/>
          <a:p>
            <a:pPr indent="0" marL="0">
              <a:buNone/>
            </a:pPr>
            <a:r>
              <a:rPr lang="en-US" sz="800" i="1" dirty="0">
                <a:solidFill>
                  <a:srgbClr val="B91C1C"/>
                </a:solidFill>
                <a:latin typeface="Arial" pitchFamily="34" charset="0"/>
                <a:ea typeface="Arial" pitchFamily="34" charset="-122"/>
                <a:cs typeface="Arial" pitchFamily="34" charset="-120"/>
              </a:rPr>
              <a:t>Regulators require proof that risk data is accurate, traceable, and governed — missing one piece fails the audit</a:t>
            </a:r>
            <a:endParaRPr lang="en-US" sz="800" dirty="0"/>
          </a:p>
        </p:txBody>
      </p:sp>
      <p:sp>
        <p:nvSpPr>
          <p:cNvPr id="57" name="Shape 55"/>
          <p:cNvSpPr/>
          <p:nvPr/>
        </p:nvSpPr>
        <p:spPr>
          <a:xfrm>
            <a:off x="3657600" y="5779008"/>
            <a:ext cx="18288" cy="859536"/>
          </a:xfrm>
          <a:prstGeom prst="rect">
            <a:avLst/>
          </a:prstGeom>
          <a:solidFill>
            <a:srgbClr val="DEE5EF"/>
          </a:solidFill>
          <a:ln w="12700">
            <a:solidFill>
              <a:srgbClr val="DEE5EF"/>
            </a:solidFill>
            <a:prstDash val="solid"/>
          </a:ln>
        </p:spPr>
      </p:sp>
      <p:sp>
        <p:nvSpPr>
          <p:cNvPr id="58" name="Text 56"/>
          <p:cNvSpPr/>
          <p:nvPr/>
        </p:nvSpPr>
        <p:spPr>
          <a:xfrm>
            <a:off x="3767328" y="5779008"/>
            <a:ext cx="2606040" cy="859536"/>
          </a:xfrm>
          <a:prstGeom prst="rect">
            <a:avLst/>
          </a:prstGeom>
          <a:noFill/>
          <a:ln/>
        </p:spPr>
        <p:txBody>
          <a:bodyPr wrap="square" rtlCol="0" anchor="ctr"/>
          <a:lstStyle/>
          <a:p>
            <a:pPr indent="0" marL="0">
              <a:buNone/>
            </a:pPr>
            <a:r>
              <a:rPr lang="en-US" sz="850" dirty="0">
                <a:solidFill>
                  <a:srgbClr val="222730"/>
                </a:solidFill>
                <a:latin typeface="Arial" pitchFamily="34" charset="0"/>
                <a:ea typeface="Arial" pitchFamily="34" charset="-122"/>
                <a:cs typeface="Arial" pitchFamily="34" charset="-120"/>
              </a:rPr>
              <a:t>Provide column-level lineage from source to regulatory output via OpenLineage</a:t>
            </a:r>
            <a:endParaRPr lang="en-US" sz="850" dirty="0"/>
          </a:p>
        </p:txBody>
      </p:sp>
      <p:sp>
        <p:nvSpPr>
          <p:cNvPr id="59" name="Shape 57"/>
          <p:cNvSpPr/>
          <p:nvPr/>
        </p:nvSpPr>
        <p:spPr>
          <a:xfrm>
            <a:off x="6446520" y="5779008"/>
            <a:ext cx="18288" cy="859536"/>
          </a:xfrm>
          <a:prstGeom prst="rect">
            <a:avLst/>
          </a:prstGeom>
          <a:solidFill>
            <a:srgbClr val="DEE5EF"/>
          </a:solidFill>
          <a:ln w="12700">
            <a:solidFill>
              <a:srgbClr val="DEE5EF"/>
            </a:solidFill>
            <a:prstDash val="solid"/>
          </a:ln>
        </p:spPr>
      </p:sp>
      <p:sp>
        <p:nvSpPr>
          <p:cNvPr id="60" name="Text 58"/>
          <p:cNvSpPr/>
          <p:nvPr/>
        </p:nvSpPr>
        <p:spPr>
          <a:xfrm>
            <a:off x="6556248" y="5779008"/>
            <a:ext cx="2606040" cy="859536"/>
          </a:xfrm>
          <a:prstGeom prst="rect">
            <a:avLst/>
          </a:prstGeom>
          <a:noFill/>
          <a:ln/>
        </p:spPr>
        <p:txBody>
          <a:bodyPr wrap="square" rtlCol="0" anchor="ctr"/>
          <a:lstStyle/>
          <a:p>
            <a:pPr indent="0" marL="0">
              <a:buNone/>
            </a:pPr>
            <a:r>
              <a:rPr lang="en-US" sz="850" dirty="0">
                <a:solidFill>
                  <a:srgbClr val="222730"/>
                </a:solidFill>
                <a:latin typeface="Arial" pitchFamily="34" charset="0"/>
                <a:ea typeface="Arial" pitchFamily="34" charset="-122"/>
                <a:cs typeface="Arial" pitchFamily="34" charset="-120"/>
              </a:rPr>
              <a:t>Document which BCBS 239 principle each platform capability satisfies</a:t>
            </a:r>
            <a:endParaRPr lang="en-US" sz="850" dirty="0"/>
          </a:p>
        </p:txBody>
      </p:sp>
      <p:sp>
        <p:nvSpPr>
          <p:cNvPr id="61" name="Shape 59"/>
          <p:cNvSpPr/>
          <p:nvPr/>
        </p:nvSpPr>
        <p:spPr>
          <a:xfrm>
            <a:off x="9235440" y="5779008"/>
            <a:ext cx="18288" cy="859536"/>
          </a:xfrm>
          <a:prstGeom prst="rect">
            <a:avLst/>
          </a:prstGeom>
          <a:solidFill>
            <a:srgbClr val="DEE5EF"/>
          </a:solidFill>
          <a:ln w="12700">
            <a:solidFill>
              <a:srgbClr val="DEE5EF"/>
            </a:solidFill>
            <a:prstDash val="solid"/>
          </a:ln>
        </p:spPr>
      </p:sp>
      <p:sp>
        <p:nvSpPr>
          <p:cNvPr id="62" name="Text 60"/>
          <p:cNvSpPr/>
          <p:nvPr/>
        </p:nvSpPr>
        <p:spPr>
          <a:xfrm>
            <a:off x="9345168" y="5779008"/>
            <a:ext cx="2606040" cy="859536"/>
          </a:xfrm>
          <a:prstGeom prst="rect">
            <a:avLst/>
          </a:prstGeom>
          <a:noFill/>
          <a:ln/>
        </p:spPr>
        <p:txBody>
          <a:bodyPr wrap="square" rtlCol="0" anchor="ctr"/>
          <a:lstStyle/>
          <a:p>
            <a:pPr indent="0" marL="0">
              <a:buNone/>
            </a:pPr>
            <a:r>
              <a:rPr lang="en-US" sz="850" dirty="0">
                <a:solidFill>
                  <a:srgbClr val="222730"/>
                </a:solidFill>
                <a:latin typeface="Arial" pitchFamily="34" charset="0"/>
                <a:ea typeface="Arial" pitchFamily="34" charset="-122"/>
                <a:cs typeface="Arial" pitchFamily="34" charset="-120"/>
              </a:rPr>
              <a:t>Sign off that the regulatory data aggregation meets requirements — risk function ownership</a:t>
            </a:r>
            <a:endParaRPr lang="en-US" sz="850" dirty="0"/>
          </a:p>
        </p:txBody>
      </p:sp>
      <p:sp>
        <p:nvSpPr>
          <p:cNvPr id="63" name="Text 61"/>
          <p:cNvSpPr/>
          <p:nvPr/>
        </p:nvSpPr>
        <p:spPr>
          <a:xfrm>
            <a:off x="365760" y="6601968"/>
            <a:ext cx="11430000" cy="182880"/>
          </a:xfrm>
          <a:prstGeom prst="rect">
            <a:avLst/>
          </a:prstGeom>
          <a:noFill/>
          <a:ln/>
        </p:spPr>
        <p:txBody>
          <a:bodyPr wrap="square" rtlCol="0" anchor="ctr"/>
          <a:lstStyle/>
          <a:p>
            <a:pPr indent="0" marL="0">
              <a:buNone/>
            </a:pPr>
            <a:r>
              <a:rPr lang="en-US" sz="750" i="1" dirty="0">
                <a:solidFill>
                  <a:srgbClr val="87AFBF"/>
                </a:solidFill>
                <a:latin typeface="Arial" pitchFamily="34" charset="0"/>
                <a:ea typeface="Arial" pitchFamily="34" charset="-122"/>
                <a:cs typeface="Arial" pitchFamily="34" charset="-120"/>
              </a:rPr>
              <a:t>Full responsibility matrix (59 activities): chilakos.github.io/lakehouse/governance/responsibility-matrix.html</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F3F4FB"/>
          </a:solidFill>
          <a:ln w="12700">
            <a:solidFill>
              <a:srgbClr val="F3F4FB"/>
            </a:solidFill>
            <a:prstDash val="solid"/>
          </a:ln>
        </p:spPr>
      </p:sp>
      <p:sp>
        <p:nvSpPr>
          <p:cNvPr id="3" name="Text 1"/>
          <p:cNvSpPr/>
          <p:nvPr/>
        </p:nvSpPr>
        <p:spPr>
          <a:xfrm>
            <a:off x="274320" y="36576"/>
            <a:ext cx="5486400" cy="164592"/>
          </a:xfrm>
          <a:prstGeom prst="rect">
            <a:avLst/>
          </a:prstGeom>
          <a:noFill/>
          <a:ln/>
        </p:spPr>
        <p:txBody>
          <a:bodyPr wrap="square" rtlCol="0" anchor="ctr"/>
          <a:lstStyle/>
          <a:p>
            <a:pPr indent="0" marL="0">
              <a:buNone/>
            </a:pPr>
            <a:r>
              <a:rPr lang="en-US" sz="700" dirty="0">
                <a:solidFill>
                  <a:srgbClr val="87AFBF"/>
                </a:solidFill>
                <a:latin typeface="Arial" pitchFamily="34" charset="0"/>
                <a:ea typeface="Arial" pitchFamily="34" charset="-122"/>
                <a:cs typeface="Arial" pitchFamily="34" charset="-120"/>
              </a:rPr>
              <a:t>Confidential — Internal Use Only</a:t>
            </a:r>
            <a:endParaRPr lang="en-US" sz="700" dirty="0"/>
          </a:p>
        </p:txBody>
      </p:sp>
      <p:sp>
        <p:nvSpPr>
          <p:cNvPr id="4" name="Text 2"/>
          <p:cNvSpPr/>
          <p:nvPr/>
        </p:nvSpPr>
        <p:spPr>
          <a:xfrm>
            <a:off x="8778240" y="36576"/>
            <a:ext cx="3200400" cy="164592"/>
          </a:xfrm>
          <a:prstGeom prst="rect">
            <a:avLst/>
          </a:prstGeom>
          <a:noFill/>
          <a:ln/>
        </p:spPr>
        <p:txBody>
          <a:bodyPr wrap="square" rtlCol="0" anchor="ctr"/>
          <a:lstStyle/>
          <a:p>
            <a:pPr algn="r" indent="0" marL="0">
              <a:buNone/>
            </a:pPr>
            <a:r>
              <a:rPr lang="en-US" sz="700" dirty="0">
                <a:solidFill>
                  <a:srgbClr val="87AFBF"/>
                </a:solidFill>
                <a:latin typeface="Arial" pitchFamily="34" charset="0"/>
                <a:ea typeface="Arial" pitchFamily="34" charset="-122"/>
                <a:cs typeface="Arial" pitchFamily="34" charset="-120"/>
              </a:rPr>
              <a:t>Lumina · RBC Enterprise Data</a:t>
            </a:r>
            <a:endParaRPr lang="en-US" sz="700" dirty="0"/>
          </a:p>
        </p:txBody>
      </p:sp>
      <p:sp>
        <p:nvSpPr>
          <p:cNvPr id="5" name="Text 3"/>
          <p:cNvSpPr/>
          <p:nvPr/>
        </p:nvSpPr>
        <p:spPr>
          <a:xfrm>
            <a:off x="11704320" y="6629400"/>
            <a:ext cx="365760" cy="182880"/>
          </a:xfrm>
          <a:prstGeom prst="rect">
            <a:avLst/>
          </a:prstGeom>
          <a:noFill/>
          <a:ln/>
        </p:spPr>
        <p:txBody>
          <a:bodyPr wrap="square" rtlCol="0" anchor="ctr"/>
          <a:lstStyle/>
          <a:p>
            <a:pPr algn="r" indent="0" marL="0">
              <a:buNone/>
            </a:pPr>
            <a:r>
              <a:rPr lang="en-US" sz="800" dirty="0">
                <a:solidFill>
                  <a:srgbClr val="87AFBF"/>
                </a:solidFill>
                <a:latin typeface="Arial" pitchFamily="34" charset="0"/>
                <a:ea typeface="Arial" pitchFamily="34" charset="-122"/>
                <a:cs typeface="Arial" pitchFamily="34" charset="-120"/>
              </a:rPr>
              <a:t>3</a:t>
            </a:r>
            <a:endParaRPr lang="en-US" sz="800" dirty="0"/>
          </a:p>
        </p:txBody>
      </p:sp>
      <p:sp>
        <p:nvSpPr>
          <p:cNvPr id="6" name="Text 4"/>
          <p:cNvSpPr/>
          <p:nvPr/>
        </p:nvSpPr>
        <p:spPr>
          <a:xfrm>
            <a:off x="365760" y="310896"/>
            <a:ext cx="11430000" cy="457200"/>
          </a:xfrm>
          <a:prstGeom prst="rect">
            <a:avLst/>
          </a:prstGeom>
          <a:noFill/>
          <a:ln/>
        </p:spPr>
        <p:txBody>
          <a:bodyPr wrap="square" rtlCol="0" anchor="ctr"/>
          <a:lstStyle/>
          <a:p>
            <a:pPr indent="0" marL="0">
              <a:buNone/>
            </a:pPr>
            <a:r>
              <a:rPr lang="en-US" sz="2200" b="1" dirty="0">
                <a:solidFill>
                  <a:srgbClr val="003068"/>
                </a:solidFill>
                <a:latin typeface="Arial" pitchFamily="34" charset="0"/>
                <a:ea typeface="Arial" pitchFamily="34" charset="-122"/>
                <a:cs typeface="Arial" pitchFamily="34" charset="-120"/>
              </a:rPr>
              <a:t>Principles of the New Lakehouse Operating Model</a:t>
            </a:r>
            <a:endParaRPr lang="en-US" sz="2200" dirty="0"/>
          </a:p>
        </p:txBody>
      </p:sp>
      <p:sp>
        <p:nvSpPr>
          <p:cNvPr id="7" name="Text 5"/>
          <p:cNvSpPr/>
          <p:nvPr/>
        </p:nvSpPr>
        <p:spPr>
          <a:xfrm>
            <a:off x="365760" y="768096"/>
            <a:ext cx="11430000" cy="219456"/>
          </a:xfrm>
          <a:prstGeom prst="rect">
            <a:avLst/>
          </a:prstGeom>
          <a:noFill/>
          <a:ln/>
        </p:spPr>
        <p:txBody>
          <a:bodyPr wrap="square" rtlCol="0" anchor="ctr"/>
          <a:lstStyle/>
          <a:p>
            <a:pPr indent="0" marL="0">
              <a:buNone/>
            </a:pPr>
            <a:r>
              <a:rPr lang="en-US" sz="1000" i="1" dirty="0">
                <a:solidFill>
                  <a:srgbClr val="64748B"/>
                </a:solidFill>
                <a:latin typeface="Arial" pitchFamily="34" charset="0"/>
                <a:ea typeface="Arial" pitchFamily="34" charset="-122"/>
                <a:cs typeface="Arial" pitchFamily="34" charset="-120"/>
              </a:rPr>
              <a:t>The non-negotiable behaviours that define how Platform, DMO and Business work together</a:t>
            </a:r>
            <a:endParaRPr lang="en-US" sz="1000" dirty="0"/>
          </a:p>
        </p:txBody>
      </p:sp>
      <p:sp>
        <p:nvSpPr>
          <p:cNvPr id="8" name="Shape 6"/>
          <p:cNvSpPr/>
          <p:nvPr/>
        </p:nvSpPr>
        <p:spPr>
          <a:xfrm>
            <a:off x="365760" y="1005840"/>
            <a:ext cx="11457432" cy="20117"/>
          </a:xfrm>
          <a:prstGeom prst="rect">
            <a:avLst/>
          </a:prstGeom>
          <a:solidFill>
            <a:srgbClr val="87AFBF"/>
          </a:solidFill>
          <a:ln w="12700">
            <a:solidFill>
              <a:srgbClr val="87AFBF"/>
            </a:solidFill>
            <a:prstDash val="solid"/>
          </a:ln>
        </p:spPr>
      </p:sp>
      <p:sp>
        <p:nvSpPr>
          <p:cNvPr id="9" name="Shape 7"/>
          <p:cNvSpPr/>
          <p:nvPr/>
        </p:nvSpPr>
        <p:spPr>
          <a:xfrm>
            <a:off x="320040" y="1115568"/>
            <a:ext cx="5577840" cy="2606040"/>
          </a:xfrm>
          <a:prstGeom prst="rect">
            <a:avLst>
              <a:gd name="adj" fmla="val 3509"/>
            </a:avLst>
          </a:prstGeom>
          <a:solidFill>
            <a:srgbClr val="EFF6FF"/>
          </a:solidFill>
          <a:ln w="12700">
            <a:solidFill>
              <a:srgbClr val="BFDBFE"/>
            </a:solidFill>
            <a:prstDash val="solid"/>
          </a:ln>
        </p:spPr>
      </p:sp>
      <p:sp>
        <p:nvSpPr>
          <p:cNvPr id="10" name="Shape 8"/>
          <p:cNvSpPr/>
          <p:nvPr/>
        </p:nvSpPr>
        <p:spPr>
          <a:xfrm>
            <a:off x="320040" y="1115568"/>
            <a:ext cx="5577840" cy="54864"/>
          </a:xfrm>
          <a:prstGeom prst="rect">
            <a:avLst>
              <a:gd name="adj" fmla="val 166667"/>
            </a:avLst>
          </a:prstGeom>
          <a:solidFill>
            <a:srgbClr val="3068FF"/>
          </a:solidFill>
          <a:ln w="12700">
            <a:solidFill>
              <a:srgbClr val="3068FF"/>
            </a:solidFill>
            <a:prstDash val="solid"/>
          </a:ln>
        </p:spPr>
      </p:sp>
      <p:sp>
        <p:nvSpPr>
          <p:cNvPr id="11" name="Shape 9"/>
          <p:cNvSpPr/>
          <p:nvPr/>
        </p:nvSpPr>
        <p:spPr>
          <a:xfrm>
            <a:off x="320040" y="1143000"/>
            <a:ext cx="5577840" cy="54864"/>
          </a:xfrm>
          <a:prstGeom prst="rect">
            <a:avLst/>
          </a:prstGeom>
          <a:solidFill>
            <a:srgbClr val="3068FF"/>
          </a:solidFill>
          <a:ln w="12700">
            <a:solidFill>
              <a:srgbClr val="3068FF"/>
            </a:solidFill>
            <a:prstDash val="solid"/>
          </a:ln>
        </p:spPr>
      </p:sp>
      <p:sp>
        <p:nvSpPr>
          <p:cNvPr id="12" name="Shape 10"/>
          <p:cNvSpPr/>
          <p:nvPr/>
        </p:nvSpPr>
        <p:spPr>
          <a:xfrm>
            <a:off x="484632" y="1252728"/>
            <a:ext cx="475488" cy="475488"/>
          </a:xfrm>
          <a:prstGeom prst="ellipse">
            <a:avLst/>
          </a:prstGeom>
          <a:solidFill>
            <a:srgbClr val="3068FF"/>
          </a:solidFill>
          <a:ln w="12700">
            <a:solidFill>
              <a:srgbClr val="3068FF"/>
            </a:solidFill>
            <a:prstDash val="solid"/>
          </a:ln>
        </p:spPr>
      </p:sp>
      <p:sp>
        <p:nvSpPr>
          <p:cNvPr id="13" name="Text 11"/>
          <p:cNvSpPr/>
          <p:nvPr/>
        </p:nvSpPr>
        <p:spPr>
          <a:xfrm>
            <a:off x="484632" y="1252728"/>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01</a:t>
            </a:r>
            <a:endParaRPr lang="en-US" sz="1200" dirty="0"/>
          </a:p>
        </p:txBody>
      </p:sp>
      <p:sp>
        <p:nvSpPr>
          <p:cNvPr id="14" name="Text 12"/>
          <p:cNvSpPr/>
          <p:nvPr/>
        </p:nvSpPr>
        <p:spPr>
          <a:xfrm>
            <a:off x="1069848" y="1243584"/>
            <a:ext cx="4663440" cy="512064"/>
          </a:xfrm>
          <a:prstGeom prst="rect">
            <a:avLst/>
          </a:prstGeom>
          <a:noFill/>
          <a:ln/>
        </p:spPr>
        <p:txBody>
          <a:bodyPr wrap="square" lIns="0" tIns="0" rIns="0" bIns="0" rtlCol="0" anchor="ctr"/>
          <a:lstStyle/>
          <a:p>
            <a:pPr indent="0" marL="0">
              <a:buNone/>
            </a:pPr>
            <a:r>
              <a:rPr lang="en-US" sz="1200" b="1" dirty="0">
                <a:solidFill>
                  <a:srgbClr val="3068FF"/>
                </a:solidFill>
                <a:latin typeface="Arial" pitchFamily="34" charset="0"/>
                <a:ea typeface="Arial" pitchFamily="34" charset="-122"/>
                <a:cs typeface="Arial" pitchFamily="34" charset="-120"/>
              </a:rPr>
              <a:t>Platform builds the highway — Business drives on it</a:t>
            </a:r>
            <a:endParaRPr lang="en-US" sz="1200" dirty="0"/>
          </a:p>
        </p:txBody>
      </p:sp>
      <p:sp>
        <p:nvSpPr>
          <p:cNvPr id="15" name="Shape 13"/>
          <p:cNvSpPr/>
          <p:nvPr/>
        </p:nvSpPr>
        <p:spPr>
          <a:xfrm>
            <a:off x="484632" y="1828800"/>
            <a:ext cx="5248656" cy="18288"/>
          </a:xfrm>
          <a:prstGeom prst="rect">
            <a:avLst/>
          </a:prstGeom>
          <a:solidFill>
            <a:srgbClr val="BFDBFE"/>
          </a:solidFill>
          <a:ln w="12700">
            <a:solidFill>
              <a:srgbClr val="BFDBFE"/>
            </a:solidFill>
            <a:prstDash val="solid"/>
          </a:ln>
        </p:spPr>
      </p:sp>
      <p:sp>
        <p:nvSpPr>
          <p:cNvPr id="16" name="Text 14"/>
          <p:cNvSpPr/>
          <p:nvPr/>
        </p:nvSpPr>
        <p:spPr>
          <a:xfrm>
            <a:off x="484632" y="1920240"/>
            <a:ext cx="5248656" cy="1636776"/>
          </a:xfrm>
          <a:prstGeom prst="rect">
            <a:avLst/>
          </a:prstGeom>
          <a:noFill/>
          <a:ln/>
        </p:spPr>
        <p:txBody>
          <a:bodyPr wrap="square" rtlCol="0" anchor="t"/>
          <a:lstStyle/>
          <a:p>
            <a:pPr indent="0" marL="0">
              <a:lnSpc>
                <a:spcPct val="120000"/>
              </a:lnSpc>
              <a:buNone/>
            </a:pPr>
            <a:r>
              <a:rPr lang="en-US" sz="900" dirty="0">
                <a:solidFill>
                  <a:srgbClr val="222730"/>
                </a:solidFill>
                <a:latin typeface="Arial" pitchFamily="34" charset="0"/>
                <a:ea typeface="Arial" pitchFamily="34" charset="-122"/>
                <a:cs typeface="Arial" pitchFamily="34" charset="-120"/>
              </a:rPr>
              <a:t>The Platform Team is responsible for infrastructure, pipelines, and the technical framework. Business and DMO are responsible for what the data means, whether it is correct, and when legacy systems can be retired. Blurring this boundary — Platform self-certifying migrations, or Business directing engineering decisions — is the most common failure mode in platform programmes.</a:t>
            </a:r>
            <a:endParaRPr lang="en-US" sz="900" dirty="0"/>
          </a:p>
        </p:txBody>
      </p:sp>
      <p:sp>
        <p:nvSpPr>
          <p:cNvPr id="17" name="Shape 15"/>
          <p:cNvSpPr/>
          <p:nvPr/>
        </p:nvSpPr>
        <p:spPr>
          <a:xfrm>
            <a:off x="6163056" y="1115568"/>
            <a:ext cx="5577840" cy="2606040"/>
          </a:xfrm>
          <a:prstGeom prst="rect">
            <a:avLst>
              <a:gd name="adj" fmla="val 3509"/>
            </a:avLst>
          </a:prstGeom>
          <a:solidFill>
            <a:srgbClr val="ECFEFF"/>
          </a:solidFill>
          <a:ln w="12700">
            <a:solidFill>
              <a:srgbClr val="A5F3FC"/>
            </a:solidFill>
            <a:prstDash val="solid"/>
          </a:ln>
        </p:spPr>
      </p:sp>
      <p:sp>
        <p:nvSpPr>
          <p:cNvPr id="18" name="Shape 16"/>
          <p:cNvSpPr/>
          <p:nvPr/>
        </p:nvSpPr>
        <p:spPr>
          <a:xfrm>
            <a:off x="6163056" y="1115568"/>
            <a:ext cx="5577840" cy="54864"/>
          </a:xfrm>
          <a:prstGeom prst="rect">
            <a:avLst>
              <a:gd name="adj" fmla="val 166667"/>
            </a:avLst>
          </a:prstGeom>
          <a:solidFill>
            <a:srgbClr val="0891B2"/>
          </a:solidFill>
          <a:ln w="12700">
            <a:solidFill>
              <a:srgbClr val="0891B2"/>
            </a:solidFill>
            <a:prstDash val="solid"/>
          </a:ln>
        </p:spPr>
      </p:sp>
      <p:sp>
        <p:nvSpPr>
          <p:cNvPr id="19" name="Shape 17"/>
          <p:cNvSpPr/>
          <p:nvPr/>
        </p:nvSpPr>
        <p:spPr>
          <a:xfrm>
            <a:off x="6163056" y="1143000"/>
            <a:ext cx="5577840" cy="54864"/>
          </a:xfrm>
          <a:prstGeom prst="rect">
            <a:avLst/>
          </a:prstGeom>
          <a:solidFill>
            <a:srgbClr val="0891B2"/>
          </a:solidFill>
          <a:ln w="12700">
            <a:solidFill>
              <a:srgbClr val="0891B2"/>
            </a:solidFill>
            <a:prstDash val="solid"/>
          </a:ln>
        </p:spPr>
      </p:sp>
      <p:sp>
        <p:nvSpPr>
          <p:cNvPr id="20" name="Shape 18"/>
          <p:cNvSpPr/>
          <p:nvPr/>
        </p:nvSpPr>
        <p:spPr>
          <a:xfrm>
            <a:off x="6327648" y="1252728"/>
            <a:ext cx="475488" cy="475488"/>
          </a:xfrm>
          <a:prstGeom prst="ellipse">
            <a:avLst/>
          </a:prstGeom>
          <a:solidFill>
            <a:srgbClr val="0891B2"/>
          </a:solidFill>
          <a:ln w="12700">
            <a:solidFill>
              <a:srgbClr val="0891B2"/>
            </a:solidFill>
            <a:prstDash val="solid"/>
          </a:ln>
        </p:spPr>
      </p:sp>
      <p:sp>
        <p:nvSpPr>
          <p:cNvPr id="21" name="Text 19"/>
          <p:cNvSpPr/>
          <p:nvPr/>
        </p:nvSpPr>
        <p:spPr>
          <a:xfrm>
            <a:off x="6327648" y="1252728"/>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02</a:t>
            </a:r>
            <a:endParaRPr lang="en-US" sz="1200" dirty="0"/>
          </a:p>
        </p:txBody>
      </p:sp>
      <p:sp>
        <p:nvSpPr>
          <p:cNvPr id="22" name="Text 20"/>
          <p:cNvSpPr/>
          <p:nvPr/>
        </p:nvSpPr>
        <p:spPr>
          <a:xfrm>
            <a:off x="6912864" y="1243584"/>
            <a:ext cx="4663440" cy="512064"/>
          </a:xfrm>
          <a:prstGeom prst="rect">
            <a:avLst/>
          </a:prstGeom>
          <a:noFill/>
          <a:ln/>
        </p:spPr>
        <p:txBody>
          <a:bodyPr wrap="square" lIns="0" tIns="0" rIns="0" bIns="0" rtlCol="0" anchor="ctr"/>
          <a:lstStyle/>
          <a:p>
            <a:pPr indent="0" marL="0">
              <a:buNone/>
            </a:pPr>
            <a:r>
              <a:rPr lang="en-US" sz="1200" b="1" dirty="0">
                <a:solidFill>
                  <a:srgbClr val="0891B2"/>
                </a:solidFill>
                <a:latin typeface="Arial" pitchFamily="34" charset="0"/>
                <a:ea typeface="Arial" pitchFamily="34" charset="-122"/>
                <a:cs typeface="Arial" pitchFamily="34" charset="-120"/>
              </a:rPr>
              <a:t>One truth, two surfaces — no exceptions</a:t>
            </a:r>
            <a:endParaRPr lang="en-US" sz="1200" dirty="0"/>
          </a:p>
        </p:txBody>
      </p:sp>
      <p:sp>
        <p:nvSpPr>
          <p:cNvPr id="23" name="Shape 21"/>
          <p:cNvSpPr/>
          <p:nvPr/>
        </p:nvSpPr>
        <p:spPr>
          <a:xfrm>
            <a:off x="6327648" y="1828800"/>
            <a:ext cx="5248656" cy="18288"/>
          </a:xfrm>
          <a:prstGeom prst="rect">
            <a:avLst/>
          </a:prstGeom>
          <a:solidFill>
            <a:srgbClr val="A5F3FC"/>
          </a:solidFill>
          <a:ln w="12700">
            <a:solidFill>
              <a:srgbClr val="A5F3FC"/>
            </a:solidFill>
            <a:prstDash val="solid"/>
          </a:ln>
        </p:spPr>
      </p:sp>
      <p:sp>
        <p:nvSpPr>
          <p:cNvPr id="24" name="Text 22"/>
          <p:cNvSpPr/>
          <p:nvPr/>
        </p:nvSpPr>
        <p:spPr>
          <a:xfrm>
            <a:off x="6327648" y="1920240"/>
            <a:ext cx="5248656" cy="1636776"/>
          </a:xfrm>
          <a:prstGeom prst="rect">
            <a:avLst/>
          </a:prstGeom>
          <a:noFill/>
          <a:ln/>
        </p:spPr>
        <p:txBody>
          <a:bodyPr wrap="square" rtlCol="0" anchor="t"/>
          <a:lstStyle/>
          <a:p>
            <a:pPr indent="0" marL="0">
              <a:lnSpc>
                <a:spcPct val="120000"/>
              </a:lnSpc>
              <a:buNone/>
            </a:pPr>
            <a:r>
              <a:rPr lang="en-US" sz="900" dirty="0">
                <a:solidFill>
                  <a:srgbClr val="222730"/>
                </a:solidFill>
                <a:latin typeface="Arial" pitchFamily="34" charset="0"/>
                <a:ea typeface="Arial" pitchFamily="34" charset="-122"/>
                <a:cs typeface="Arial" pitchFamily="34" charset="-120"/>
              </a:rPr>
              <a:t>Gold Iceberg on-prem is the single authoritative data source. Fabric provides the BI and AI surface; Trino provides the compute surface. Every number — Power BI dashboard, RBC Assist AI answer, Tableau report, or regulatory submission — traces to the same Gold table, the same transformation logic, and the same lineage path. Domain-specific data stores that diverge from Gold are not permitted.</a:t>
            </a:r>
            <a:endParaRPr lang="en-US" sz="900" dirty="0"/>
          </a:p>
        </p:txBody>
      </p:sp>
      <p:sp>
        <p:nvSpPr>
          <p:cNvPr id="25" name="Shape 23"/>
          <p:cNvSpPr/>
          <p:nvPr/>
        </p:nvSpPr>
        <p:spPr>
          <a:xfrm>
            <a:off x="320040" y="3913632"/>
            <a:ext cx="5577840" cy="2606040"/>
          </a:xfrm>
          <a:prstGeom prst="rect">
            <a:avLst>
              <a:gd name="adj" fmla="val 3509"/>
            </a:avLst>
          </a:prstGeom>
          <a:solidFill>
            <a:srgbClr val="FAF5FF"/>
          </a:solidFill>
          <a:ln w="12700">
            <a:solidFill>
              <a:srgbClr val="DDD6FE"/>
            </a:solidFill>
            <a:prstDash val="solid"/>
          </a:ln>
        </p:spPr>
      </p:sp>
      <p:sp>
        <p:nvSpPr>
          <p:cNvPr id="26" name="Shape 24"/>
          <p:cNvSpPr/>
          <p:nvPr/>
        </p:nvSpPr>
        <p:spPr>
          <a:xfrm>
            <a:off x="320040" y="3913632"/>
            <a:ext cx="5577840" cy="54864"/>
          </a:xfrm>
          <a:prstGeom prst="rect">
            <a:avLst>
              <a:gd name="adj" fmla="val 166667"/>
            </a:avLst>
          </a:prstGeom>
          <a:solidFill>
            <a:srgbClr val="4C1D95"/>
          </a:solidFill>
          <a:ln w="12700">
            <a:solidFill>
              <a:srgbClr val="4C1D95"/>
            </a:solidFill>
            <a:prstDash val="solid"/>
          </a:ln>
        </p:spPr>
      </p:sp>
      <p:sp>
        <p:nvSpPr>
          <p:cNvPr id="27" name="Shape 25"/>
          <p:cNvSpPr/>
          <p:nvPr/>
        </p:nvSpPr>
        <p:spPr>
          <a:xfrm>
            <a:off x="320040" y="3941064"/>
            <a:ext cx="5577840" cy="54864"/>
          </a:xfrm>
          <a:prstGeom prst="rect">
            <a:avLst/>
          </a:prstGeom>
          <a:solidFill>
            <a:srgbClr val="4C1D95"/>
          </a:solidFill>
          <a:ln w="12700">
            <a:solidFill>
              <a:srgbClr val="4C1D95"/>
            </a:solidFill>
            <a:prstDash val="solid"/>
          </a:ln>
        </p:spPr>
      </p:sp>
      <p:sp>
        <p:nvSpPr>
          <p:cNvPr id="28" name="Shape 26"/>
          <p:cNvSpPr/>
          <p:nvPr/>
        </p:nvSpPr>
        <p:spPr>
          <a:xfrm>
            <a:off x="484632" y="4050792"/>
            <a:ext cx="475488" cy="475488"/>
          </a:xfrm>
          <a:prstGeom prst="ellipse">
            <a:avLst/>
          </a:prstGeom>
          <a:solidFill>
            <a:srgbClr val="4C1D95"/>
          </a:solidFill>
          <a:ln w="12700">
            <a:solidFill>
              <a:srgbClr val="4C1D95"/>
            </a:solidFill>
            <a:prstDash val="solid"/>
          </a:ln>
        </p:spPr>
      </p:sp>
      <p:sp>
        <p:nvSpPr>
          <p:cNvPr id="29" name="Text 27"/>
          <p:cNvSpPr/>
          <p:nvPr/>
        </p:nvSpPr>
        <p:spPr>
          <a:xfrm>
            <a:off x="484632" y="4050792"/>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03</a:t>
            </a:r>
            <a:endParaRPr lang="en-US" sz="1200" dirty="0"/>
          </a:p>
        </p:txBody>
      </p:sp>
      <p:sp>
        <p:nvSpPr>
          <p:cNvPr id="30" name="Text 28"/>
          <p:cNvSpPr/>
          <p:nvPr/>
        </p:nvSpPr>
        <p:spPr>
          <a:xfrm>
            <a:off x="1069848" y="4041648"/>
            <a:ext cx="4663440" cy="512064"/>
          </a:xfrm>
          <a:prstGeom prst="rect">
            <a:avLst/>
          </a:prstGeom>
          <a:noFill/>
          <a:ln/>
        </p:spPr>
        <p:txBody>
          <a:bodyPr wrap="square" lIns="0" tIns="0" rIns="0" bIns="0" rtlCol="0" anchor="ctr"/>
          <a:lstStyle/>
          <a:p>
            <a:pPr indent="0" marL="0">
              <a:buNone/>
            </a:pPr>
            <a:r>
              <a:rPr lang="en-US" sz="1200" b="1" dirty="0">
                <a:solidFill>
                  <a:srgbClr val="4C1D95"/>
                </a:solidFill>
                <a:latin typeface="Arial" pitchFamily="34" charset="0"/>
                <a:ea typeface="Arial" pitchFamily="34" charset="-122"/>
                <a:cs typeface="Arial" pitchFamily="34" charset="-120"/>
              </a:rPr>
              <a:t>Governed by design, not by approval</a:t>
            </a:r>
            <a:endParaRPr lang="en-US" sz="1200" dirty="0"/>
          </a:p>
        </p:txBody>
      </p:sp>
      <p:sp>
        <p:nvSpPr>
          <p:cNvPr id="31" name="Shape 29"/>
          <p:cNvSpPr/>
          <p:nvPr/>
        </p:nvSpPr>
        <p:spPr>
          <a:xfrm>
            <a:off x="484632" y="4626864"/>
            <a:ext cx="5248656" cy="18288"/>
          </a:xfrm>
          <a:prstGeom prst="rect">
            <a:avLst/>
          </a:prstGeom>
          <a:solidFill>
            <a:srgbClr val="DDD6FE"/>
          </a:solidFill>
          <a:ln w="12700">
            <a:solidFill>
              <a:srgbClr val="DDD6FE"/>
            </a:solidFill>
            <a:prstDash val="solid"/>
          </a:ln>
        </p:spPr>
      </p:sp>
      <p:sp>
        <p:nvSpPr>
          <p:cNvPr id="32" name="Text 30"/>
          <p:cNvSpPr/>
          <p:nvPr/>
        </p:nvSpPr>
        <p:spPr>
          <a:xfrm>
            <a:off x="484632" y="4718304"/>
            <a:ext cx="5248656" cy="1636776"/>
          </a:xfrm>
          <a:prstGeom prst="rect">
            <a:avLst/>
          </a:prstGeom>
          <a:noFill/>
          <a:ln/>
        </p:spPr>
        <p:txBody>
          <a:bodyPr wrap="square" rtlCol="0" anchor="t"/>
          <a:lstStyle/>
          <a:p>
            <a:pPr indent="0" marL="0">
              <a:lnSpc>
                <a:spcPct val="120000"/>
              </a:lnSpc>
              <a:buNone/>
            </a:pPr>
            <a:r>
              <a:rPr lang="en-US" sz="900" dirty="0">
                <a:solidFill>
                  <a:srgbClr val="222730"/>
                </a:solidFill>
                <a:latin typeface="Arial" pitchFamily="34" charset="0"/>
                <a:ea typeface="Arial" pitchFamily="34" charset="-122"/>
                <a:cs typeface="Arial" pitchFamily="34" charset="-120"/>
              </a:rPr>
              <a:t>Security masking, data quality gates, and column-level lineage are embedded in the pipeline framework — not applied after delivery. A new table is automatically classified and default-denied when it lands in Bronze. Compliance is structural: if it can be bypassed, it is not a control. The cost of building governance in later is ten times the cost of building it in now.</a:t>
            </a:r>
            <a:endParaRPr lang="en-US" sz="900" dirty="0"/>
          </a:p>
        </p:txBody>
      </p:sp>
      <p:sp>
        <p:nvSpPr>
          <p:cNvPr id="33" name="Shape 31"/>
          <p:cNvSpPr/>
          <p:nvPr/>
        </p:nvSpPr>
        <p:spPr>
          <a:xfrm>
            <a:off x="6163056" y="3913632"/>
            <a:ext cx="5577840" cy="2606040"/>
          </a:xfrm>
          <a:prstGeom prst="rect">
            <a:avLst>
              <a:gd name="adj" fmla="val 3509"/>
            </a:avLst>
          </a:prstGeom>
          <a:solidFill>
            <a:srgbClr val="ECFDF5"/>
          </a:solidFill>
          <a:ln w="12700">
            <a:solidFill>
              <a:srgbClr val="A7F3D0"/>
            </a:solidFill>
            <a:prstDash val="solid"/>
          </a:ln>
        </p:spPr>
      </p:sp>
      <p:sp>
        <p:nvSpPr>
          <p:cNvPr id="34" name="Shape 32"/>
          <p:cNvSpPr/>
          <p:nvPr/>
        </p:nvSpPr>
        <p:spPr>
          <a:xfrm>
            <a:off x="6163056" y="3913632"/>
            <a:ext cx="5577840" cy="54864"/>
          </a:xfrm>
          <a:prstGeom prst="rect">
            <a:avLst>
              <a:gd name="adj" fmla="val 166667"/>
            </a:avLst>
          </a:prstGeom>
          <a:solidFill>
            <a:srgbClr val="059669"/>
          </a:solidFill>
          <a:ln w="12700">
            <a:solidFill>
              <a:srgbClr val="059669"/>
            </a:solidFill>
            <a:prstDash val="solid"/>
          </a:ln>
        </p:spPr>
      </p:sp>
      <p:sp>
        <p:nvSpPr>
          <p:cNvPr id="35" name="Shape 33"/>
          <p:cNvSpPr/>
          <p:nvPr/>
        </p:nvSpPr>
        <p:spPr>
          <a:xfrm>
            <a:off x="6163056" y="3941064"/>
            <a:ext cx="5577840" cy="54864"/>
          </a:xfrm>
          <a:prstGeom prst="rect">
            <a:avLst/>
          </a:prstGeom>
          <a:solidFill>
            <a:srgbClr val="059669"/>
          </a:solidFill>
          <a:ln w="12700">
            <a:solidFill>
              <a:srgbClr val="059669"/>
            </a:solidFill>
            <a:prstDash val="solid"/>
          </a:ln>
        </p:spPr>
      </p:sp>
      <p:sp>
        <p:nvSpPr>
          <p:cNvPr id="36" name="Shape 34"/>
          <p:cNvSpPr/>
          <p:nvPr/>
        </p:nvSpPr>
        <p:spPr>
          <a:xfrm>
            <a:off x="6327648" y="4050792"/>
            <a:ext cx="475488" cy="475488"/>
          </a:xfrm>
          <a:prstGeom prst="ellipse">
            <a:avLst/>
          </a:prstGeom>
          <a:solidFill>
            <a:srgbClr val="059669"/>
          </a:solidFill>
          <a:ln w="12700">
            <a:solidFill>
              <a:srgbClr val="059669"/>
            </a:solidFill>
            <a:prstDash val="solid"/>
          </a:ln>
        </p:spPr>
      </p:sp>
      <p:sp>
        <p:nvSpPr>
          <p:cNvPr id="37" name="Text 35"/>
          <p:cNvSpPr/>
          <p:nvPr/>
        </p:nvSpPr>
        <p:spPr>
          <a:xfrm>
            <a:off x="6327648" y="4050792"/>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04</a:t>
            </a:r>
            <a:endParaRPr lang="en-US" sz="1200" dirty="0"/>
          </a:p>
        </p:txBody>
      </p:sp>
      <p:sp>
        <p:nvSpPr>
          <p:cNvPr id="38" name="Text 36"/>
          <p:cNvSpPr/>
          <p:nvPr/>
        </p:nvSpPr>
        <p:spPr>
          <a:xfrm>
            <a:off x="6912864" y="4041648"/>
            <a:ext cx="4663440" cy="512064"/>
          </a:xfrm>
          <a:prstGeom prst="rect">
            <a:avLst/>
          </a:prstGeom>
          <a:noFill/>
          <a:ln/>
        </p:spPr>
        <p:txBody>
          <a:bodyPr wrap="square" lIns="0" tIns="0" rIns="0" bIns="0" rtlCol="0" anchor="ctr"/>
          <a:lstStyle/>
          <a:p>
            <a:pPr indent="0" marL="0">
              <a:buNone/>
            </a:pPr>
            <a:r>
              <a:rPr lang="en-US" sz="1200" b="1" dirty="0">
                <a:solidFill>
                  <a:srgbClr val="059669"/>
                </a:solidFill>
                <a:latin typeface="Arial" pitchFamily="34" charset="0"/>
                <a:ea typeface="Arial" pitchFamily="34" charset="-122"/>
                <a:cs typeface="Arial" pitchFamily="34" charset="-120"/>
              </a:rPr>
              <a:t>Migration is complete when Business confirms parity</a:t>
            </a:r>
            <a:endParaRPr lang="en-US" sz="1200" dirty="0"/>
          </a:p>
        </p:txBody>
      </p:sp>
      <p:sp>
        <p:nvSpPr>
          <p:cNvPr id="39" name="Shape 37"/>
          <p:cNvSpPr/>
          <p:nvPr/>
        </p:nvSpPr>
        <p:spPr>
          <a:xfrm>
            <a:off x="6327648" y="4626864"/>
            <a:ext cx="5248656" cy="18288"/>
          </a:xfrm>
          <a:prstGeom prst="rect">
            <a:avLst/>
          </a:prstGeom>
          <a:solidFill>
            <a:srgbClr val="A7F3D0"/>
          </a:solidFill>
          <a:ln w="12700">
            <a:solidFill>
              <a:srgbClr val="A7F3D0"/>
            </a:solidFill>
            <a:prstDash val="solid"/>
          </a:ln>
        </p:spPr>
      </p:sp>
      <p:sp>
        <p:nvSpPr>
          <p:cNvPr id="40" name="Text 38"/>
          <p:cNvSpPr/>
          <p:nvPr/>
        </p:nvSpPr>
        <p:spPr>
          <a:xfrm>
            <a:off x="6327648" y="4718304"/>
            <a:ext cx="5248656" cy="1636776"/>
          </a:xfrm>
          <a:prstGeom prst="rect">
            <a:avLst/>
          </a:prstGeom>
          <a:noFill/>
          <a:ln/>
        </p:spPr>
        <p:txBody>
          <a:bodyPr wrap="square" rtlCol="0" anchor="t"/>
          <a:lstStyle/>
          <a:p>
            <a:pPr indent="0" marL="0">
              <a:lnSpc>
                <a:spcPct val="120000"/>
              </a:lnSpc>
              <a:buNone/>
            </a:pPr>
            <a:r>
              <a:rPr lang="en-US" sz="900" dirty="0">
                <a:solidFill>
                  <a:srgbClr val="222730"/>
                </a:solidFill>
                <a:latin typeface="Arial" pitchFamily="34" charset="0"/>
                <a:ea typeface="Arial" pitchFamily="34" charset="-122"/>
                <a:cs typeface="Arial" pitchFamily="34" charset="-120"/>
              </a:rPr>
              <a:t>The Platform Team cannot self-certify a migration. DataStage jobs are not retired until Business validates that new Python pipelines produce identical output. Teradata tables are not decommissioned until Business confirms no downstream consumer — including manual queries, scheduled extracts, and spreadsheet feeds — depends on them. No platform team unilaterally declares a legacy system safe to switch off.</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Lumina Responsibility — Who Does What</dc:title>
  <dc:subject>PptxGenJS Presentation</dc:subject>
  <dc:creator>PptxGenJS</dc:creator>
  <cp:lastModifiedBy>PptxGenJS</cp:lastModifiedBy>
  <cp:revision>1</cp:revision>
  <dcterms:created xsi:type="dcterms:W3CDTF">2026-04-14T13:56:58Z</dcterms:created>
  <dcterms:modified xsi:type="dcterms:W3CDTF">2026-04-14T13:56:58Z</dcterms:modified>
</cp:coreProperties>
</file>