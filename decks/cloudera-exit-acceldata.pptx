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27"/>
    <p:sldId id="266" r:id="rId12"/>
    <p:sldId id="267" r:id="rId13"/>
    <p:sldId id="277" r:id="rId28"/>
    <p:sldId id="278" r:id="rId29"/>
    <p:sldId id="279" r:id="rId30"/>
    <p:sldId id="280" r:id="rId31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Cloudera, on Acceldata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distribution swap  ·  Same data, same apps  ·  Modernize on our terms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6-month contract-driven program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0" y="5852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— Alternative Approach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and why this is a deadline, not a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945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a hard stop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contract expires. No extension available. No bridge license.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55448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EDL applications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943600" y="1965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lines of business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937760" y="265176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8346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~66,000 tables · ~40,000 jobs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5943600" y="3063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on-prem HDFS storage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374904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9319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3794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Sensitive / Confidential / Internal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943600" y="4160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day-one, sovereignty matters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937760" y="484632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50292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43600" y="4892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&amp; Power BI on top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5943600" y="5257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Highest-visibility blast radius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937760" y="5943600"/>
            <a:ext cx="667512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29200" y="59893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Cloudera is the problem, not the architecture. </a:t>
            </a:r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distribution. Modernize on our terms.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estate at a glance — what we're actually migrating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01568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81728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44768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6949440" cy="3657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81728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44768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6949440" cy="3657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81728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291840"/>
            <a:ext cx="6949440" cy="3657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 (QTS)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01568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01568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81728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44768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6949440" cy="3657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01568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81728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44768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Infra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01568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81728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44768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754880"/>
            <a:ext cx="694944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01568" y="4754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81728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44768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72400" y="141732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09560" y="2103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Internal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09560" y="2103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40.86%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09560" y="2331720"/>
            <a:ext cx="3566160" cy="146304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09560" y="2331720"/>
            <a:ext cx="1457133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09560" y="2606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09560" y="2606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32.93%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09560" y="2834640"/>
            <a:ext cx="3566160" cy="146304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9560" y="2834640"/>
            <a:ext cx="1174336" cy="146304"/>
          </a:xfrm>
          <a:prstGeom prst="rect">
            <a:avLst/>
          </a:prstGeom>
          <a:solidFill>
            <a:srgbClr val="151B45"/>
          </a:solidFill>
          <a:ln w="12700">
            <a:solidFill>
              <a:srgbClr val="151B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956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90956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25.95%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09560" y="3337560"/>
            <a:ext cx="3566160" cy="146304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3337560"/>
            <a:ext cx="925419" cy="146304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3611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909560" y="3611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909560" y="3840480"/>
            <a:ext cx="3566160" cy="146304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09560" y="3840480"/>
            <a:ext cx="36576" cy="14630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9560" y="4114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909560" y="4114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909560" y="4343400"/>
            <a:ext cx="3566160" cy="146304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09560" y="4343400"/>
            <a:ext cx="36576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0" y="4434840"/>
            <a:ext cx="38404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0" y="45262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5600" dirty="0"/>
          </a:p>
        </p:txBody>
      </p:sp>
      <p:sp>
        <p:nvSpPr>
          <p:cNvPr id="74" name="Text 72"/>
          <p:cNvSpPr/>
          <p:nvPr/>
        </p:nvSpPr>
        <p:spPr>
          <a:xfrm>
            <a:off x="7955280" y="5349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has classifications that argue for on-prem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Sovereignty as a feature.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isn't a constraint we're accepting — it's a property we're keeping.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frame — Cloudera is the problem, not on-prem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buying off Cloudera. Not buying a new architecture.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Cloudera's distribution for Acceldata ODP. Same data, same apps, same SQL. Modernize deliberately in a planned Year-2 program.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661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3566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32588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deadline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upgrades complete in 8-hour maintenance windows. Per-cluster, wave-by-wave. The contract goes away on time, with rollback paths intact.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926080"/>
            <a:ext cx="35661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926080"/>
            <a:ext cx="3566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07492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disruption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HDFS storage. Same Hive tables. Same SQL dialect. Same BI connectivity. Apps revalidate against new binaries — no rewrites, no consumer repoints.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926080"/>
            <a:ext cx="35661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926080"/>
            <a:ext cx="3566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82396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deliberately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931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modernization (object storage, Iceberg, Trino, Snowflake/Databricks) is a separately-funded Year-2 program with its own charter. Not a stowaway in a contract exit.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frame matters: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questions will probe "why not modernize while we're at it?" — this slide is the answer.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paths off Cloudera — what we evaluated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11680" cy="9144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417320"/>
            <a:ext cx="22631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5087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7830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All-cloud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everywhere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23460" y="1417320"/>
            <a:ext cx="22631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3460" y="15087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3460" y="17830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on-prem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3460" y="20116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Starburst + Databricks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417320"/>
            <a:ext cx="226314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463040"/>
            <a:ext cx="2263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86600" y="164592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192024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swap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13055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ODP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49740" y="1417320"/>
            <a:ext cx="22631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9740" y="15087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49740" y="17830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Snowflake-led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49740" y="20116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Databricks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feasibility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233172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50088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23317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3460" y="233172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06340" y="250088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4940" y="23317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6600" y="233172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250088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3317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49740" y="233172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32620" y="250088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61220" y="23317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283464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rework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283464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3003804"/>
            <a:ext cx="164592" cy="16459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28346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23460" y="283464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06340" y="3003804"/>
            <a:ext cx="164592" cy="16459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4940" y="28346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86600" y="283464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9480" y="300380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28346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349740" y="283464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32620" y="3003804"/>
            <a:ext cx="164592" cy="16459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61220" y="28346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333756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consumer impact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60320" y="333756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350672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333756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23460" y="333756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06340" y="350672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4940" y="333756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86600" y="333756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69480" y="350672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333756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349740" y="333756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32620" y="350672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61220" y="333756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384048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risk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560320" y="384048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0" y="4009644"/>
            <a:ext cx="164592" cy="16459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71800" y="384048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823460" y="384048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06340" y="400964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34940" y="384048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086600" y="384048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69480" y="400964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0" y="384048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349740" y="384048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32620" y="4009644"/>
            <a:ext cx="164592" cy="16459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61220" y="384048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8640" y="434340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580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560320" y="434340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451256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71800" y="434340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823460" y="434340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06340" y="451256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34940" y="434340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086600" y="434340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269480" y="451256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98080" y="434340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349740" y="434340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32620" y="451256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761220" y="434340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48640" y="484632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5800" y="4846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(run-rate)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560320" y="484632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43200" y="501548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71800" y="48463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823460" y="484632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06340" y="501548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34940" y="48463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086600" y="484632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269480" y="501548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98080" y="48463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349740" y="484632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532620" y="501548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61220" y="48463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548640" y="5349240"/>
            <a:ext cx="2011680" cy="502920"/>
          </a:xfrm>
          <a:prstGeom prst="rect">
            <a:avLst/>
          </a:prstGeom>
          <a:solidFill>
            <a:srgbClr val="E8E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580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debt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2560320" y="534924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743200" y="551840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971800" y="53492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823460" y="534924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006340" y="551840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234940" y="53492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7086600" y="5349240"/>
            <a:ext cx="2263140" cy="502920"/>
          </a:xfrm>
          <a:prstGeom prst="rect">
            <a:avLst/>
          </a:prstGeom>
          <a:solidFill>
            <a:srgbClr val="F0F8F0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69480" y="5518404"/>
            <a:ext cx="164592" cy="164592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498080" y="53492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9349740" y="5349240"/>
            <a:ext cx="22631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532620" y="551840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761220" y="534924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Path C exits Cloudera fastest with minimum disruption.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modernization is a deliberate choice, not an oversight.</a:t>
            </a:r>
            <a:endParaRPr lang="en-US" sz="1200" dirty="0"/>
          </a:p>
        </p:txBody>
      </p:sp>
      <p:sp>
        <p:nvSpPr>
          <p:cNvPr id="121" name="Text 11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All-cloud: Databricks everywhere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entire estate to Azure Databricks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+ Delta Lake for everything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as governance plane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155 apps → Databricks Workflows + SQL Warehouse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4622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Power BI repoint to DBX 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streaming native to platform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3766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57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→ ADLS Gen2 data movement (PB scale)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971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already in production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337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337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stack, one skill set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703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7033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ML/AI tooling out of the box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2062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4206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PB-scale HDFS → ADLS movement is critical path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572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4572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egress / compute costs at full scale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9377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49377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Sovereignty: 99% sensitive data moves to cloud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303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5303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concentration on Databricks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but tight, with sovereignty trade-off. Single-platform concentration is a real concern.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Mostly on-prem: Starburst + Databricks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compute from storage. Starburst for SQL. Databricks for ML/AI/streaming.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→ on-prem object storage (MinIO/Ozone/ECS)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Starburst Trino: ~100 apps SQL/BI on-prem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Databricks: ~55 apps ML/AI/Spark/streaming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4622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tables stay; Iceberg in Phase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on-prem + Unity Catalog in cloud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3766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57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one governance posture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971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Modernizes architecture in one program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3192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3192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home — sovereignty intact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66674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6667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run-rate (no cloud egress at SQL scale)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0142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401421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Iceberg-ready from day 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4988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4498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per-app rework (Hive SQL → Trino dialect)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846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48463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consumer repoint to Starburst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1937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51937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modernization on critical path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5412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5541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= two operating models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58000" y="588873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near-term execution risk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modernization story, but heavy per-app rework + storage modernization in a 6-month window is materially riskier than Path C.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Acceldata ODP, in-place swap (recommended)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 ·  ✓ RECOMMENDED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CDP for Acceldata ODP. Same data, same apps, same SQL.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ODP — Apache-aligned, vendor-supported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upgrades, 8-hour maintenance windows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cutover, wave-by-wave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4622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HDFS, Hive tables, Spark, Ranger all stay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revalidate; no rewrites, no consumer repoints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3766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57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+ RBC SI co-delivery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971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per-app rework — no SQL dialect changes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3192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3192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consumers untouched (no repoint)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66674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6667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Cloudera skills transfer 1:1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0142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401421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path per cluster (&lt;4 hours)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36168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43616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run-rate cost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7091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4709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Year-2 for deliberate modernization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1937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51937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architectural modernization to Year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5412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5541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is a smaller vendor than Cloudera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58000" y="588873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HDFS / Hive tables (legacy formats)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off Cloudera. Minimum disruption. Modernization deferred deliberately to a Year-2 program. Recommended.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 — Snowflake-led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for SQL &amp; warehousing, Databricks for ML &amp; streaming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(Azure deployment) for SQL/BI/warehousing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478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apps SQL → Snowflake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for ML/AI/streaming (~55 apps)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4622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as shared storage layer (Iceberg)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governance + Unity Catalog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3766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57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data velocity to cloud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377440"/>
            <a:ext cx="52578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377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971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971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SQL/BI performance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337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337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governance and audit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703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7033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Tableau/Power BI ecosystem fit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15137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41513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platform — no existing footprint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4988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4498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vendor relationships in 6 months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846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48463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PB-scale data movement to cloud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1937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51937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model (credits) needs governance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5412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5541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Sovereignty: data leaves on-prem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technical fit but greenfield build + cloud move in 6 months is materially riskier than Path B.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vs C — the real strategic choice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credible paths. One question.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buying off the contract, or buying off the contract AND the architecture?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257800" cy="6400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off contract AND 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257800" cy="292608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54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disruption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per-app rework, BI repoint, storage modernization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8130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modernization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87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done; runway free for AI/agent enablement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7141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deadline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457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heavy lift in tight window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1297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4041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 in 6 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2377440"/>
            <a:ext cx="52578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4231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 ·  ✓ RECOMMENDED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6517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off contract. Modernize Year 2.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3017520"/>
            <a:ext cx="5257800" cy="292608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154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disruption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429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same SQL, same tables, same connectors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8130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modernization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087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Funded, chartered, scoped — starts ~Month 18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47141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deadline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7457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the four paths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51297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54041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exit and a deliberate modernization runway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Path C: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Contract-exit programs that try to modernize miss deadlines. We hit the deadline, then modernize on its own schedule.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swapped — and what stays exactly where it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59436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— the actual change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257800" cy="42519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313432"/>
            <a:ext cx="109728" cy="1097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1488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CDP binaries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4414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Acceldata ODP binaries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2953512"/>
            <a:ext cx="109728" cy="1097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7889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Manager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Acceldata Ambari + Pulse (optional)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3593592"/>
            <a:ext cx="109728" cy="1097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429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support contract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37216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Acceldata support contract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4233672"/>
            <a:ext cx="109728" cy="1097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690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versions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43616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Re-validated against ODP-pinned versions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4873752"/>
            <a:ext cx="109728" cy="1097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47091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relationship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50017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account team → Acceldata team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" y="5513832"/>
            <a:ext cx="109728" cy="1097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5349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tooling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56418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Re-trained on Pulse, runbooks, SLAs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1417320"/>
            <a:ext cx="52578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95160" y="1508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— the reason this works in 6 months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355080" y="2011680"/>
            <a:ext cx="5257800" cy="42519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583680" y="231343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12280" y="21488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812280" y="24414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paths, no movement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583680" y="295351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12280" y="27889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Metastore + tables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8122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schemas, same partitions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583680" y="359359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12280" y="3429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/ Impala SQL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812280" y="37216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dialect translation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583680" y="423367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12280" y="40690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/ Scala apps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812280" y="43616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revalidated against ODP Spark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583680" y="487375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12280" y="47091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Power BI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812280" y="50017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connectors, no repoint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6583680" y="551383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812280" y="5349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/ Kerberos / SSO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6812280" y="56418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port directly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48640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Distribution swap, not architectural change.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need revalidation, not rewrites. That's why this fits 6 months.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upgrade — how a single cluster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Per cluster, single 8-hour maintenance window.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ready in under 4 hours. Wave-based across all clusters over 26 weeks.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 wk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98517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8517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binaries staged, validation suite prepped, rollback plan signed off.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59874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9874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6871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6871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59874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services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05594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workloads, snapshot HMS, capture Ranger policies, freeze writes.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88229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8229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5226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5226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88229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ODP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3949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binaries installed parallel to CDP; configs migrated via runbook.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16583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6583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83580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16583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services 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62303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HMS, Ranger, HDFS NameNode, YARN, Spark, Hive — all on ODP.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44937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4937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 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1934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193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44937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90657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suite: sample queries, key apps, BI connectivity check.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73291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73291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T+7 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40289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40289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373291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9011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app owners sign off OR rollback initiated (&lt;4 hours).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901646" y="2194560"/>
            <a:ext cx="1391194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01646" y="21945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T+8 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368643" y="2697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68643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901646" y="329184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47366" y="3657600"/>
            <a:ext cx="12997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live on ODP, hypercare team on standby for 72 hours.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Same data. Same Hive Metastore. Same tables. Same SQL.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binaries change.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SWAT team — one small core, clear ownership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accountable owner end-to-end. Wave plan, RAID, exec cadence.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371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37160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600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373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406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6344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management across 9 LOBs. App owner sign-offs, wave content.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137160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03920" y="1600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373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8116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28116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50392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across maintenance windows, smoke-test gate, hypercare ownership.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37947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379476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Governance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60020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22960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flow, change control, audit trail, RAID hygiene.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389120" y="379476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002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389120" y="3794760"/>
            <a:ext cx="91440" cy="22860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63440" y="4023360"/>
            <a:ext cx="640080" cy="640080"/>
          </a:xfrm>
          <a:prstGeom prst="ellipse">
            <a:avLst/>
          </a:prstGeom>
          <a:solidFill>
            <a:srgbClr val="FDE4E4"/>
          </a:solidFill>
          <a:ln w="12700">
            <a:solidFill>
              <a:srgbClr val="FDE4E4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16052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4068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Lead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5440680" y="4434840"/>
            <a:ext cx="640080" cy="274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440680" y="4434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663440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rollout, vendor liaison, runbook execution, Pulse onboarding.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229600" y="37947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29600" y="379476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503920" y="402336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160520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28116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Partner Lead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928116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8503920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engineering, wave delivery, app team coordination, hypercare.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open seat.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lead must be named in Week 1 — vendor procurement and validation suite are the critical path.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plan — five phases, wave-based cluster cutovers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9456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194560" cy="35661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077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155 apps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935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29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66K 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793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wave plan locked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9651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00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suite scoped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1417320"/>
            <a:ext cx="219456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2044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2514600"/>
            <a:ext cx="2194560" cy="35661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29077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contract signed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63240" y="35935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429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partner engaged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63240" y="42793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staged on test cluster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3240" y="49651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800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suite built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1417320"/>
            <a:ext cx="21945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85216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521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W4–22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0" y="2514600"/>
            <a:ext cx="2194560" cy="35661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94960" y="29077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Wave-by-wave validation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35935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429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 sign-offs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2793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per cluster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0" y="49651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4800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drills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43800" y="1417320"/>
            <a:ext cx="21945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8183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838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W10–24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43800" y="2514600"/>
            <a:ext cx="2194560" cy="35661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26680" y="29077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maintenance windows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26680" y="35935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3429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cutover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726680" y="42793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956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 hour rollback ready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726680" y="49651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4800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per wave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875520" y="1417320"/>
            <a:ext cx="2194560" cy="1097280"/>
          </a:xfrm>
          <a:prstGeom prst="rect">
            <a:avLst/>
          </a:prstGeom>
          <a:solidFill>
            <a:srgbClr val="151B45"/>
          </a:solidFill>
          <a:ln w="12700">
            <a:solidFill>
              <a:srgbClr val="151B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1268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105156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5156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W24–26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75520" y="2514600"/>
            <a:ext cx="2194560" cy="356616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58400" y="29077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4128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shutdown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0058400" y="35935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41280" y="3429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obligations met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058400" y="42793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4128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charter approved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0058400" y="49651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241280" y="4800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Validate, validate, cut over.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cluster cutover is a planned weekend window. Apps revalidate against ODP before signing off.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 — who owns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Platform Build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+ Internal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staging, runbook prep, Pulse onboarding, support model setup.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371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37160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600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373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Engineering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406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partner + Internal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per app class. Smoke tests, regression, performance baselines.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137160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03920" y="1600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373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8116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 Coordination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28116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 + Internal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0392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sign-off cadence, wave assignment, hypercare contact tree.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37947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379476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Vendor Mgmt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600200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2296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due diligence, SLA enforcement, runbook escalation.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389120" y="37947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389120" y="379476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63440" y="402336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16052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4068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Partnership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5440680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 + SI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66344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/ Deloitte / IBM. Wave delivery muscle, validation execution.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229600" y="37947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5D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29600" y="3794760"/>
            <a:ext cx="914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503920" y="402336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160520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28116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9281160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 + Internal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850392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post-cutover support per cluster. War room model on each wave.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26 weeks, critical path is procurement +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0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9637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8954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0354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28271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17588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8988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06905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6222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7622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85538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855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6255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64172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53489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4889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142806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32123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3523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521440" y="1508760"/>
            <a:ext cx="0" cy="4114800"/>
          </a:xfrm>
          <a:prstGeom prst="line">
            <a:avLst/>
          </a:prstGeom>
          <a:noFill/>
          <a:ln w="6350">
            <a:solidFill>
              <a:srgbClr val="E0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5819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1645920"/>
            <a:ext cx="1378634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993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procurement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2057400"/>
            <a:ext cx="2067951" cy="274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partner engagement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04978" y="2468880"/>
            <a:ext cx="1378634" cy="27432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16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suite build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8954" y="2880360"/>
            <a:ext cx="2067951" cy="274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2278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staging (test cluster)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8954" y="3291840"/>
            <a:ext cx="1378634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6393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validations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8271" y="3703320"/>
            <a:ext cx="5514535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507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cutovers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06905" y="4114800"/>
            <a:ext cx="4825218" cy="274320"/>
          </a:xfrm>
          <a:prstGeom prst="rect">
            <a:avLst/>
          </a:prstGeom>
          <a:solidFill>
            <a:srgbClr val="151B45"/>
          </a:solidFill>
          <a:ln w="12700">
            <a:solidFill>
              <a:srgbClr val="151B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462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06905" y="4526280"/>
            <a:ext cx="5514535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737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832123" y="4937760"/>
            <a:ext cx="689317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38954" y="1508760"/>
            <a:ext cx="0" cy="4114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774362" y="146304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7436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06905" y="1508760"/>
            <a:ext cx="0" cy="4114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842313" y="146304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42313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764172" y="1508760"/>
            <a:ext cx="0" cy="4114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8599580" y="146304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9958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832123" y="1508760"/>
            <a:ext cx="0" cy="4114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0667531" y="146304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67531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5897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Discover  ·  M2 First cluster cut over  ·  M3 70% cut over  ·  M4 Final cutover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Red = critical path. </a:t>
            </a:r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contract must close by Week 6. Validation suite must be ready by Week 10. Slippage here = missed deadline.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cadence — rhythm, not status meetings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40680" y="1417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658368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75104"/>
            <a:ext cx="1371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8288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standups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8288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clearing per active wave. 15 minutes. Issues escalate to SWAT same 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633472"/>
            <a:ext cx="1371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33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48716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standup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248716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Cross-stream dependencies, RAID review, wave health. All workstreams.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45536"/>
            <a:ext cx="11064240" cy="658368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291840"/>
            <a:ext cx="1371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1455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sync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314553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compute, storage. Critical-path workstream gets its own room.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950208"/>
            <a:ext cx="1371600" cy="36576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8039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(EVP + VP)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80390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only — not status. If steering becomes a status forum, decisions queue and we slip.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62272"/>
            <a:ext cx="11064240" cy="658368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08576"/>
            <a:ext cx="1371600" cy="36576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08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WAVE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446227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review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446227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sign-offs from app owners and BI consumers before cutover. No sign-off, no swing.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5266944"/>
            <a:ext cx="1371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266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5120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readout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51206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RAID, decisions taken, decisions needed. Status flows here.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Steering exists to unblock. </a:t>
            </a:r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rights: scope or schedule changes need steering sign-off; operational decisions stay with the SWAT.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1417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64240" cy="713232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vendor risk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039112"/>
            <a:ext cx="777240" cy="292608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391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vendor than Cloudera. Financial, strategic, or M&amp;A event could leave us exposed mid-program.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182880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due diligence (financial, security, OSFI). Source-code escrow. Multi-year support contract with exit clauses.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5420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revalidation gaps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752344"/>
            <a:ext cx="777240" cy="292608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7523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5420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behavior differences between CDP and ODP binaries surface only under production load.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54203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validation suite per app class. Smoke-test gate at T+5h. Hypercare model for 72h post-cutover.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1064240" cy="713232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5526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blowouts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465576"/>
            <a:ext cx="777240" cy="2926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4655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25526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cluster cutover exceeds 8-hour window; rollback window (&lt;4h) gets eaten.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325526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rollback drills before cutover. Named decision-maker for go/rollback at T+7h.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968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UDFs / SerDes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66160" y="4178808"/>
            <a:ext cx="777240" cy="2926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1788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396849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extensions written against specific Cloudera APIs may not work on ODP binaries.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3968496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 Discovery (W1–4). Vendor-supported port path for known cases; reject others to Year 2.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681728"/>
            <a:ext cx="11064240" cy="713232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6817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debt accumulation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6160" y="4892040"/>
            <a:ext cx="777240" cy="2926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892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468172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Year-2 charter doesn't get funded, we sit on HDFS / Hive tables indefinitely.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468172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charter approved as a precondition for the program. Funded line item in FY26 plan.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" y="5394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retention / motivation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66160" y="5605272"/>
            <a:ext cx="777240" cy="2926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56052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53949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may lose interest if they see this as "keep doing Hadoop forever."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539496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charter named publicly; team members rotate into modernization roles after cutover.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— in the next two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058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0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authority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286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Path C as the enterprise approach. Cover for scope freeze. Confirm the recommendation publicly to set the tone with LOBs and the team.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48640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417320"/>
            <a:ext cx="10058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417320"/>
            <a:ext cx="100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91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5528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due diligence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52360" y="2286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immediate vendor diligence: financial review, security review, OSFI submission, source-code escrow terms. Cannot start without this.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8640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4023360"/>
            <a:ext cx="10058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4023360"/>
            <a:ext cx="100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42976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4028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engagement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37360" y="48920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Acceldata contract + RBC SI (Accenture / Deloitte / IBM) co-delivery model. Release named internal SMEs from competing initiatives.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4023360"/>
            <a:ext cx="548640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63640" y="4023360"/>
            <a:ext cx="10058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63640" y="4023360"/>
            <a:ext cx="1005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29768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95528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modernization charter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452360" y="48920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FUND a Year-2 modernization charter (~Month 18 start). Without this commitment the deferral is not credible to the team or to audit.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6424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AT MONTH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Cloudera. Same data, same apps. Modernization runway intact.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566160" cy="2743200"/>
          </a:xfrm>
          <a:prstGeom prst="rect">
            <a:avLst/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06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workloads remaining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obligations met on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3566160" cy="2743200"/>
          </a:xfrm>
          <a:prstGeom prst="rect">
            <a:avLst/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606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44805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live on Acceldata ODP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SQL, same BI, same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66160" cy="2743200"/>
          </a:xfrm>
          <a:prstGeom prst="rect">
            <a:avLst/>
          </a:prstGeom>
          <a:solidFill>
            <a:srgbClr val="15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606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66k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827532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— exactly where they were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unchanged, HMS intact, governance ported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modernization charter kicks off Month 18 — Iceberg, object storage, Trino on its own schedule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Lowest risk. Lowest disruption. Same deadline.  </a:t>
            </a:r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happens deliberately, not under contract pressure.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Data  |  25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vs Pure Apache OSS — the alternative on the table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the same Apache code. The difference is who carries the operational load.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32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ODP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86400" cy="502920"/>
          </a:xfrm>
          <a:prstGeom prst="rect">
            <a:avLst/>
          </a:prstGeom>
          <a:solidFill>
            <a:srgbClr val="5C6470"/>
          </a:solidFill>
          <a:ln w="12700">
            <a:solidFill>
              <a:srgbClr val="5C64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APACHE (self-built)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1109960" cy="41148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2860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(vendor)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2860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Apache 2.0 licensed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11109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6974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 Acceldata across the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6974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— 3–5 platform engineers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1109960" cy="41148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response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108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distribution, vendor SLA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1089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scan, patch, rebuild ourselves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11109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runbooks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35204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(in-place / sidecar / forklift)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5204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them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11109960" cy="41148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63240" y="39319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enterprise SLA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9319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mailing lists, no SLA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11109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343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defensibility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63240" y="43434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vendor-supported platform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343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— self-supported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54880"/>
            <a:ext cx="11109960" cy="41148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754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cluster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63240" y="47548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(public mirror)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(build pipeline + test matrix)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166360"/>
            <a:ext cx="11109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166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63240" y="5166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runtime is open source on GitHub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51663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already pure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852160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Apache is a credible exit option, not a free lunch. Real cost is 3–5 dedicated platform engineers. The decision is buy support or build a team.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Acceldata offers three upgrade paths — pick by infra, not by name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In-place, sidecar, forklift. Same destination. Different risk profile, different prerequisites.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36118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562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IN-PLACE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76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existing cluster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iron, same data. CDP binaries swapped for ODP binaries in place.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5387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maintenance window per cluster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4 hours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7274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ODP, or aggressive CDP exit on same hardware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21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— one window, full cluster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783080"/>
            <a:ext cx="361188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8562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SIDECAR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2176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both, migrate gradually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27432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44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ODP cluster runs parallel to CDP. Workloads cut over wave by wave.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337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5387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Per-wave cutovers, no platform-wide window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3931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41330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workload stays on CDP if validation fails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45262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47274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site, mixed workload risk, MR-heavy estates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51206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5321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— longer parallel period, more validation effort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783080"/>
            <a:ext cx="3611880" cy="77724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18562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FORKLIFT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0" y="2176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infra, phased move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0" y="27432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2944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ODP on new hardware or cloud. Decommission CDP after migration.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3337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35387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CDP impact during migration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3931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41330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CDP stays available until cutover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5262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47274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or cloud migration coinciding with the exit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51206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5321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+ dual-running cost stretches the timeline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solidFill>
            <a:srgbClr val="E8EAF0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594360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changes by path: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infrastructure, parallelism, and rollback shape.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doesn't change: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platform, application code, data layer, governance model.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upgrade — parallel cluster, wave-based migration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RECOMMENDED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53212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231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new ODP cluster alongside CDP, same site or different.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3580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718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HDFS / Hive metastore / Ranger policies to ODP.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8444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workloads in waves: Spark first (lowest risk), then Hive, then MR last.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3308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690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wave gets parallel validation: identical job runs on both clusters, output diffed.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68172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177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when wave passes validation. CDP stays running until last wave is migrated.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23036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CDP after final wave + hypercare period.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783080"/>
            <a:ext cx="54864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6517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651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risk: each wave validates independently; failed wave doesn't impact others.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0175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017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off the critical path: legacy MR jobs can stay on CDP until retired.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383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rollback: if validation fails, workload stays on CDP. No 4-hour reversal.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7490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749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ODP performance baselining against CDP under real load.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44805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480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parallel hardware capacity (or temporary cloud burst).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48463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4846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parallel run = double operational cost during transition.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52120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5212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between clusters needs design effort.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989320"/>
            <a:ext cx="111099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98932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 for our 55/35/10 mix. Keeps MR off the critical path and gives us validation safety. The cost is parallel hardware and longer dual-run.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 upgrade — new infrastructure, phased move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53212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91440" cy="914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231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entirely new infrastructure — new hardware on-prem, or cloud (AWS/Azure/GCP).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35808"/>
            <a:ext cx="91440" cy="914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718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ODP cluster from scratch on the new infrastructure.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84448"/>
            <a:ext cx="91440" cy="914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data and workloads in phases over weeks or months.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33088"/>
            <a:ext cx="91440" cy="914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690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estate remains untouched until decommission decision.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681728"/>
            <a:ext cx="91440" cy="914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177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CDP once all workloads are validated on ODP.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230368"/>
            <a:ext cx="91440" cy="914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paired with a strategic infra decision (cloud move, hardware refresh).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783080"/>
            <a:ext cx="5486400" cy="457200"/>
          </a:xfrm>
          <a:prstGeom prst="rect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6517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651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impact on CDP estate during build phase.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0175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017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hardware refresh and modernization in one motion.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383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separation: easy to walk away if ODP underperforms.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7490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749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if cloud strategy is already approved.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44805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480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cycle can consume a full month before any work starts.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48463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4846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Dual-running infra cost is the highest of the three paths.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52120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5212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platform + infra decisions — 3-month timeline becomes unrealistic.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989320"/>
            <a:ext cx="11109960" cy="411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98932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 only if we're funded for hardware refresh or cloud move at the same time. For a pure Cloudera exit, sidecar is the cheaper, faster, lower-risk version of the same idea.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EXIT  |  ACCELDATA-LED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591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 — sidecar with in-place fallback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exist. For our estate, mix, and timeline — sidecar is the right default. In-place is the fallback for clusters where parallel hardware isn't an option.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1099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 SIDECAR (PRIMARY)  +  IN-PLACE (FALLBACK PER CLUSTER)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8EAF0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mix demands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Spark / 35% Hive / 10% MR. MR is the schedule risk — sidecar keeps it on CDP until retired. In-place would force a same-window MR migration.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651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8EAF0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8056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safety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749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3.3 → 3.3.3 and Hive 3.1.3 → 3.1.x should be clean, but JDK 17 uplift is the real unknown. Sidecar runs the diff in parallel before commit.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651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8EAF0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2960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leverage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3749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Sidecar's longer parallel run keeps CDP available — buys negotiating time with Acceldata. No forced cutover, no contract panic.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109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74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IN-PLACE PER CLUSTER WHEN: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53212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parallel hardware capacity for that cluster 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Workload is uniform and well-validated 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deadline pressure on that specific cluster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 only if a separate hardware-refresh or cloud-migration program is already funded.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Cloudera Exit — Acceldata-led approach</dc:title>
  <dc:subject>PptxGenJS Presentation</dc:subject>
  <dc:creator>Enterprise Data</dc:creator>
  <cp:lastModifiedBy>Enterprise Data</cp:lastModifiedBy>
  <cp:revision>1</cp:revision>
  <dcterms:created xsi:type="dcterms:W3CDTF">2026-05-14T19:18:51Z</dcterms:created>
  <dcterms:modified xsi:type="dcterms:W3CDTF">2026-05-14T19:18:51Z</dcterms:modified>
</cp:coreProperties>
</file>