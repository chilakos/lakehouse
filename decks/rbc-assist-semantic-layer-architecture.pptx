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68"/>
        </a:solidFill>
      </p:bgPr>
    </p:bg>
    <p:spTree>
      <p:nvGrpSpPr>
        <p:cNvPr id="1" name=""/>
        <p:cNvGrpSpPr/>
        <p:nvPr/>
      </p:nvGrpSpPr>
      <p:grpSpPr>
        <a:xfrm>
          <a:off x="0" y="0"/>
          <a:ext cx="0" cy="0"/>
          <a:chOff x="0" y="0"/>
          <a:chExt cx="0" cy="0"/>
        </a:xfrm>
      </p:grpSpPr>
      <p:sp>
        <p:nvSpPr>
          <p:cNvPr id="2" name="Text 0"/>
          <p:cNvSpPr/>
          <p:nvPr/>
        </p:nvSpPr>
        <p:spPr>
          <a:xfrm>
            <a:off x="731520" y="1645920"/>
            <a:ext cx="7315200" cy="2194560"/>
          </a:xfrm>
          <a:prstGeom prst="rect">
            <a:avLst/>
          </a:prstGeom>
          <a:noFill/>
          <a:ln/>
        </p:spPr>
        <p:txBody>
          <a:bodyPr wrap="square" rtlCol="0" anchor="ctr"/>
          <a:lstStyle/>
          <a:p>
            <a:pPr indent="0" marL="0">
              <a:lnSpc>
                <a:spcPct val="120000"/>
              </a:lnSpc>
              <a:buNone/>
            </a:pPr>
            <a:r>
              <a:rPr lang="en-US" sz="3800" b="1" dirty="0">
                <a:solidFill>
                  <a:srgbClr val="FFFFFF"/>
                </a:solidFill>
                <a:latin typeface="Arial" pitchFamily="34" charset="0"/>
                <a:ea typeface="Arial" pitchFamily="34" charset="-122"/>
                <a:cs typeface="Arial" pitchFamily="34" charset="-120"/>
              </a:rPr>
              <a:t>RBC Assist</a:t>
            </a:r>
            <a:endParaRPr lang="en-US" sz="3800" dirty="0"/>
          </a:p>
          <a:p>
            <a:pPr indent="0" marL="0">
              <a:lnSpc>
                <a:spcPct val="120000"/>
              </a:lnSpc>
              <a:buNone/>
            </a:pPr>
            <a:r>
              <a:rPr lang="en-US" sz="3800" b="1" dirty="0">
                <a:solidFill>
                  <a:srgbClr val="FFFFFF"/>
                </a:solidFill>
                <a:latin typeface="Arial" pitchFamily="34" charset="0"/>
                <a:ea typeface="Arial" pitchFamily="34" charset="-122"/>
                <a:cs typeface="Arial" pitchFamily="34" charset="-120"/>
              </a:rPr>
              <a:t>Semantic Layer Architecture</a:t>
            </a:r>
            <a:endParaRPr lang="en-US" sz="3800" dirty="0"/>
          </a:p>
        </p:txBody>
      </p:sp>
      <p:sp>
        <p:nvSpPr>
          <p:cNvPr id="3" name="Shape 1"/>
          <p:cNvSpPr/>
          <p:nvPr/>
        </p:nvSpPr>
        <p:spPr>
          <a:xfrm>
            <a:off x="731520" y="4023360"/>
            <a:ext cx="2286000" cy="54864"/>
          </a:xfrm>
          <a:prstGeom prst="rect">
            <a:avLst/>
          </a:prstGeom>
          <a:solidFill>
            <a:srgbClr val="2AD2C9"/>
          </a:solidFill>
          <a:ln/>
        </p:spPr>
      </p:sp>
      <p:sp>
        <p:nvSpPr>
          <p:cNvPr id="4" name="Text 2"/>
          <p:cNvSpPr/>
          <p:nvPr/>
        </p:nvSpPr>
        <p:spPr>
          <a:xfrm>
            <a:off x="731520" y="4297680"/>
            <a:ext cx="7315200" cy="822960"/>
          </a:xfrm>
          <a:prstGeom prst="rect">
            <a:avLst/>
          </a:prstGeom>
          <a:noFill/>
          <a:ln/>
        </p:spPr>
        <p:txBody>
          <a:bodyPr wrap="square" rtlCol="0" anchor="ctr"/>
          <a:lstStyle/>
          <a:p>
            <a:pPr indent="0" marL="0">
              <a:lnSpc>
                <a:spcPct val="140000"/>
              </a:lnSpc>
              <a:buNone/>
            </a:pPr>
            <a:r>
              <a:rPr lang="en-US" sz="1400" dirty="0">
                <a:solidFill>
                  <a:srgbClr val="2AD2C9"/>
                </a:solidFill>
                <a:latin typeface="Arial" pitchFamily="34" charset="0"/>
                <a:ea typeface="Arial" pitchFamily="34" charset="-122"/>
                <a:cs typeface="Arial" pitchFamily="34" charset="-120"/>
              </a:rPr>
              <a:t>Snowflake Cortex as access + semantic layer over Gold Iceberg V2</a:t>
            </a:r>
            <a:endParaRPr lang="en-US" sz="1400" dirty="0"/>
          </a:p>
          <a:p>
            <a:pPr indent="0" marL="0">
              <a:lnSpc>
                <a:spcPct val="140000"/>
              </a:lnSpc>
              <a:buNone/>
            </a:pPr>
            <a:r>
              <a:rPr lang="en-US" sz="1400" dirty="0">
                <a:solidFill>
                  <a:srgbClr val="2AD2C9"/>
                </a:solidFill>
                <a:latin typeface="Arial" pitchFamily="34" charset="0"/>
                <a:ea typeface="Arial" pitchFamily="34" charset="-122"/>
                <a:cs typeface="Arial" pitchFamily="34" charset="-120"/>
              </a:rPr>
              <a:t>Phased approach: Snowflake now, Fabric extension later</a:t>
            </a:r>
            <a:endParaRPr lang="en-US" sz="1400" dirty="0"/>
          </a:p>
        </p:txBody>
      </p:sp>
      <p:sp>
        <p:nvSpPr>
          <p:cNvPr id="5" name="Text 3"/>
          <p:cNvSpPr/>
          <p:nvPr/>
        </p:nvSpPr>
        <p:spPr>
          <a:xfrm>
            <a:off x="731520" y="5669280"/>
            <a:ext cx="5486400" cy="548640"/>
          </a:xfrm>
          <a:prstGeom prst="rect">
            <a:avLst/>
          </a:prstGeom>
          <a:noFill/>
          <a:ln/>
        </p:spPr>
        <p:txBody>
          <a:bodyPr wrap="square" rtlCol="0" anchor="ctr"/>
          <a:lstStyle/>
          <a:p>
            <a:pPr indent="0" marL="0">
              <a:buNone/>
            </a:pPr>
            <a:r>
              <a:rPr lang="en-US" sz="1100" dirty="0">
                <a:solidFill>
                  <a:srgbClr val="87AFBF"/>
                </a:solidFill>
                <a:latin typeface="Arial" pitchFamily="34" charset="0"/>
                <a:ea typeface="Arial" pitchFamily="34" charset="-122"/>
                <a:cs typeface="Arial" pitchFamily="34" charset="-120"/>
              </a:rPr>
              <a:t>Enterprise Data — Lumina Team</a:t>
            </a:r>
            <a:endParaRPr lang="en-US" sz="1100" dirty="0"/>
          </a:p>
          <a:p>
            <a:pPr indent="0" marL="0">
              <a:buNone/>
            </a:pPr>
            <a:r>
              <a:rPr lang="en-US" sz="1100" dirty="0">
                <a:solidFill>
                  <a:srgbClr val="87AFBF"/>
                </a:solidFill>
                <a:latin typeface="Arial" pitchFamily="34" charset="0"/>
                <a:ea typeface="Arial" pitchFamily="34" charset="-122"/>
                <a:cs typeface="Arial" pitchFamily="34" charset="-120"/>
              </a:rPr>
              <a:t>April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82880" y="45720"/>
            <a:ext cx="5486400" cy="182880"/>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3" name="Text 1"/>
          <p:cNvSpPr/>
          <p:nvPr/>
        </p:nvSpPr>
        <p:spPr>
          <a:xfrm>
            <a:off x="11704320" y="6583680"/>
            <a:ext cx="365760" cy="182880"/>
          </a:xfrm>
          <a:prstGeom prst="rect">
            <a:avLst/>
          </a:prstGeom>
          <a:noFill/>
          <a:ln/>
        </p:spPr>
        <p:txBody>
          <a:bodyPr wrap="square" rtlCol="0" anchor="ctr"/>
          <a:lstStyle/>
          <a:p>
            <a:pPr algn="r" indent="0" marL="0">
              <a:buNone/>
            </a:pPr>
            <a:r>
              <a:rPr lang="en-US" sz="900" dirty="0">
                <a:solidFill>
                  <a:srgbClr val="87AFBF"/>
                </a:solidFill>
                <a:latin typeface="Arial" pitchFamily="34" charset="0"/>
                <a:ea typeface="Arial" pitchFamily="34" charset="-122"/>
                <a:cs typeface="Arial" pitchFamily="34" charset="-120"/>
              </a:rPr>
              <a:t>02</a:t>
            </a:r>
            <a:endParaRPr lang="en-US" sz="900" dirty="0"/>
          </a:p>
        </p:txBody>
      </p:sp>
      <p:sp>
        <p:nvSpPr>
          <p:cNvPr id="4" name="Text 2"/>
          <p:cNvSpPr/>
          <p:nvPr/>
        </p:nvSpPr>
        <p:spPr>
          <a:xfrm>
            <a:off x="548640" y="365760"/>
            <a:ext cx="10972800" cy="548640"/>
          </a:xfrm>
          <a:prstGeom prst="rect">
            <a:avLst/>
          </a:prstGeom>
          <a:noFill/>
          <a:ln/>
        </p:spPr>
        <p:txBody>
          <a:bodyPr wrap="square" rtlCol="0" anchor="ctr"/>
          <a:lstStyle/>
          <a:p>
            <a:pPr indent="0" marL="0">
              <a:buNone/>
            </a:pPr>
            <a:r>
              <a:rPr lang="en-US" sz="2800" b="1" dirty="0">
                <a:solidFill>
                  <a:srgbClr val="003068"/>
                </a:solidFill>
                <a:latin typeface="Arial" pitchFamily="34" charset="0"/>
                <a:ea typeface="Arial" pitchFamily="34" charset="-122"/>
                <a:cs typeface="Arial" pitchFamily="34" charset="-120"/>
              </a:rPr>
              <a:t>The challenge</a:t>
            </a:r>
            <a:endParaRPr lang="en-US" sz="2800" dirty="0"/>
          </a:p>
        </p:txBody>
      </p:sp>
      <p:sp>
        <p:nvSpPr>
          <p:cNvPr id="5" name="Shape 3"/>
          <p:cNvSpPr/>
          <p:nvPr/>
        </p:nvSpPr>
        <p:spPr>
          <a:xfrm>
            <a:off x="548640" y="960120"/>
            <a:ext cx="10515600" cy="0"/>
          </a:xfrm>
          <a:prstGeom prst="line">
            <a:avLst/>
          </a:prstGeom>
          <a:noFill/>
          <a:ln w="12700">
            <a:solidFill>
              <a:srgbClr val="87AFBF"/>
            </a:solidFill>
            <a:prstDash val="solid"/>
          </a:ln>
        </p:spPr>
      </p:sp>
      <p:sp>
        <p:nvSpPr>
          <p:cNvPr id="6" name="Shape 4"/>
          <p:cNvSpPr/>
          <p:nvPr/>
        </p:nvSpPr>
        <p:spPr>
          <a:xfrm>
            <a:off x="548640" y="1280160"/>
            <a:ext cx="10515600" cy="1097280"/>
          </a:xfrm>
          <a:prstGeom prst="rect">
            <a:avLst>
              <a:gd name="adj" fmla="val 5000"/>
            </a:avLst>
          </a:prstGeom>
          <a:solidFill>
            <a:srgbClr val="F3F4FB"/>
          </a:solidFill>
          <a:ln/>
        </p:spPr>
      </p:sp>
      <p:sp>
        <p:nvSpPr>
          <p:cNvPr id="7" name="Shape 5"/>
          <p:cNvSpPr/>
          <p:nvPr/>
        </p:nvSpPr>
        <p:spPr>
          <a:xfrm>
            <a:off x="548640" y="1280160"/>
            <a:ext cx="73152" cy="1097280"/>
          </a:xfrm>
          <a:prstGeom prst="rect">
            <a:avLst/>
          </a:prstGeom>
          <a:solidFill>
            <a:srgbClr val="3068FF"/>
          </a:solidFill>
          <a:ln/>
        </p:spPr>
      </p:sp>
      <p:sp>
        <p:nvSpPr>
          <p:cNvPr id="8" name="Text 6"/>
          <p:cNvSpPr/>
          <p:nvPr/>
        </p:nvSpPr>
        <p:spPr>
          <a:xfrm>
            <a:off x="914400" y="1371600"/>
            <a:ext cx="9875520" cy="365760"/>
          </a:xfrm>
          <a:prstGeom prst="rect">
            <a:avLst/>
          </a:prstGeom>
          <a:noFill/>
          <a:ln/>
        </p:spPr>
        <p:txBody>
          <a:bodyPr wrap="square" lIns="0" tIns="0" rIns="0" bIns="0" rtlCol="0" anchor="ctr"/>
          <a:lstStyle/>
          <a:p>
            <a:pPr indent="0" marL="0">
              <a:buNone/>
            </a:pPr>
            <a:r>
              <a:rPr lang="en-US" sz="1500" b="1" dirty="0">
                <a:solidFill>
                  <a:srgbClr val="003068"/>
                </a:solidFill>
                <a:latin typeface="Arial" pitchFamily="34" charset="0"/>
                <a:ea typeface="Arial" pitchFamily="34" charset="-122"/>
                <a:cs typeface="Arial" pitchFamily="34" charset="-120"/>
              </a:rPr>
              <a:t>AI agents need governed data access</a:t>
            </a:r>
            <a:endParaRPr lang="en-US" sz="1500" dirty="0"/>
          </a:p>
        </p:txBody>
      </p:sp>
      <p:sp>
        <p:nvSpPr>
          <p:cNvPr id="9" name="Text 7"/>
          <p:cNvSpPr/>
          <p:nvPr/>
        </p:nvSpPr>
        <p:spPr>
          <a:xfrm>
            <a:off x="914400" y="1737360"/>
            <a:ext cx="9875520" cy="502920"/>
          </a:xfrm>
          <a:prstGeom prst="rect">
            <a:avLst/>
          </a:prstGeom>
          <a:noFill/>
          <a:ln/>
        </p:spPr>
        <p:txBody>
          <a:bodyPr wrap="square" lIns="0" tIns="0" rIns="0" bIns="0" rtlCol="0" anchor="ctr"/>
          <a:lstStyle/>
          <a:p>
            <a:pPr indent="0" marL="0">
              <a:buNone/>
            </a:pPr>
            <a:r>
              <a:rPr lang="en-US" sz="1100" dirty="0">
                <a:solidFill>
                  <a:srgbClr val="555555"/>
                </a:solidFill>
                <a:latin typeface="Arial" pitchFamily="34" charset="0"/>
                <a:ea typeface="Arial" pitchFamily="34" charset="-122"/>
                <a:cs typeface="Arial" pitchFamily="34" charset="-120"/>
              </a:rPr>
              <a:t>RBC Assist and Borealis need NL-to-SQL over enterprise data without writing raw queries against production systems.</a:t>
            </a:r>
            <a:endParaRPr lang="en-US" sz="1100" dirty="0"/>
          </a:p>
        </p:txBody>
      </p:sp>
      <p:sp>
        <p:nvSpPr>
          <p:cNvPr id="10" name="Shape 8"/>
          <p:cNvSpPr/>
          <p:nvPr/>
        </p:nvSpPr>
        <p:spPr>
          <a:xfrm>
            <a:off x="548640" y="2560320"/>
            <a:ext cx="10515600" cy="1097280"/>
          </a:xfrm>
          <a:prstGeom prst="rect">
            <a:avLst>
              <a:gd name="adj" fmla="val 5000"/>
            </a:avLst>
          </a:prstGeom>
          <a:solidFill>
            <a:srgbClr val="F3F4FB"/>
          </a:solidFill>
          <a:ln/>
        </p:spPr>
      </p:sp>
      <p:sp>
        <p:nvSpPr>
          <p:cNvPr id="11" name="Shape 9"/>
          <p:cNvSpPr/>
          <p:nvPr/>
        </p:nvSpPr>
        <p:spPr>
          <a:xfrm>
            <a:off x="548640" y="2560320"/>
            <a:ext cx="73152" cy="1097280"/>
          </a:xfrm>
          <a:prstGeom prst="rect">
            <a:avLst/>
          </a:prstGeom>
          <a:solidFill>
            <a:srgbClr val="3068FF"/>
          </a:solidFill>
          <a:ln/>
        </p:spPr>
      </p:sp>
      <p:sp>
        <p:nvSpPr>
          <p:cNvPr id="12" name="Text 10"/>
          <p:cNvSpPr/>
          <p:nvPr/>
        </p:nvSpPr>
        <p:spPr>
          <a:xfrm>
            <a:off x="914400" y="2651760"/>
            <a:ext cx="9875520" cy="365760"/>
          </a:xfrm>
          <a:prstGeom prst="rect">
            <a:avLst/>
          </a:prstGeom>
          <a:noFill/>
          <a:ln/>
        </p:spPr>
        <p:txBody>
          <a:bodyPr wrap="square" lIns="0" tIns="0" rIns="0" bIns="0" rtlCol="0" anchor="ctr"/>
          <a:lstStyle/>
          <a:p>
            <a:pPr indent="0" marL="0">
              <a:buNone/>
            </a:pPr>
            <a:r>
              <a:rPr lang="en-US" sz="1500" b="1" dirty="0">
                <a:solidFill>
                  <a:srgbClr val="003068"/>
                </a:solidFill>
                <a:latin typeface="Arial" pitchFamily="34" charset="0"/>
                <a:ea typeface="Arial" pitchFamily="34" charset="-122"/>
                <a:cs typeface="Arial" pitchFamily="34" charset="-120"/>
              </a:rPr>
              <a:t>Gold Iceberg V2 is the source of truth</a:t>
            </a:r>
            <a:endParaRPr lang="en-US" sz="1500" dirty="0"/>
          </a:p>
        </p:txBody>
      </p:sp>
      <p:sp>
        <p:nvSpPr>
          <p:cNvPr id="13" name="Text 11"/>
          <p:cNvSpPr/>
          <p:nvPr/>
        </p:nvSpPr>
        <p:spPr>
          <a:xfrm>
            <a:off x="914400" y="3017520"/>
            <a:ext cx="9875520" cy="502920"/>
          </a:xfrm>
          <a:prstGeom prst="rect">
            <a:avLst/>
          </a:prstGeom>
          <a:noFill/>
          <a:ln/>
        </p:spPr>
        <p:txBody>
          <a:bodyPr wrap="square" lIns="0" tIns="0" rIns="0" bIns="0" rtlCol="0" anchor="ctr"/>
          <a:lstStyle/>
          <a:p>
            <a:pPr indent="0" marL="0">
              <a:buNone/>
            </a:pPr>
            <a:r>
              <a:rPr lang="en-US" sz="1100" dirty="0">
                <a:solidFill>
                  <a:srgbClr val="555555"/>
                </a:solidFill>
                <a:latin typeface="Arial" pitchFamily="34" charset="0"/>
                <a:ea typeface="Arial" pitchFamily="34" charset="-122"/>
                <a:cs typeface="Arial" pitchFamily="34" charset="-120"/>
              </a:rPr>
              <a:t>The on-prem lakehouse produces Gold aggregates via the medallion pipeline. Any AI surface must read from Gold, not replicate it.</a:t>
            </a:r>
            <a:endParaRPr lang="en-US" sz="1100" dirty="0"/>
          </a:p>
        </p:txBody>
      </p:sp>
      <p:sp>
        <p:nvSpPr>
          <p:cNvPr id="14" name="Shape 12"/>
          <p:cNvSpPr/>
          <p:nvPr/>
        </p:nvSpPr>
        <p:spPr>
          <a:xfrm>
            <a:off x="548640" y="3840480"/>
            <a:ext cx="10515600" cy="1097280"/>
          </a:xfrm>
          <a:prstGeom prst="rect">
            <a:avLst>
              <a:gd name="adj" fmla="val 5000"/>
            </a:avLst>
          </a:prstGeom>
          <a:solidFill>
            <a:srgbClr val="F3F4FB"/>
          </a:solidFill>
          <a:ln/>
        </p:spPr>
      </p:sp>
      <p:sp>
        <p:nvSpPr>
          <p:cNvPr id="15" name="Shape 13"/>
          <p:cNvSpPr/>
          <p:nvPr/>
        </p:nvSpPr>
        <p:spPr>
          <a:xfrm>
            <a:off x="548640" y="3840480"/>
            <a:ext cx="73152" cy="1097280"/>
          </a:xfrm>
          <a:prstGeom prst="rect">
            <a:avLst/>
          </a:prstGeom>
          <a:solidFill>
            <a:srgbClr val="3068FF"/>
          </a:solidFill>
          <a:ln/>
        </p:spPr>
      </p:sp>
      <p:sp>
        <p:nvSpPr>
          <p:cNvPr id="16" name="Text 14"/>
          <p:cNvSpPr/>
          <p:nvPr/>
        </p:nvSpPr>
        <p:spPr>
          <a:xfrm>
            <a:off x="914400" y="3931920"/>
            <a:ext cx="9875520" cy="365760"/>
          </a:xfrm>
          <a:prstGeom prst="rect">
            <a:avLst/>
          </a:prstGeom>
          <a:noFill/>
          <a:ln/>
        </p:spPr>
        <p:txBody>
          <a:bodyPr wrap="square" lIns="0" tIns="0" rIns="0" bIns="0" rtlCol="0" anchor="ctr"/>
          <a:lstStyle/>
          <a:p>
            <a:pPr indent="0" marL="0">
              <a:buNone/>
            </a:pPr>
            <a:r>
              <a:rPr lang="en-US" sz="1500" b="1" dirty="0">
                <a:solidFill>
                  <a:srgbClr val="003068"/>
                </a:solidFill>
                <a:latin typeface="Arial" pitchFamily="34" charset="0"/>
                <a:ea typeface="Arial" pitchFamily="34" charset="-122"/>
                <a:cs typeface="Arial" pitchFamily="34" charset="-120"/>
              </a:rPr>
              <a:t>Fabric readiness is TBD</a:t>
            </a:r>
            <a:endParaRPr lang="en-US" sz="1500" dirty="0"/>
          </a:p>
        </p:txBody>
      </p:sp>
      <p:sp>
        <p:nvSpPr>
          <p:cNvPr id="17" name="Text 15"/>
          <p:cNvSpPr/>
          <p:nvPr/>
        </p:nvSpPr>
        <p:spPr>
          <a:xfrm>
            <a:off x="914400" y="4297680"/>
            <a:ext cx="9875520" cy="502920"/>
          </a:xfrm>
          <a:prstGeom prst="rect">
            <a:avLst/>
          </a:prstGeom>
          <a:noFill/>
          <a:ln/>
        </p:spPr>
        <p:txBody>
          <a:bodyPr wrap="square" lIns="0" tIns="0" rIns="0" bIns="0" rtlCol="0" anchor="ctr"/>
          <a:lstStyle/>
          <a:p>
            <a:pPr indent="0" marL="0">
              <a:buNone/>
            </a:pPr>
            <a:r>
              <a:rPr lang="en-US" sz="1100" dirty="0">
                <a:solidFill>
                  <a:srgbClr val="555555"/>
                </a:solidFill>
                <a:latin typeface="Arial" pitchFamily="34" charset="0"/>
                <a:ea typeface="Arial" pitchFamily="34" charset="-122"/>
                <a:cs typeface="Arial" pitchFamily="34" charset="-120"/>
              </a:rPr>
              <a:t>Leadership wants to start shipping now on Snowflake, with a clean extension path to Fabric when the BI migration completes.</a:t>
            </a:r>
            <a:endParaRPr lang="en-US" sz="1100" dirty="0"/>
          </a:p>
        </p:txBody>
      </p:sp>
      <p:sp>
        <p:nvSpPr>
          <p:cNvPr id="18" name="Shape 16"/>
          <p:cNvSpPr/>
          <p:nvPr/>
        </p:nvSpPr>
        <p:spPr>
          <a:xfrm>
            <a:off x="548640" y="5120640"/>
            <a:ext cx="10515600" cy="1097280"/>
          </a:xfrm>
          <a:prstGeom prst="rect">
            <a:avLst>
              <a:gd name="adj" fmla="val 5000"/>
            </a:avLst>
          </a:prstGeom>
          <a:solidFill>
            <a:srgbClr val="F3F4FB"/>
          </a:solidFill>
          <a:ln/>
        </p:spPr>
      </p:sp>
      <p:sp>
        <p:nvSpPr>
          <p:cNvPr id="19" name="Shape 17"/>
          <p:cNvSpPr/>
          <p:nvPr/>
        </p:nvSpPr>
        <p:spPr>
          <a:xfrm>
            <a:off x="548640" y="5120640"/>
            <a:ext cx="73152" cy="1097280"/>
          </a:xfrm>
          <a:prstGeom prst="rect">
            <a:avLst/>
          </a:prstGeom>
          <a:solidFill>
            <a:srgbClr val="3068FF"/>
          </a:solidFill>
          <a:ln/>
        </p:spPr>
      </p:sp>
      <p:sp>
        <p:nvSpPr>
          <p:cNvPr id="20" name="Text 18"/>
          <p:cNvSpPr/>
          <p:nvPr/>
        </p:nvSpPr>
        <p:spPr>
          <a:xfrm>
            <a:off x="914400" y="5212080"/>
            <a:ext cx="9875520" cy="365760"/>
          </a:xfrm>
          <a:prstGeom prst="rect">
            <a:avLst/>
          </a:prstGeom>
          <a:noFill/>
          <a:ln/>
        </p:spPr>
        <p:txBody>
          <a:bodyPr wrap="square" lIns="0" tIns="0" rIns="0" bIns="0" rtlCol="0" anchor="ctr"/>
          <a:lstStyle/>
          <a:p>
            <a:pPr indent="0" marL="0">
              <a:buNone/>
            </a:pPr>
            <a:r>
              <a:rPr lang="en-US" sz="1500" b="1" dirty="0">
                <a:solidFill>
                  <a:srgbClr val="003068"/>
                </a:solidFill>
                <a:latin typeface="Arial" pitchFamily="34" charset="0"/>
                <a:ea typeface="Arial" pitchFamily="34" charset="-122"/>
                <a:cs typeface="Arial" pitchFamily="34" charset="-120"/>
              </a:rPr>
              <a:t>Governance can't have gaps</a:t>
            </a:r>
            <a:endParaRPr lang="en-US" sz="1500" dirty="0"/>
          </a:p>
        </p:txBody>
      </p:sp>
      <p:sp>
        <p:nvSpPr>
          <p:cNvPr id="21" name="Text 19"/>
          <p:cNvSpPr/>
          <p:nvPr/>
        </p:nvSpPr>
        <p:spPr>
          <a:xfrm>
            <a:off x="914400" y="5577840"/>
            <a:ext cx="9875520" cy="502920"/>
          </a:xfrm>
          <a:prstGeom prst="rect">
            <a:avLst/>
          </a:prstGeom>
          <a:noFill/>
          <a:ln/>
        </p:spPr>
        <p:txBody>
          <a:bodyPr wrap="square" lIns="0" tIns="0" rIns="0" bIns="0" rtlCol="0" anchor="ctr"/>
          <a:lstStyle/>
          <a:p>
            <a:pPr indent="0" marL="0">
              <a:buNone/>
            </a:pPr>
            <a:r>
              <a:rPr lang="en-US" sz="1100" dirty="0">
                <a:solidFill>
                  <a:srgbClr val="555555"/>
                </a:solidFill>
                <a:latin typeface="Arial" pitchFamily="34" charset="0"/>
                <a:ea typeface="Arial" pitchFamily="34" charset="-122"/>
                <a:cs typeface="Arial" pitchFamily="34" charset="-120"/>
              </a:rPr>
              <a:t>OSFI B-13 and BCBS 239 require consistent access controls. Any new compute engine must enforce the same policies as Trino/Ranger.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82880" y="45720"/>
            <a:ext cx="5486400" cy="182880"/>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3" name="Text 1"/>
          <p:cNvSpPr/>
          <p:nvPr/>
        </p:nvSpPr>
        <p:spPr>
          <a:xfrm>
            <a:off x="11704320" y="6583680"/>
            <a:ext cx="365760" cy="182880"/>
          </a:xfrm>
          <a:prstGeom prst="rect">
            <a:avLst/>
          </a:prstGeom>
          <a:noFill/>
          <a:ln/>
        </p:spPr>
        <p:txBody>
          <a:bodyPr wrap="square" rtlCol="0" anchor="ctr"/>
          <a:lstStyle/>
          <a:p>
            <a:pPr algn="r" indent="0" marL="0">
              <a:buNone/>
            </a:pPr>
            <a:r>
              <a:rPr lang="en-US" sz="900" dirty="0">
                <a:solidFill>
                  <a:srgbClr val="87AFBF"/>
                </a:solidFill>
                <a:latin typeface="Arial" pitchFamily="34" charset="0"/>
                <a:ea typeface="Arial" pitchFamily="34" charset="-122"/>
                <a:cs typeface="Arial" pitchFamily="34" charset="-120"/>
              </a:rPr>
              <a:t>03</a:t>
            </a:r>
            <a:endParaRPr lang="en-US" sz="900" dirty="0"/>
          </a:p>
        </p:txBody>
      </p:sp>
      <p:sp>
        <p:nvSpPr>
          <p:cNvPr id="4" name="Text 2"/>
          <p:cNvSpPr/>
          <p:nvPr/>
        </p:nvSpPr>
        <p:spPr>
          <a:xfrm>
            <a:off x="548640" y="365760"/>
            <a:ext cx="10972800" cy="548640"/>
          </a:xfrm>
          <a:prstGeom prst="rect">
            <a:avLst/>
          </a:prstGeom>
          <a:noFill/>
          <a:ln/>
        </p:spPr>
        <p:txBody>
          <a:bodyPr wrap="square" rtlCol="0" anchor="ctr"/>
          <a:lstStyle/>
          <a:p>
            <a:pPr indent="0" marL="0">
              <a:buNone/>
            </a:pPr>
            <a:r>
              <a:rPr lang="en-US" sz="2800" b="1" dirty="0">
                <a:solidFill>
                  <a:srgbClr val="003068"/>
                </a:solidFill>
                <a:latin typeface="Arial" pitchFamily="34" charset="0"/>
                <a:ea typeface="Arial" pitchFamily="34" charset="-122"/>
                <a:cs typeface="Arial" pitchFamily="34" charset="-120"/>
              </a:rPr>
              <a:t>Solution: phased semantic layer</a:t>
            </a:r>
            <a:endParaRPr lang="en-US" sz="2800" dirty="0"/>
          </a:p>
        </p:txBody>
      </p:sp>
      <p:sp>
        <p:nvSpPr>
          <p:cNvPr id="5" name="Shape 3"/>
          <p:cNvSpPr/>
          <p:nvPr/>
        </p:nvSpPr>
        <p:spPr>
          <a:xfrm>
            <a:off x="548640" y="960120"/>
            <a:ext cx="10515600" cy="0"/>
          </a:xfrm>
          <a:prstGeom prst="line">
            <a:avLst/>
          </a:prstGeom>
          <a:noFill/>
          <a:ln w="12700">
            <a:solidFill>
              <a:srgbClr val="87AFBF"/>
            </a:solidFill>
            <a:prstDash val="solid"/>
          </a:ln>
        </p:spPr>
      </p:sp>
      <p:sp>
        <p:nvSpPr>
          <p:cNvPr id="6" name="Shape 4"/>
          <p:cNvSpPr/>
          <p:nvPr/>
        </p:nvSpPr>
        <p:spPr>
          <a:xfrm>
            <a:off x="548640" y="1280160"/>
            <a:ext cx="5120640" cy="3840480"/>
          </a:xfrm>
          <a:prstGeom prst="rect">
            <a:avLst/>
          </a:prstGeom>
          <a:solidFill>
            <a:srgbClr val="F3F4FB"/>
          </a:solidFill>
          <a:ln/>
          <a:effectLst>
            <a:outerShdw sx="100000" sy="100000" kx="0" ky="0" algn="bl" rotWithShape="0" blurRad="50800" dist="25400" dir="8100000">
              <a:srgbClr val="000000">
                <a:alpha val="8000"/>
              </a:srgbClr>
            </a:outerShdw>
          </a:effectLst>
        </p:spPr>
      </p:sp>
      <p:sp>
        <p:nvSpPr>
          <p:cNvPr id="7" name="Shape 5"/>
          <p:cNvSpPr/>
          <p:nvPr/>
        </p:nvSpPr>
        <p:spPr>
          <a:xfrm>
            <a:off x="548640" y="1280160"/>
            <a:ext cx="5120640" cy="457200"/>
          </a:xfrm>
          <a:prstGeom prst="rect">
            <a:avLst/>
          </a:prstGeom>
          <a:solidFill>
            <a:srgbClr val="3068FF"/>
          </a:solidFill>
          <a:ln/>
        </p:spPr>
      </p:sp>
      <p:sp>
        <p:nvSpPr>
          <p:cNvPr id="8" name="Text 6"/>
          <p:cNvSpPr/>
          <p:nvPr/>
        </p:nvSpPr>
        <p:spPr>
          <a:xfrm>
            <a:off x="548640" y="1280160"/>
            <a:ext cx="512064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Phase 1 — Ship now</a:t>
            </a:r>
            <a:endParaRPr lang="en-US" sz="1600" dirty="0"/>
          </a:p>
        </p:txBody>
      </p:sp>
      <p:sp>
        <p:nvSpPr>
          <p:cNvPr id="9" name="Text 7"/>
          <p:cNvSpPr/>
          <p:nvPr/>
        </p:nvSpPr>
        <p:spPr>
          <a:xfrm>
            <a:off x="822960" y="1920240"/>
            <a:ext cx="4572000" cy="3017520"/>
          </a:xfrm>
          <a:prstGeom prst="rect">
            <a:avLst/>
          </a:prstGeom>
          <a:noFill/>
          <a:ln/>
        </p:spPr>
        <p:txBody>
          <a:bodyPr wrap="square" rtlCol="0" anchor="ctr"/>
          <a:lstStyle/>
          <a:p>
            <a:pPr marL="342900" indent="-342900">
              <a:lnSpc>
                <a:spcPct val="150000"/>
              </a:lnSpc>
              <a:buSzPct val="100000"/>
              <a:buChar char="•"/>
            </a:pPr>
            <a:r>
              <a:rPr lang="en-US" sz="1100" dirty="0">
                <a:solidFill>
                  <a:srgbClr val="222730"/>
                </a:solidFill>
                <a:latin typeface="Arial" pitchFamily="34" charset="0"/>
                <a:ea typeface="Arial" pitchFamily="34" charset="-122"/>
                <a:cs typeface="Arial" pitchFamily="34" charset="-120"/>
              </a:rPr>
              <a:t>Snowflake as access layer over Gold Iceberg V2</a:t>
            </a:r>
            <a:endParaRPr lang="en-US" sz="1100" dirty="0"/>
          </a:p>
          <a:p>
            <a:pPr marL="342900" indent="-342900">
              <a:lnSpc>
                <a:spcPct val="150000"/>
              </a:lnSpc>
              <a:buSzPct val="100000"/>
              <a:buChar char="•"/>
            </a:pPr>
            <a:r>
              <a:rPr lang="en-US" sz="1100" dirty="0">
                <a:solidFill>
                  <a:srgbClr val="222730"/>
                </a:solidFill>
                <a:latin typeface="Arial" pitchFamily="34" charset="0"/>
                <a:ea typeface="Arial" pitchFamily="34" charset="-122"/>
                <a:cs typeface="Arial" pitchFamily="34" charset="-120"/>
              </a:rPr>
              <a:t>Semantic views (CREATE SEMANTIC VIEW) define metrics, dimensions, time grains</a:t>
            </a:r>
            <a:endParaRPr lang="en-US" sz="1100" dirty="0"/>
          </a:p>
          <a:p>
            <a:pPr marL="342900" indent="-342900">
              <a:lnSpc>
                <a:spcPct val="150000"/>
              </a:lnSpc>
              <a:buSzPct val="100000"/>
              <a:buChar char="•"/>
            </a:pPr>
            <a:r>
              <a:rPr lang="en-US" sz="1100" dirty="0">
                <a:solidFill>
                  <a:srgbClr val="222730"/>
                </a:solidFill>
                <a:latin typeface="Arial" pitchFamily="34" charset="0"/>
                <a:ea typeface="Arial" pitchFamily="34" charset="-122"/>
                <a:cs typeface="Arial" pitchFamily="34" charset="-120"/>
              </a:rPr>
              <a:t>Cortex Analyst provides NL-to-SQL via REST API</a:t>
            </a:r>
            <a:endParaRPr lang="en-US" sz="1100" dirty="0"/>
          </a:p>
          <a:p>
            <a:pPr marL="342900" indent="-342900">
              <a:lnSpc>
                <a:spcPct val="150000"/>
              </a:lnSpc>
              <a:buSzPct val="100000"/>
              <a:buChar char="•"/>
            </a:pPr>
            <a:r>
              <a:rPr lang="en-US" sz="1100" dirty="0">
                <a:solidFill>
                  <a:srgbClr val="222730"/>
                </a:solidFill>
                <a:latin typeface="Arial" pitchFamily="34" charset="0"/>
                <a:ea typeface="Arial" pitchFamily="34" charset="-122"/>
                <a:cs typeface="Arial" pitchFamily="34" charset="-120"/>
              </a:rPr>
              <a:t>FastAPI trust boundary sits in front — orchestrator LLM + guardrails</a:t>
            </a:r>
            <a:endParaRPr lang="en-US" sz="1100" dirty="0"/>
          </a:p>
          <a:p>
            <a:pPr marL="342900" indent="-342900">
              <a:lnSpc>
                <a:spcPct val="150000"/>
              </a:lnSpc>
              <a:buSzPct val="100000"/>
              <a:buChar char="•"/>
            </a:pPr>
            <a:r>
              <a:rPr lang="en-US" sz="1100" dirty="0">
                <a:solidFill>
                  <a:srgbClr val="222730"/>
                </a:solidFill>
                <a:latin typeface="Arial" pitchFamily="34" charset="0"/>
                <a:ea typeface="Arial" pitchFamily="34" charset="-122"/>
                <a:cs typeface="Arial" pitchFamily="34" charset="-120"/>
              </a:rPr>
              <a:t>Semantic model YAML lives in GitHub, deployed via CI/CD</a:t>
            </a:r>
            <a:endParaRPr lang="en-US" sz="1100" dirty="0"/>
          </a:p>
          <a:p>
            <a:pPr marL="342900" indent="-342900">
              <a:lnSpc>
                <a:spcPct val="150000"/>
              </a:lnSpc>
              <a:buSzPct val="100000"/>
              <a:buChar char="•"/>
            </a:pPr>
            <a:r>
              <a:rPr lang="en-US" sz="1100" dirty="0">
                <a:solidFill>
                  <a:srgbClr val="222730"/>
                </a:solidFill>
                <a:latin typeface="Arial" pitchFamily="34" charset="0"/>
                <a:ea typeface="Arial" pitchFamily="34" charset="-122"/>
                <a:cs typeface="Arial" pitchFamily="34" charset="-120"/>
              </a:rPr>
              <a:t>Zero-copy read: Snowflake external volumes → Iceberg</a:t>
            </a:r>
            <a:endParaRPr lang="en-US" sz="1100" dirty="0"/>
          </a:p>
        </p:txBody>
      </p:sp>
      <p:sp>
        <p:nvSpPr>
          <p:cNvPr id="10" name="Shape 8"/>
          <p:cNvSpPr/>
          <p:nvPr/>
        </p:nvSpPr>
        <p:spPr>
          <a:xfrm>
            <a:off x="6217920" y="1280160"/>
            <a:ext cx="5120640" cy="3840480"/>
          </a:xfrm>
          <a:prstGeom prst="rect">
            <a:avLst/>
          </a:prstGeom>
          <a:solidFill>
            <a:srgbClr val="F3F4FB"/>
          </a:solidFill>
          <a:ln/>
          <a:effectLst>
            <a:outerShdw sx="100000" sy="100000" kx="0" ky="0" algn="bl" rotWithShape="0" blurRad="50800" dist="25400" dir="8100000">
              <a:srgbClr val="000000">
                <a:alpha val="8000"/>
              </a:srgbClr>
            </a:outerShdw>
          </a:effectLst>
        </p:spPr>
      </p:sp>
      <p:sp>
        <p:nvSpPr>
          <p:cNvPr id="11" name="Shape 9"/>
          <p:cNvSpPr/>
          <p:nvPr/>
        </p:nvSpPr>
        <p:spPr>
          <a:xfrm>
            <a:off x="6217920" y="1280160"/>
            <a:ext cx="5120640" cy="457200"/>
          </a:xfrm>
          <a:prstGeom prst="rect">
            <a:avLst/>
          </a:prstGeom>
          <a:solidFill>
            <a:srgbClr val="2AD2C9"/>
          </a:solidFill>
          <a:ln/>
        </p:spPr>
      </p:sp>
      <p:sp>
        <p:nvSpPr>
          <p:cNvPr id="12" name="Text 10"/>
          <p:cNvSpPr/>
          <p:nvPr/>
        </p:nvSpPr>
        <p:spPr>
          <a:xfrm>
            <a:off x="6217920" y="1280160"/>
            <a:ext cx="5120640" cy="457200"/>
          </a:xfrm>
          <a:prstGeom prst="rect">
            <a:avLst/>
          </a:prstGeom>
          <a:noFill/>
          <a:ln/>
        </p:spPr>
        <p:txBody>
          <a:bodyPr wrap="square" rtlCol="0" anchor="ctr"/>
          <a:lstStyle/>
          <a:p>
            <a:pPr algn="ctr" indent="0" marL="0">
              <a:buNone/>
            </a:pPr>
            <a:r>
              <a:rPr lang="en-US" sz="1600" b="1" dirty="0">
                <a:solidFill>
                  <a:srgbClr val="003068"/>
                </a:solidFill>
                <a:latin typeface="Arial" pitchFamily="34" charset="0"/>
                <a:ea typeface="Arial" pitchFamily="34" charset="-122"/>
                <a:cs typeface="Arial" pitchFamily="34" charset="-120"/>
              </a:rPr>
              <a:t>Phase 2 — Extend later</a:t>
            </a:r>
            <a:endParaRPr lang="en-US" sz="1600" dirty="0"/>
          </a:p>
        </p:txBody>
      </p:sp>
      <p:sp>
        <p:nvSpPr>
          <p:cNvPr id="13" name="Text 11"/>
          <p:cNvSpPr/>
          <p:nvPr/>
        </p:nvSpPr>
        <p:spPr>
          <a:xfrm>
            <a:off x="6492240" y="1920240"/>
            <a:ext cx="4572000" cy="3017520"/>
          </a:xfrm>
          <a:prstGeom prst="rect">
            <a:avLst/>
          </a:prstGeom>
          <a:noFill/>
          <a:ln/>
        </p:spPr>
        <p:txBody>
          <a:bodyPr wrap="square" rtlCol="0" anchor="ctr"/>
          <a:lstStyle/>
          <a:p>
            <a:pPr marL="342900" indent="-342900">
              <a:lnSpc>
                <a:spcPct val="150000"/>
              </a:lnSpc>
              <a:buSzPct val="100000"/>
              <a:buChar char="•"/>
            </a:pPr>
            <a:r>
              <a:rPr lang="en-US" sz="1100" dirty="0">
                <a:solidFill>
                  <a:srgbClr val="222730"/>
                </a:solidFill>
                <a:latin typeface="Arial" pitchFamily="34" charset="0"/>
                <a:ea typeface="Arial" pitchFamily="34" charset="-122"/>
                <a:cs typeface="Arial" pitchFamily="34" charset="-120"/>
              </a:rPr>
              <a:t>Add Fabric as parallel BI/AI surface</a:t>
            </a:r>
            <a:endParaRPr lang="en-US" sz="1100" dirty="0"/>
          </a:p>
          <a:p>
            <a:pPr marL="342900" indent="-342900">
              <a:lnSpc>
                <a:spcPct val="150000"/>
              </a:lnSpc>
              <a:buSzPct val="100000"/>
              <a:buChar char="•"/>
            </a:pPr>
            <a:r>
              <a:rPr lang="en-US" sz="1100" dirty="0">
                <a:solidFill>
                  <a:srgbClr val="222730"/>
                </a:solidFill>
                <a:latin typeface="Arial" pitchFamily="34" charset="0"/>
                <a:ea typeface="Arial" pitchFamily="34" charset="-122"/>
                <a:cs typeface="Arial" pitchFamily="34" charset="-120"/>
              </a:rPr>
              <a:t>FastAPI becomes a router: NL → Snowflake, BI → Fabric</a:t>
            </a:r>
            <a:endParaRPr lang="en-US" sz="1100" dirty="0"/>
          </a:p>
          <a:p>
            <a:pPr marL="342900" indent="-342900">
              <a:lnSpc>
                <a:spcPct val="150000"/>
              </a:lnSpc>
              <a:buSzPct val="100000"/>
              <a:buChar char="•"/>
            </a:pPr>
            <a:r>
              <a:rPr lang="en-US" sz="1100" dirty="0">
                <a:solidFill>
                  <a:srgbClr val="222730"/>
                </a:solidFill>
                <a:latin typeface="Arial" pitchFamily="34" charset="0"/>
                <a:ea typeface="Arial" pitchFamily="34" charset="-122"/>
                <a:cs typeface="Arial" pitchFamily="34" charset="-120"/>
              </a:rPr>
              <a:t>Same YAML in GitHub deploys to both engines</a:t>
            </a:r>
            <a:endParaRPr lang="en-US" sz="1100" dirty="0"/>
          </a:p>
          <a:p>
            <a:pPr marL="342900" indent="-342900">
              <a:lnSpc>
                <a:spcPct val="150000"/>
              </a:lnSpc>
              <a:buSzPct val="100000"/>
              <a:buChar char="•"/>
            </a:pPr>
            <a:r>
              <a:rPr lang="en-US" sz="1100" dirty="0">
                <a:solidFill>
                  <a:srgbClr val="222730"/>
                </a:solidFill>
                <a:latin typeface="Arial" pitchFamily="34" charset="0"/>
                <a:ea typeface="Arial" pitchFamily="34" charset="-122"/>
                <a:cs typeface="Arial" pitchFamily="34" charset="-120"/>
              </a:rPr>
              <a:t>Import semantic model in Fabric for Power BI</a:t>
            </a:r>
            <a:endParaRPr lang="en-US" sz="1100" dirty="0"/>
          </a:p>
          <a:p>
            <a:pPr marL="342900" indent="-342900">
              <a:lnSpc>
                <a:spcPct val="150000"/>
              </a:lnSpc>
              <a:buSzPct val="100000"/>
              <a:buChar char="•"/>
            </a:pPr>
            <a:r>
              <a:rPr lang="en-US" sz="1100" dirty="0">
                <a:solidFill>
                  <a:srgbClr val="222730"/>
                </a:solidFill>
                <a:latin typeface="Arial" pitchFamily="34" charset="0"/>
                <a:ea typeface="Arial" pitchFamily="34" charset="-122"/>
                <a:cs typeface="Arial" pitchFamily="34" charset="-120"/>
              </a:rPr>
              <a:t>OneLake gets Delta copy of Gold (ADR-010 pattern)</a:t>
            </a:r>
            <a:endParaRPr lang="en-US" sz="1100" dirty="0"/>
          </a:p>
          <a:p>
            <a:pPr marL="342900" indent="-342900">
              <a:lnSpc>
                <a:spcPct val="150000"/>
              </a:lnSpc>
              <a:buSzPct val="100000"/>
              <a:buChar char="•"/>
            </a:pPr>
            <a:r>
              <a:rPr lang="en-US" sz="1100" dirty="0">
                <a:solidFill>
                  <a:srgbClr val="222730"/>
                </a:solidFill>
                <a:latin typeface="Arial" pitchFamily="34" charset="0"/>
                <a:ea typeface="Arial" pitchFamily="34" charset="-122"/>
                <a:cs typeface="Arial" pitchFamily="34" charset="-120"/>
              </a:rPr>
              <a:t>Phase 1 stays intact — nothing torn down</a:t>
            </a:r>
            <a:endParaRPr lang="en-US" sz="1100" dirty="0"/>
          </a:p>
        </p:txBody>
      </p:sp>
      <p:sp>
        <p:nvSpPr>
          <p:cNvPr id="14" name="Text 12"/>
          <p:cNvSpPr/>
          <p:nvPr/>
        </p:nvSpPr>
        <p:spPr>
          <a:xfrm>
            <a:off x="548640" y="5486400"/>
            <a:ext cx="10972800" cy="457200"/>
          </a:xfrm>
          <a:prstGeom prst="rect">
            <a:avLst/>
          </a:prstGeom>
          <a:noFill/>
          <a:ln/>
        </p:spPr>
        <p:txBody>
          <a:bodyPr wrap="square" rtlCol="0" anchor="ctr"/>
          <a:lstStyle/>
          <a:p>
            <a:pPr algn="ctr" indent="0" marL="0">
              <a:buNone/>
            </a:pPr>
            <a:r>
              <a:rPr lang="en-US" sz="1300" b="1" i="1" dirty="0">
                <a:solidFill>
                  <a:srgbClr val="3068FF"/>
                </a:solidFill>
                <a:latin typeface="Arial" pitchFamily="34" charset="0"/>
                <a:ea typeface="Arial" pitchFamily="34" charset="-122"/>
                <a:cs typeface="Arial" pitchFamily="34" charset="-120"/>
              </a:rPr>
              <a:t>Key principle: one definition in GitHub, deployed to each engine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82880" y="45720"/>
            <a:ext cx="5486400" cy="182880"/>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3" name="Text 1"/>
          <p:cNvSpPr/>
          <p:nvPr/>
        </p:nvSpPr>
        <p:spPr>
          <a:xfrm>
            <a:off x="11704320" y="6583680"/>
            <a:ext cx="365760" cy="182880"/>
          </a:xfrm>
          <a:prstGeom prst="rect">
            <a:avLst/>
          </a:prstGeom>
          <a:noFill/>
          <a:ln/>
        </p:spPr>
        <p:txBody>
          <a:bodyPr wrap="square" rtlCol="0" anchor="ctr"/>
          <a:lstStyle/>
          <a:p>
            <a:pPr algn="r" indent="0" marL="0">
              <a:buNone/>
            </a:pPr>
            <a:r>
              <a:rPr lang="en-US" sz="900" dirty="0">
                <a:solidFill>
                  <a:srgbClr val="87AFBF"/>
                </a:solidFill>
                <a:latin typeface="Arial" pitchFamily="34" charset="0"/>
                <a:ea typeface="Arial" pitchFamily="34" charset="-122"/>
                <a:cs typeface="Arial" pitchFamily="34" charset="-120"/>
              </a:rPr>
              <a:t>04</a:t>
            </a:r>
            <a:endParaRPr lang="en-US" sz="900" dirty="0"/>
          </a:p>
        </p:txBody>
      </p:sp>
      <p:sp>
        <p:nvSpPr>
          <p:cNvPr id="4" name="Text 2"/>
          <p:cNvSpPr/>
          <p:nvPr/>
        </p:nvSpPr>
        <p:spPr>
          <a:xfrm>
            <a:off x="548640" y="365760"/>
            <a:ext cx="10972800" cy="548640"/>
          </a:xfrm>
          <a:prstGeom prst="rect">
            <a:avLst/>
          </a:prstGeom>
          <a:noFill/>
          <a:ln/>
        </p:spPr>
        <p:txBody>
          <a:bodyPr wrap="square" rtlCol="0" anchor="ctr"/>
          <a:lstStyle/>
          <a:p>
            <a:pPr indent="0" marL="0">
              <a:buNone/>
            </a:pPr>
            <a:r>
              <a:rPr lang="en-US" sz="2800" b="1" dirty="0">
                <a:solidFill>
                  <a:srgbClr val="003068"/>
                </a:solidFill>
                <a:latin typeface="Arial" pitchFamily="34" charset="0"/>
                <a:ea typeface="Arial" pitchFamily="34" charset="-122"/>
                <a:cs typeface="Arial" pitchFamily="34" charset="-120"/>
              </a:rPr>
              <a:t>Phase 1 architecture</a:t>
            </a:r>
            <a:endParaRPr lang="en-US" sz="2800" dirty="0"/>
          </a:p>
        </p:txBody>
      </p:sp>
      <p:sp>
        <p:nvSpPr>
          <p:cNvPr id="5" name="Shape 3"/>
          <p:cNvSpPr/>
          <p:nvPr/>
        </p:nvSpPr>
        <p:spPr>
          <a:xfrm>
            <a:off x="548640" y="960120"/>
            <a:ext cx="10515600" cy="0"/>
          </a:xfrm>
          <a:prstGeom prst="line">
            <a:avLst/>
          </a:prstGeom>
          <a:noFill/>
          <a:ln w="12700">
            <a:solidFill>
              <a:srgbClr val="87AFBF"/>
            </a:solidFill>
            <a:prstDash val="solid"/>
          </a:ln>
        </p:spPr>
      </p:sp>
      <p:sp>
        <p:nvSpPr>
          <p:cNvPr id="6" name="Shape 4"/>
          <p:cNvSpPr/>
          <p:nvPr/>
        </p:nvSpPr>
        <p:spPr>
          <a:xfrm>
            <a:off x="1371600" y="1188720"/>
            <a:ext cx="2011680" cy="502920"/>
          </a:xfrm>
          <a:prstGeom prst="rect">
            <a:avLst>
              <a:gd name="adj" fmla="val 9091"/>
            </a:avLst>
          </a:prstGeom>
          <a:solidFill>
            <a:srgbClr val="DEE5EF"/>
          </a:solidFill>
          <a:ln/>
          <a:effectLst>
            <a:outerShdw sx="100000" sy="100000" kx="0" ky="0" algn="bl" rotWithShape="0" blurRad="50800" dist="25400" dir="8100000">
              <a:srgbClr val="000000">
                <a:alpha val="8000"/>
              </a:srgbClr>
            </a:outerShdw>
          </a:effectLst>
        </p:spPr>
      </p:sp>
      <p:sp>
        <p:nvSpPr>
          <p:cNvPr id="7" name="Text 5"/>
          <p:cNvSpPr/>
          <p:nvPr/>
        </p:nvSpPr>
        <p:spPr>
          <a:xfrm>
            <a:off x="1371600" y="1188720"/>
            <a:ext cx="2011680" cy="502920"/>
          </a:xfrm>
          <a:prstGeom prst="rect">
            <a:avLst/>
          </a:prstGeom>
          <a:noFill/>
          <a:ln/>
        </p:spPr>
        <p:txBody>
          <a:bodyPr wrap="square" rtlCol="0" anchor="ctr"/>
          <a:lstStyle/>
          <a:p>
            <a:pPr algn="ctr" indent="0" marL="0">
              <a:buNone/>
            </a:pPr>
            <a:r>
              <a:rPr lang="en-US" sz="1100" b="1" dirty="0">
                <a:solidFill>
                  <a:srgbClr val="003068"/>
                </a:solidFill>
                <a:latin typeface="Arial" pitchFamily="34" charset="0"/>
                <a:ea typeface="Arial" pitchFamily="34" charset="-122"/>
                <a:cs typeface="Arial" pitchFamily="34" charset="-120"/>
              </a:rPr>
              <a:t>RBC Assist</a:t>
            </a:r>
            <a:endParaRPr lang="en-US" sz="1100" dirty="0"/>
          </a:p>
        </p:txBody>
      </p:sp>
      <p:sp>
        <p:nvSpPr>
          <p:cNvPr id="8" name="Shape 6"/>
          <p:cNvSpPr/>
          <p:nvPr/>
        </p:nvSpPr>
        <p:spPr>
          <a:xfrm>
            <a:off x="3840480" y="1188720"/>
            <a:ext cx="2011680" cy="502920"/>
          </a:xfrm>
          <a:prstGeom prst="rect">
            <a:avLst>
              <a:gd name="adj" fmla="val 9091"/>
            </a:avLst>
          </a:prstGeom>
          <a:solidFill>
            <a:srgbClr val="DEE5EF"/>
          </a:solidFill>
          <a:ln/>
          <a:effectLst>
            <a:outerShdw sx="100000" sy="100000" kx="0" ky="0" algn="bl" rotWithShape="0" blurRad="50800" dist="25400" dir="8100000">
              <a:srgbClr val="000000">
                <a:alpha val="8000"/>
              </a:srgbClr>
            </a:outerShdw>
          </a:effectLst>
        </p:spPr>
      </p:sp>
      <p:sp>
        <p:nvSpPr>
          <p:cNvPr id="9" name="Text 7"/>
          <p:cNvSpPr/>
          <p:nvPr/>
        </p:nvSpPr>
        <p:spPr>
          <a:xfrm>
            <a:off x="3840480" y="1188720"/>
            <a:ext cx="2011680" cy="502920"/>
          </a:xfrm>
          <a:prstGeom prst="rect">
            <a:avLst/>
          </a:prstGeom>
          <a:noFill/>
          <a:ln/>
        </p:spPr>
        <p:txBody>
          <a:bodyPr wrap="square" rtlCol="0" anchor="ctr"/>
          <a:lstStyle/>
          <a:p>
            <a:pPr algn="ctr" indent="0" marL="0">
              <a:buNone/>
            </a:pPr>
            <a:r>
              <a:rPr lang="en-US" sz="1100" b="1" dirty="0">
                <a:solidFill>
                  <a:srgbClr val="003068"/>
                </a:solidFill>
                <a:latin typeface="Arial" pitchFamily="34" charset="0"/>
                <a:ea typeface="Arial" pitchFamily="34" charset="-122"/>
                <a:cs typeface="Arial" pitchFamily="34" charset="-120"/>
              </a:rPr>
              <a:t>Borealis</a:t>
            </a:r>
            <a:endParaRPr lang="en-US" sz="1100" dirty="0"/>
          </a:p>
        </p:txBody>
      </p:sp>
      <p:sp>
        <p:nvSpPr>
          <p:cNvPr id="10" name="Shape 8"/>
          <p:cNvSpPr/>
          <p:nvPr/>
        </p:nvSpPr>
        <p:spPr>
          <a:xfrm>
            <a:off x="8229600" y="1188720"/>
            <a:ext cx="2560320" cy="502920"/>
          </a:xfrm>
          <a:prstGeom prst="rect">
            <a:avLst>
              <a:gd name="adj" fmla="val 9091"/>
            </a:avLst>
          </a:prstGeom>
          <a:solidFill>
            <a:srgbClr val="DEE5EF"/>
          </a:solidFill>
          <a:ln/>
          <a:effectLst>
            <a:outerShdw sx="100000" sy="100000" kx="0" ky="0" algn="bl" rotWithShape="0" blurRad="50800" dist="25400" dir="8100000">
              <a:srgbClr val="000000">
                <a:alpha val="8000"/>
              </a:srgbClr>
            </a:outerShdw>
          </a:effectLst>
        </p:spPr>
      </p:sp>
      <p:sp>
        <p:nvSpPr>
          <p:cNvPr id="11" name="Text 9"/>
          <p:cNvSpPr/>
          <p:nvPr/>
        </p:nvSpPr>
        <p:spPr>
          <a:xfrm>
            <a:off x="8229600" y="1188720"/>
            <a:ext cx="2560320" cy="502920"/>
          </a:xfrm>
          <a:prstGeom prst="rect">
            <a:avLst/>
          </a:prstGeom>
          <a:noFill/>
          <a:ln/>
        </p:spPr>
        <p:txBody>
          <a:bodyPr wrap="square" rtlCol="0" anchor="ctr"/>
          <a:lstStyle/>
          <a:p>
            <a:pPr algn="ctr" indent="0" marL="0">
              <a:buNone/>
            </a:pPr>
            <a:r>
              <a:rPr lang="en-US" sz="1100" b="1" dirty="0">
                <a:solidFill>
                  <a:srgbClr val="003068"/>
                </a:solidFill>
                <a:latin typeface="Arial" pitchFamily="34" charset="0"/>
                <a:ea typeface="Arial" pitchFamily="34" charset="-122"/>
                <a:cs typeface="Arial" pitchFamily="34" charset="-120"/>
              </a:rPr>
              <a:t>Power BI / Tableau</a:t>
            </a:r>
            <a:endParaRPr lang="en-US" sz="1100" dirty="0"/>
          </a:p>
        </p:txBody>
      </p:sp>
      <p:sp>
        <p:nvSpPr>
          <p:cNvPr id="12" name="Shape 10"/>
          <p:cNvSpPr/>
          <p:nvPr/>
        </p:nvSpPr>
        <p:spPr>
          <a:xfrm>
            <a:off x="2377440" y="1691640"/>
            <a:ext cx="1645920" cy="502920"/>
          </a:xfrm>
          <a:prstGeom prst="line">
            <a:avLst/>
          </a:prstGeom>
          <a:noFill/>
          <a:ln w="15240">
            <a:solidFill>
              <a:srgbClr val="87AFBF"/>
            </a:solidFill>
            <a:prstDash val="solid"/>
            <a:headEnd type="arrow"/>
          </a:ln>
        </p:spPr>
      </p:sp>
      <p:sp>
        <p:nvSpPr>
          <p:cNvPr id="13" name="Shape 11"/>
          <p:cNvSpPr/>
          <p:nvPr/>
        </p:nvSpPr>
        <p:spPr>
          <a:xfrm>
            <a:off x="4846320" y="1691640"/>
            <a:ext cx="-822960" cy="502920"/>
          </a:xfrm>
          <a:prstGeom prst="line">
            <a:avLst/>
          </a:prstGeom>
          <a:noFill/>
          <a:ln w="15240">
            <a:solidFill>
              <a:srgbClr val="87AFBF"/>
            </a:solidFill>
            <a:prstDash val="solid"/>
            <a:headEnd type="arrow"/>
          </a:ln>
        </p:spPr>
      </p:sp>
      <p:sp>
        <p:nvSpPr>
          <p:cNvPr id="14" name="Shape 12"/>
          <p:cNvSpPr/>
          <p:nvPr/>
        </p:nvSpPr>
        <p:spPr>
          <a:xfrm>
            <a:off x="1371600" y="2286000"/>
            <a:ext cx="5029200" cy="731520"/>
          </a:xfrm>
          <a:prstGeom prst="rect">
            <a:avLst>
              <a:gd name="adj" fmla="val 6250"/>
            </a:avLst>
          </a:prstGeom>
          <a:solidFill>
            <a:srgbClr val="FAECE7"/>
          </a:solidFill>
          <a:ln w="19050">
            <a:solidFill>
              <a:srgbClr val="D85A30"/>
            </a:solidFill>
            <a:prstDash val="solid"/>
          </a:ln>
        </p:spPr>
      </p:sp>
      <p:sp>
        <p:nvSpPr>
          <p:cNvPr id="15" name="Text 13"/>
          <p:cNvSpPr/>
          <p:nvPr/>
        </p:nvSpPr>
        <p:spPr>
          <a:xfrm>
            <a:off x="1371600" y="2286000"/>
            <a:ext cx="5029200" cy="731520"/>
          </a:xfrm>
          <a:prstGeom prst="rect">
            <a:avLst/>
          </a:prstGeom>
          <a:noFill/>
          <a:ln/>
        </p:spPr>
        <p:txBody>
          <a:bodyPr wrap="square" rtlCol="0" anchor="ctr"/>
          <a:lstStyle/>
          <a:p>
            <a:pPr algn="ctr" indent="0" marL="0">
              <a:buNone/>
            </a:pPr>
            <a:r>
              <a:rPr lang="en-US" sz="1300" b="1" dirty="0">
                <a:solidFill>
                  <a:srgbClr val="712B13"/>
                </a:solidFill>
                <a:latin typeface="Arial" pitchFamily="34" charset="0"/>
                <a:ea typeface="Arial" pitchFamily="34" charset="-122"/>
                <a:cs typeface="Arial" pitchFamily="34" charset="-120"/>
              </a:rPr>
              <a:t>FastAPI trust boundary</a:t>
            </a:r>
            <a:endParaRPr lang="en-US" sz="1300" dirty="0"/>
          </a:p>
          <a:p>
            <a:pPr algn="ctr" indent="0" marL="0">
              <a:buNone/>
            </a:pPr>
            <a:r>
              <a:rPr lang="en-US" sz="1000" dirty="0">
                <a:solidFill>
                  <a:srgbClr val="712B13"/>
                </a:solidFill>
                <a:latin typeface="Arial" pitchFamily="34" charset="0"/>
                <a:ea typeface="Arial" pitchFamily="34" charset="-122"/>
                <a:cs typeface="Arial" pitchFamily="34" charset="-120"/>
              </a:rPr>
              <a:t>Orchestrator LLM  +  OBO token  +  guardrails</a:t>
            </a:r>
            <a:endParaRPr lang="en-US" sz="1300" dirty="0"/>
          </a:p>
        </p:txBody>
      </p:sp>
      <p:sp>
        <p:nvSpPr>
          <p:cNvPr id="16" name="Text 14"/>
          <p:cNvSpPr/>
          <p:nvPr/>
        </p:nvSpPr>
        <p:spPr>
          <a:xfrm>
            <a:off x="3474720" y="3063240"/>
            <a:ext cx="1097280" cy="274320"/>
          </a:xfrm>
          <a:prstGeom prst="rect">
            <a:avLst/>
          </a:prstGeom>
          <a:noFill/>
          <a:ln/>
        </p:spPr>
        <p:txBody>
          <a:bodyPr wrap="square" rtlCol="0" anchor="ctr"/>
          <a:lstStyle/>
          <a:p>
            <a:pPr algn="ctr" indent="0" marL="0">
              <a:buNone/>
            </a:pPr>
            <a:r>
              <a:rPr lang="en-US" sz="800" dirty="0">
                <a:solidFill>
                  <a:srgbClr val="87AFBF"/>
                </a:solidFill>
                <a:latin typeface="Arial" pitchFamily="34" charset="0"/>
                <a:ea typeface="Arial" pitchFamily="34" charset="-122"/>
                <a:cs typeface="Arial" pitchFamily="34" charset="-120"/>
              </a:rPr>
              <a:t>REST API</a:t>
            </a:r>
            <a:endParaRPr lang="en-US" sz="800" dirty="0"/>
          </a:p>
        </p:txBody>
      </p:sp>
      <p:sp>
        <p:nvSpPr>
          <p:cNvPr id="17" name="Shape 15"/>
          <p:cNvSpPr/>
          <p:nvPr/>
        </p:nvSpPr>
        <p:spPr>
          <a:xfrm>
            <a:off x="548640" y="3383280"/>
            <a:ext cx="11064240" cy="2926080"/>
          </a:xfrm>
          <a:prstGeom prst="rect">
            <a:avLst>
              <a:gd name="adj" fmla="val 3125"/>
            </a:avLst>
          </a:prstGeom>
          <a:solidFill>
            <a:srgbClr val="E8FAF8"/>
          </a:solidFill>
          <a:ln w="12700">
            <a:solidFill>
              <a:srgbClr val="175E6B"/>
            </a:solidFill>
            <a:prstDash val="dash"/>
          </a:ln>
        </p:spPr>
      </p:sp>
      <p:sp>
        <p:nvSpPr>
          <p:cNvPr id="18" name="Text 16"/>
          <p:cNvSpPr/>
          <p:nvPr/>
        </p:nvSpPr>
        <p:spPr>
          <a:xfrm>
            <a:off x="822960" y="3474720"/>
            <a:ext cx="1828800" cy="274320"/>
          </a:xfrm>
          <a:prstGeom prst="rect">
            <a:avLst/>
          </a:prstGeom>
          <a:noFill/>
          <a:ln/>
        </p:spPr>
        <p:txBody>
          <a:bodyPr wrap="square" rtlCol="0" anchor="ctr"/>
          <a:lstStyle/>
          <a:p>
            <a:pPr indent="0" marL="0">
              <a:buNone/>
            </a:pPr>
            <a:r>
              <a:rPr lang="en-US" sz="1300" b="1" dirty="0">
                <a:solidFill>
                  <a:srgbClr val="175E6B"/>
                </a:solidFill>
                <a:latin typeface="Arial" pitchFamily="34" charset="0"/>
                <a:ea typeface="Arial" pitchFamily="34" charset="-122"/>
                <a:cs typeface="Arial" pitchFamily="34" charset="-120"/>
              </a:rPr>
              <a:t>Snowflake</a:t>
            </a:r>
            <a:endParaRPr lang="en-US" sz="1300" dirty="0"/>
          </a:p>
        </p:txBody>
      </p:sp>
      <p:sp>
        <p:nvSpPr>
          <p:cNvPr id="19" name="Shape 17"/>
          <p:cNvSpPr/>
          <p:nvPr/>
        </p:nvSpPr>
        <p:spPr>
          <a:xfrm>
            <a:off x="914400" y="3931920"/>
            <a:ext cx="2743200" cy="640080"/>
          </a:xfrm>
          <a:prstGeom prst="rect">
            <a:avLst>
              <a:gd name="adj" fmla="val 7143"/>
            </a:avLst>
          </a:prstGeom>
          <a:solidFill>
            <a:srgbClr val="E8E3FD"/>
          </a:solidFill>
          <a:ln/>
          <a:effectLst>
            <a:outerShdw sx="100000" sy="100000" kx="0" ky="0" algn="bl" rotWithShape="0" blurRad="50800" dist="25400" dir="8100000">
              <a:srgbClr val="000000">
                <a:alpha val="8000"/>
              </a:srgbClr>
            </a:outerShdw>
          </a:effectLst>
        </p:spPr>
      </p:sp>
      <p:sp>
        <p:nvSpPr>
          <p:cNvPr id="20" name="Text 18"/>
          <p:cNvSpPr/>
          <p:nvPr/>
        </p:nvSpPr>
        <p:spPr>
          <a:xfrm>
            <a:off x="914400" y="3931920"/>
            <a:ext cx="2743200" cy="640080"/>
          </a:xfrm>
          <a:prstGeom prst="rect">
            <a:avLst/>
          </a:prstGeom>
          <a:noFill/>
          <a:ln/>
        </p:spPr>
        <p:txBody>
          <a:bodyPr wrap="square" rtlCol="0" anchor="ctr"/>
          <a:lstStyle/>
          <a:p>
            <a:pPr algn="ctr" indent="0" marL="0">
              <a:buNone/>
            </a:pPr>
            <a:r>
              <a:rPr lang="en-US" sz="1100" b="1" dirty="0">
                <a:solidFill>
                  <a:srgbClr val="4B3FA0"/>
                </a:solidFill>
                <a:latin typeface="Arial" pitchFamily="34" charset="0"/>
                <a:ea typeface="Arial" pitchFamily="34" charset="-122"/>
                <a:cs typeface="Arial" pitchFamily="34" charset="-120"/>
              </a:rPr>
              <a:t>Cortex Agent</a:t>
            </a:r>
            <a:endParaRPr lang="en-US" sz="1100" dirty="0"/>
          </a:p>
        </p:txBody>
      </p:sp>
      <p:sp>
        <p:nvSpPr>
          <p:cNvPr id="21" name="Text 19"/>
          <p:cNvSpPr/>
          <p:nvPr/>
        </p:nvSpPr>
        <p:spPr>
          <a:xfrm>
            <a:off x="914400" y="4343400"/>
            <a:ext cx="2743200" cy="228600"/>
          </a:xfrm>
          <a:prstGeom prst="rect">
            <a:avLst/>
          </a:prstGeom>
          <a:noFill/>
          <a:ln/>
        </p:spPr>
        <p:txBody>
          <a:bodyPr wrap="square" rtlCol="0" anchor="ctr"/>
          <a:lstStyle/>
          <a:p>
            <a:pPr algn="ctr" indent="0" marL="0">
              <a:buNone/>
            </a:pPr>
            <a:r>
              <a:rPr lang="en-US" sz="800" dirty="0">
                <a:solidFill>
                  <a:srgbClr val="7B6FC0"/>
                </a:solidFill>
                <a:latin typeface="Arial" pitchFamily="34" charset="0"/>
                <a:ea typeface="Arial" pitchFamily="34" charset="-122"/>
                <a:cs typeface="Arial" pitchFamily="34" charset="-120"/>
              </a:rPr>
              <a:t>Orchestrates analyst + search</a:t>
            </a:r>
            <a:endParaRPr lang="en-US" sz="800" dirty="0"/>
          </a:p>
        </p:txBody>
      </p:sp>
      <p:sp>
        <p:nvSpPr>
          <p:cNvPr id="22" name="Shape 20"/>
          <p:cNvSpPr/>
          <p:nvPr/>
        </p:nvSpPr>
        <p:spPr>
          <a:xfrm>
            <a:off x="4114800" y="3931920"/>
            <a:ext cx="2743200" cy="640080"/>
          </a:xfrm>
          <a:prstGeom prst="rect">
            <a:avLst>
              <a:gd name="adj" fmla="val 7143"/>
            </a:avLst>
          </a:prstGeom>
          <a:solidFill>
            <a:srgbClr val="D4F5F0"/>
          </a:solidFill>
          <a:ln/>
          <a:effectLst>
            <a:outerShdw sx="100000" sy="100000" kx="0" ky="0" algn="bl" rotWithShape="0" blurRad="50800" dist="25400" dir="8100000">
              <a:srgbClr val="000000">
                <a:alpha val="8000"/>
              </a:srgbClr>
            </a:outerShdw>
          </a:effectLst>
        </p:spPr>
      </p:sp>
      <p:sp>
        <p:nvSpPr>
          <p:cNvPr id="23" name="Text 21"/>
          <p:cNvSpPr/>
          <p:nvPr/>
        </p:nvSpPr>
        <p:spPr>
          <a:xfrm>
            <a:off x="4114800" y="3931920"/>
            <a:ext cx="2743200" cy="640080"/>
          </a:xfrm>
          <a:prstGeom prst="rect">
            <a:avLst/>
          </a:prstGeom>
          <a:noFill/>
          <a:ln/>
        </p:spPr>
        <p:txBody>
          <a:bodyPr wrap="square" rtlCol="0" anchor="ctr"/>
          <a:lstStyle/>
          <a:p>
            <a:pPr algn="ctr" indent="0" marL="0">
              <a:buNone/>
            </a:pPr>
            <a:r>
              <a:rPr lang="en-US" sz="1100" b="1" dirty="0">
                <a:solidFill>
                  <a:srgbClr val="175E6B"/>
                </a:solidFill>
                <a:latin typeface="Arial" pitchFamily="34" charset="0"/>
                <a:ea typeface="Arial" pitchFamily="34" charset="-122"/>
                <a:cs typeface="Arial" pitchFamily="34" charset="-120"/>
              </a:rPr>
              <a:t>Cortex Analyst</a:t>
            </a:r>
            <a:endParaRPr lang="en-US" sz="1100" dirty="0"/>
          </a:p>
        </p:txBody>
      </p:sp>
      <p:sp>
        <p:nvSpPr>
          <p:cNvPr id="24" name="Text 22"/>
          <p:cNvSpPr/>
          <p:nvPr/>
        </p:nvSpPr>
        <p:spPr>
          <a:xfrm>
            <a:off x="4114800" y="4343400"/>
            <a:ext cx="2743200" cy="228600"/>
          </a:xfrm>
          <a:prstGeom prst="rect">
            <a:avLst/>
          </a:prstGeom>
          <a:noFill/>
          <a:ln/>
        </p:spPr>
        <p:txBody>
          <a:bodyPr wrap="square" rtlCol="0" anchor="ctr"/>
          <a:lstStyle/>
          <a:p>
            <a:pPr algn="ctr" indent="0" marL="0">
              <a:buNone/>
            </a:pPr>
            <a:r>
              <a:rPr lang="en-US" sz="800" dirty="0">
                <a:solidFill>
                  <a:srgbClr val="29B5AA"/>
                </a:solidFill>
                <a:latin typeface="Arial" pitchFamily="34" charset="0"/>
                <a:ea typeface="Arial" pitchFamily="34" charset="-122"/>
                <a:cs typeface="Arial" pitchFamily="34" charset="-120"/>
              </a:rPr>
              <a:t>NL-to-SQL via REST API</a:t>
            </a:r>
            <a:endParaRPr lang="en-US" sz="800" dirty="0"/>
          </a:p>
        </p:txBody>
      </p:sp>
      <p:sp>
        <p:nvSpPr>
          <p:cNvPr id="25" name="Shape 23"/>
          <p:cNvSpPr/>
          <p:nvPr/>
        </p:nvSpPr>
        <p:spPr>
          <a:xfrm>
            <a:off x="914400" y="4846320"/>
            <a:ext cx="5943600" cy="548640"/>
          </a:xfrm>
          <a:prstGeom prst="rect">
            <a:avLst>
              <a:gd name="adj" fmla="val 8333"/>
            </a:avLst>
          </a:prstGeom>
          <a:solidFill>
            <a:srgbClr val="D4F5F0"/>
          </a:solidFill>
          <a:ln/>
          <a:effectLst>
            <a:outerShdw sx="100000" sy="100000" kx="0" ky="0" algn="bl" rotWithShape="0" blurRad="50800" dist="25400" dir="8100000">
              <a:srgbClr val="000000">
                <a:alpha val="8000"/>
              </a:srgbClr>
            </a:outerShdw>
          </a:effectLst>
        </p:spPr>
      </p:sp>
      <p:sp>
        <p:nvSpPr>
          <p:cNvPr id="26" name="Text 24"/>
          <p:cNvSpPr/>
          <p:nvPr/>
        </p:nvSpPr>
        <p:spPr>
          <a:xfrm>
            <a:off x="914400" y="4846320"/>
            <a:ext cx="5943600" cy="548640"/>
          </a:xfrm>
          <a:prstGeom prst="rect">
            <a:avLst/>
          </a:prstGeom>
          <a:noFill/>
          <a:ln/>
        </p:spPr>
        <p:txBody>
          <a:bodyPr wrap="square" rtlCol="0" anchor="ctr"/>
          <a:lstStyle/>
          <a:p>
            <a:pPr algn="ctr" indent="0" marL="0">
              <a:buNone/>
            </a:pPr>
            <a:r>
              <a:rPr lang="en-US" sz="1100" b="1" dirty="0">
                <a:solidFill>
                  <a:srgbClr val="175E6B"/>
                </a:solidFill>
                <a:latin typeface="Arial" pitchFamily="34" charset="0"/>
                <a:ea typeface="Arial" pitchFamily="34" charset="-122"/>
                <a:cs typeface="Arial" pitchFamily="34" charset="-120"/>
              </a:rPr>
              <a:t>Semantic views + YAML model (GitHub)</a:t>
            </a:r>
            <a:endParaRPr lang="en-US" sz="1100" dirty="0"/>
          </a:p>
        </p:txBody>
      </p:sp>
      <p:sp>
        <p:nvSpPr>
          <p:cNvPr id="27" name="Shape 25"/>
          <p:cNvSpPr/>
          <p:nvPr/>
        </p:nvSpPr>
        <p:spPr>
          <a:xfrm>
            <a:off x="914400" y="5577840"/>
            <a:ext cx="5943600" cy="457200"/>
          </a:xfrm>
          <a:prstGeom prst="rect">
            <a:avLst>
              <a:gd name="adj" fmla="val 10000"/>
            </a:avLst>
          </a:prstGeom>
          <a:solidFill>
            <a:srgbClr val="D4F5F0"/>
          </a:solidFill>
          <a:ln/>
          <a:effectLst>
            <a:outerShdw sx="100000" sy="100000" kx="0" ky="0" algn="bl" rotWithShape="0" blurRad="50800" dist="25400" dir="8100000">
              <a:srgbClr val="000000">
                <a:alpha val="8000"/>
              </a:srgbClr>
            </a:outerShdw>
          </a:effectLst>
        </p:spPr>
      </p:sp>
      <p:sp>
        <p:nvSpPr>
          <p:cNvPr id="28" name="Text 26"/>
          <p:cNvSpPr/>
          <p:nvPr/>
        </p:nvSpPr>
        <p:spPr>
          <a:xfrm>
            <a:off x="914400" y="5577840"/>
            <a:ext cx="5943600" cy="457200"/>
          </a:xfrm>
          <a:prstGeom prst="rect">
            <a:avLst/>
          </a:prstGeom>
          <a:noFill/>
          <a:ln/>
        </p:spPr>
        <p:txBody>
          <a:bodyPr wrap="square" rtlCol="0" anchor="ctr"/>
          <a:lstStyle/>
          <a:p>
            <a:pPr algn="ctr" indent="0" marL="0">
              <a:buNone/>
            </a:pPr>
            <a:r>
              <a:rPr lang="en-US" sz="1100" b="1" dirty="0">
                <a:solidFill>
                  <a:srgbClr val="175E6B"/>
                </a:solidFill>
                <a:latin typeface="Arial" pitchFamily="34" charset="0"/>
                <a:ea typeface="Arial" pitchFamily="34" charset="-122"/>
                <a:cs typeface="Arial" pitchFamily="34" charset="-120"/>
              </a:rPr>
              <a:t>Iceberg external tables (zero-copy from Gold)</a:t>
            </a:r>
            <a:endParaRPr lang="en-US" sz="1100" dirty="0"/>
          </a:p>
        </p:txBody>
      </p:sp>
      <p:sp>
        <p:nvSpPr>
          <p:cNvPr id="29" name="Shape 27"/>
          <p:cNvSpPr/>
          <p:nvPr/>
        </p:nvSpPr>
        <p:spPr>
          <a:xfrm>
            <a:off x="7498080" y="3931920"/>
            <a:ext cx="3840480" cy="1371600"/>
          </a:xfrm>
          <a:prstGeom prst="rect">
            <a:avLst>
              <a:gd name="adj" fmla="val 3333"/>
            </a:avLst>
          </a:prstGeom>
          <a:solidFill>
            <a:srgbClr val="FFF3E0"/>
          </a:solidFill>
          <a:ln w="12700">
            <a:solidFill>
              <a:srgbClr val="F26B43"/>
            </a:solidFill>
            <a:prstDash val="solid"/>
          </a:ln>
        </p:spPr>
      </p:sp>
      <p:sp>
        <p:nvSpPr>
          <p:cNvPr id="30" name="Text 28"/>
          <p:cNvSpPr/>
          <p:nvPr/>
        </p:nvSpPr>
        <p:spPr>
          <a:xfrm>
            <a:off x="7498080" y="3931920"/>
            <a:ext cx="3840480" cy="1371600"/>
          </a:xfrm>
          <a:prstGeom prst="rect">
            <a:avLst/>
          </a:prstGeom>
          <a:noFill/>
          <a:ln/>
        </p:spPr>
        <p:txBody>
          <a:bodyPr wrap="square" rtlCol="0" anchor="ctr"/>
          <a:lstStyle/>
          <a:p>
            <a:pPr algn="ctr" indent="0" marL="0">
              <a:buNone/>
            </a:pPr>
            <a:r>
              <a:rPr lang="en-US" sz="1300" b="1" dirty="0">
                <a:solidFill>
                  <a:srgbClr val="7A4400"/>
                </a:solidFill>
                <a:latin typeface="Arial" pitchFamily="34" charset="0"/>
                <a:ea typeface="Arial" pitchFamily="34" charset="-122"/>
                <a:cs typeface="Arial" pitchFamily="34" charset="-120"/>
              </a:rPr>
              <a:t>Governance</a:t>
            </a:r>
            <a:endParaRPr lang="en-US" sz="1300" dirty="0"/>
          </a:p>
          <a:p>
            <a:pPr algn="ctr" indent="0" marL="0">
              <a:buNone/>
            </a:pPr>
            <a:r>
              <a:rPr lang="en-US" sz="1000" dirty="0">
                <a:solidFill>
                  <a:srgbClr val="7A4400"/>
                </a:solidFill>
                <a:latin typeface="Arial" pitchFamily="34" charset="0"/>
                <a:ea typeface="Arial" pitchFamily="34" charset="-122"/>
                <a:cs typeface="Arial" pitchFamily="34" charset="-120"/>
              </a:rPr>
              <a:t>Snowflake RBAC + row access policies</a:t>
            </a:r>
            <a:endParaRPr lang="en-US" sz="1300" dirty="0"/>
          </a:p>
          <a:p>
            <a:pPr algn="ctr" indent="0" marL="0">
              <a:buNone/>
            </a:pPr>
            <a:r>
              <a:rPr lang="en-US" sz="1000" dirty="0">
                <a:solidFill>
                  <a:srgbClr val="7A4400"/>
                </a:solidFill>
                <a:latin typeface="Arial" pitchFamily="34" charset="0"/>
                <a:ea typeface="Arial" pitchFamily="34" charset="-122"/>
                <a:cs typeface="Arial" pitchFamily="34" charset="-120"/>
              </a:rPr>
              <a:t>Cortex Analyst respects all RBAC</a:t>
            </a:r>
            <a:endParaRPr lang="en-US" sz="1300" dirty="0"/>
          </a:p>
          <a:p>
            <a:pPr algn="ctr" indent="0" marL="0">
              <a:buNone/>
            </a:pPr>
            <a:r>
              <a:rPr lang="en-US" sz="1000" i="1" dirty="0">
                <a:solidFill>
                  <a:srgbClr val="7A4400"/>
                </a:solidFill>
                <a:latin typeface="Arial" pitchFamily="34" charset="0"/>
                <a:ea typeface="Arial" pitchFamily="34" charset="-122"/>
                <a:cs typeface="Arial" pitchFamily="34" charset="-120"/>
              </a:rPr>
              <a:t>Immuta integration (evaluation)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82880" y="45720"/>
            <a:ext cx="5486400" cy="182880"/>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3" name="Text 1"/>
          <p:cNvSpPr/>
          <p:nvPr/>
        </p:nvSpPr>
        <p:spPr>
          <a:xfrm>
            <a:off x="11704320" y="6583680"/>
            <a:ext cx="365760" cy="182880"/>
          </a:xfrm>
          <a:prstGeom prst="rect">
            <a:avLst/>
          </a:prstGeom>
          <a:noFill/>
          <a:ln/>
        </p:spPr>
        <p:txBody>
          <a:bodyPr wrap="square" rtlCol="0" anchor="ctr"/>
          <a:lstStyle/>
          <a:p>
            <a:pPr algn="r" indent="0" marL="0">
              <a:buNone/>
            </a:pPr>
            <a:r>
              <a:rPr lang="en-US" sz="900" dirty="0">
                <a:solidFill>
                  <a:srgbClr val="87AFBF"/>
                </a:solidFill>
                <a:latin typeface="Arial" pitchFamily="34" charset="0"/>
                <a:ea typeface="Arial" pitchFamily="34" charset="-122"/>
                <a:cs typeface="Arial" pitchFamily="34" charset="-120"/>
              </a:rPr>
              <a:t>05</a:t>
            </a:r>
            <a:endParaRPr lang="en-US" sz="900" dirty="0"/>
          </a:p>
        </p:txBody>
      </p:sp>
      <p:sp>
        <p:nvSpPr>
          <p:cNvPr id="4" name="Text 2"/>
          <p:cNvSpPr/>
          <p:nvPr/>
        </p:nvSpPr>
        <p:spPr>
          <a:xfrm>
            <a:off x="548640" y="365760"/>
            <a:ext cx="10972800" cy="548640"/>
          </a:xfrm>
          <a:prstGeom prst="rect">
            <a:avLst/>
          </a:prstGeom>
          <a:noFill/>
          <a:ln/>
        </p:spPr>
        <p:txBody>
          <a:bodyPr wrap="square" rtlCol="0" anchor="ctr"/>
          <a:lstStyle/>
          <a:p>
            <a:pPr indent="0" marL="0">
              <a:buNone/>
            </a:pPr>
            <a:r>
              <a:rPr lang="en-US" sz="2800" b="1" dirty="0">
                <a:solidFill>
                  <a:srgbClr val="003068"/>
                </a:solidFill>
                <a:latin typeface="Arial" pitchFamily="34" charset="0"/>
                <a:ea typeface="Arial" pitchFamily="34" charset="-122"/>
                <a:cs typeface="Arial" pitchFamily="34" charset="-120"/>
              </a:rPr>
              <a:t>Where the semantic layer lives</a:t>
            </a:r>
            <a:endParaRPr lang="en-US" sz="2800" dirty="0"/>
          </a:p>
        </p:txBody>
      </p:sp>
      <p:sp>
        <p:nvSpPr>
          <p:cNvPr id="5" name="Shape 3"/>
          <p:cNvSpPr/>
          <p:nvPr/>
        </p:nvSpPr>
        <p:spPr>
          <a:xfrm>
            <a:off x="548640" y="960120"/>
            <a:ext cx="10515600" cy="0"/>
          </a:xfrm>
          <a:prstGeom prst="line">
            <a:avLst/>
          </a:prstGeom>
          <a:noFill/>
          <a:ln w="12700">
            <a:solidFill>
              <a:srgbClr val="87AFBF"/>
            </a:solidFill>
            <a:prstDash val="solid"/>
          </a:ln>
        </p:spPr>
      </p:sp>
      <p:sp>
        <p:nvSpPr>
          <p:cNvPr id="6" name="Shape 4"/>
          <p:cNvSpPr/>
          <p:nvPr/>
        </p:nvSpPr>
        <p:spPr>
          <a:xfrm>
            <a:off x="548640" y="1280160"/>
            <a:ext cx="3474720" cy="4389120"/>
          </a:xfrm>
          <a:prstGeom prst="rect">
            <a:avLst/>
          </a:prstGeom>
          <a:solidFill>
            <a:srgbClr val="F3F4FB"/>
          </a:solidFill>
          <a:ln/>
          <a:effectLst>
            <a:outerShdw sx="100000" sy="100000" kx="0" ky="0" algn="bl" rotWithShape="0" blurRad="50800" dist="25400" dir="8100000">
              <a:srgbClr val="000000">
                <a:alpha val="8000"/>
              </a:srgbClr>
            </a:outerShdw>
          </a:effectLst>
        </p:spPr>
      </p:sp>
      <p:sp>
        <p:nvSpPr>
          <p:cNvPr id="7" name="Shape 5"/>
          <p:cNvSpPr/>
          <p:nvPr/>
        </p:nvSpPr>
        <p:spPr>
          <a:xfrm>
            <a:off x="548640" y="1280160"/>
            <a:ext cx="3474720" cy="822960"/>
          </a:xfrm>
          <a:prstGeom prst="rect">
            <a:avLst/>
          </a:prstGeom>
          <a:solidFill>
            <a:srgbClr val="003068"/>
          </a:solidFill>
          <a:ln/>
        </p:spPr>
      </p:sp>
      <p:sp>
        <p:nvSpPr>
          <p:cNvPr id="8" name="Text 6"/>
          <p:cNvSpPr/>
          <p:nvPr/>
        </p:nvSpPr>
        <p:spPr>
          <a:xfrm>
            <a:off x="548640" y="1280160"/>
            <a:ext cx="347472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Author</a:t>
            </a:r>
            <a:endParaRPr lang="en-US" sz="1800" dirty="0"/>
          </a:p>
        </p:txBody>
      </p:sp>
      <p:sp>
        <p:nvSpPr>
          <p:cNvPr id="9" name="Text 7"/>
          <p:cNvSpPr/>
          <p:nvPr/>
        </p:nvSpPr>
        <p:spPr>
          <a:xfrm>
            <a:off x="548640" y="1691640"/>
            <a:ext cx="3474720" cy="36576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GitHub repo</a:t>
            </a:r>
            <a:endParaRPr lang="en-US" sz="1200" dirty="0"/>
          </a:p>
        </p:txBody>
      </p:sp>
      <p:sp>
        <p:nvSpPr>
          <p:cNvPr id="10" name="Text 8"/>
          <p:cNvSpPr/>
          <p:nvPr/>
        </p:nvSpPr>
        <p:spPr>
          <a:xfrm>
            <a:off x="822960" y="2377440"/>
            <a:ext cx="2926080" cy="3017520"/>
          </a:xfrm>
          <a:prstGeom prst="rect">
            <a:avLst/>
          </a:prstGeom>
          <a:noFill/>
          <a:ln/>
        </p:spPr>
        <p:txBody>
          <a:bodyPr wrap="square" rtlCol="0" anchor="ctr"/>
          <a:lstStyle/>
          <a:p>
            <a:pPr marL="342900" indent="-342900">
              <a:lnSpc>
                <a:spcPct val="160000"/>
              </a:lnSpc>
              <a:buSzPct val="100000"/>
              <a:buChar char="•"/>
            </a:pPr>
            <a:r>
              <a:rPr lang="en-US" sz="1100" dirty="0">
                <a:solidFill>
                  <a:srgbClr val="222730"/>
                </a:solidFill>
                <a:latin typeface="Arial" pitchFamily="34" charset="0"/>
                <a:ea typeface="Arial" pitchFamily="34" charset="-122"/>
                <a:cs typeface="Arial" pitchFamily="34" charset="-120"/>
              </a:rPr>
              <a:t>YAML semantic model definition</a:t>
            </a:r>
            <a:endParaRPr lang="en-US" sz="1100" dirty="0"/>
          </a:p>
          <a:p>
            <a:pPr marL="342900" indent="-342900">
              <a:lnSpc>
                <a:spcPct val="160000"/>
              </a:lnSpc>
              <a:buSzPct val="100000"/>
              <a:buChar char="•"/>
            </a:pPr>
            <a:r>
              <a:rPr lang="en-US" sz="1100" dirty="0">
                <a:solidFill>
                  <a:srgbClr val="222730"/>
                </a:solidFill>
                <a:latin typeface="Arial" pitchFamily="34" charset="0"/>
                <a:ea typeface="Arial" pitchFamily="34" charset="-122"/>
                <a:cs typeface="Arial" pitchFamily="34" charset="-120"/>
              </a:rPr>
              <a:t>Metrics, dimensions, time grains, relationships</a:t>
            </a:r>
            <a:endParaRPr lang="en-US" sz="1100" dirty="0"/>
          </a:p>
          <a:p>
            <a:pPr marL="342900" indent="-342900">
              <a:lnSpc>
                <a:spcPct val="160000"/>
              </a:lnSpc>
              <a:buSzPct val="100000"/>
              <a:buChar char="•"/>
            </a:pPr>
            <a:r>
              <a:rPr lang="en-US" sz="1100" dirty="0">
                <a:solidFill>
                  <a:srgbClr val="222730"/>
                </a:solidFill>
                <a:latin typeface="Arial" pitchFamily="34" charset="0"/>
                <a:ea typeface="Arial" pitchFamily="34" charset="-122"/>
                <a:cs typeface="Arial" pitchFamily="34" charset="-120"/>
              </a:rPr>
              <a:t>Version controlled, PR-reviewed</a:t>
            </a:r>
            <a:endParaRPr lang="en-US" sz="1100" dirty="0"/>
          </a:p>
          <a:p>
            <a:pPr marL="342900" indent="-342900">
              <a:lnSpc>
                <a:spcPct val="160000"/>
              </a:lnSpc>
              <a:buSzPct val="100000"/>
              <a:buChar char="•"/>
            </a:pPr>
            <a:r>
              <a:rPr lang="en-US" sz="1100" dirty="0">
                <a:solidFill>
                  <a:srgbClr val="222730"/>
                </a:solidFill>
                <a:latin typeface="Arial" pitchFamily="34" charset="0"/>
                <a:ea typeface="Arial" pitchFamily="34" charset="-122"/>
                <a:cs typeface="Arial" pitchFamily="34" charset="-120"/>
              </a:rPr>
              <a:t>CI/CD pipeline deploys to engines</a:t>
            </a:r>
            <a:endParaRPr lang="en-US" sz="1100" dirty="0"/>
          </a:p>
        </p:txBody>
      </p:sp>
      <p:sp>
        <p:nvSpPr>
          <p:cNvPr id="11" name="Shape 9"/>
          <p:cNvSpPr/>
          <p:nvPr/>
        </p:nvSpPr>
        <p:spPr>
          <a:xfrm>
            <a:off x="4297680" y="1280160"/>
            <a:ext cx="3474720" cy="4389120"/>
          </a:xfrm>
          <a:prstGeom prst="rect">
            <a:avLst/>
          </a:prstGeom>
          <a:solidFill>
            <a:srgbClr val="F3F4FB"/>
          </a:solidFill>
          <a:ln/>
          <a:effectLst>
            <a:outerShdw sx="100000" sy="100000" kx="0" ky="0" algn="bl" rotWithShape="0" blurRad="50800" dist="25400" dir="8100000">
              <a:srgbClr val="000000">
                <a:alpha val="8000"/>
              </a:srgbClr>
            </a:outerShdw>
          </a:effectLst>
        </p:spPr>
      </p:sp>
      <p:sp>
        <p:nvSpPr>
          <p:cNvPr id="12" name="Shape 10"/>
          <p:cNvSpPr/>
          <p:nvPr/>
        </p:nvSpPr>
        <p:spPr>
          <a:xfrm>
            <a:off x="4297680" y="1280160"/>
            <a:ext cx="3474720" cy="822960"/>
          </a:xfrm>
          <a:prstGeom prst="rect">
            <a:avLst/>
          </a:prstGeom>
          <a:solidFill>
            <a:srgbClr val="29B5AA"/>
          </a:solidFill>
          <a:ln/>
        </p:spPr>
      </p:sp>
      <p:sp>
        <p:nvSpPr>
          <p:cNvPr id="13" name="Text 11"/>
          <p:cNvSpPr/>
          <p:nvPr/>
        </p:nvSpPr>
        <p:spPr>
          <a:xfrm>
            <a:off x="4297680" y="1280160"/>
            <a:ext cx="347472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Deploy</a:t>
            </a:r>
            <a:endParaRPr lang="en-US" sz="1800" dirty="0"/>
          </a:p>
        </p:txBody>
      </p:sp>
      <p:sp>
        <p:nvSpPr>
          <p:cNvPr id="14" name="Text 12"/>
          <p:cNvSpPr/>
          <p:nvPr/>
        </p:nvSpPr>
        <p:spPr>
          <a:xfrm>
            <a:off x="4297680" y="1691640"/>
            <a:ext cx="3474720" cy="36576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Snowflake</a:t>
            </a:r>
            <a:endParaRPr lang="en-US" sz="1200" dirty="0"/>
          </a:p>
        </p:txBody>
      </p:sp>
      <p:sp>
        <p:nvSpPr>
          <p:cNvPr id="15" name="Text 13"/>
          <p:cNvSpPr/>
          <p:nvPr/>
        </p:nvSpPr>
        <p:spPr>
          <a:xfrm>
            <a:off x="4572000" y="2377440"/>
            <a:ext cx="2926080" cy="3017520"/>
          </a:xfrm>
          <a:prstGeom prst="rect">
            <a:avLst/>
          </a:prstGeom>
          <a:noFill/>
          <a:ln/>
        </p:spPr>
        <p:txBody>
          <a:bodyPr wrap="square" rtlCol="0" anchor="ctr"/>
          <a:lstStyle/>
          <a:p>
            <a:pPr marL="342900" indent="-342900">
              <a:lnSpc>
                <a:spcPct val="160000"/>
              </a:lnSpc>
              <a:buSzPct val="100000"/>
              <a:buChar char="•"/>
            </a:pPr>
            <a:r>
              <a:rPr lang="en-US" sz="1100" dirty="0">
                <a:solidFill>
                  <a:srgbClr val="222730"/>
                </a:solidFill>
                <a:latin typeface="Arial" pitchFamily="34" charset="0"/>
                <a:ea typeface="Arial" pitchFamily="34" charset="-122"/>
                <a:cs typeface="Arial" pitchFamily="34" charset="-120"/>
              </a:rPr>
              <a:t>CREATE SEMANTIC VIEW DDL</a:t>
            </a:r>
            <a:endParaRPr lang="en-US" sz="1100" dirty="0"/>
          </a:p>
          <a:p>
            <a:pPr marL="342900" indent="-342900">
              <a:lnSpc>
                <a:spcPct val="160000"/>
              </a:lnSpc>
              <a:buSzPct val="100000"/>
              <a:buChar char="•"/>
            </a:pPr>
            <a:r>
              <a:rPr lang="en-US" sz="1100" dirty="0">
                <a:solidFill>
                  <a:srgbClr val="222730"/>
                </a:solidFill>
                <a:latin typeface="Arial" pitchFamily="34" charset="0"/>
                <a:ea typeface="Arial" pitchFamily="34" charset="-122"/>
                <a:cs typeface="Arial" pitchFamily="34" charset="-120"/>
              </a:rPr>
              <a:t>Sits on Iceberg external tables</a:t>
            </a:r>
            <a:endParaRPr lang="en-US" sz="1100" dirty="0"/>
          </a:p>
          <a:p>
            <a:pPr marL="342900" indent="-342900">
              <a:lnSpc>
                <a:spcPct val="160000"/>
              </a:lnSpc>
              <a:buSzPct val="100000"/>
              <a:buChar char="•"/>
            </a:pPr>
            <a:r>
              <a:rPr lang="en-US" sz="1100" dirty="0">
                <a:solidFill>
                  <a:srgbClr val="222730"/>
                </a:solidFill>
                <a:latin typeface="Arial" pitchFamily="34" charset="0"/>
                <a:ea typeface="Arial" pitchFamily="34" charset="-122"/>
                <a:cs typeface="Arial" pitchFamily="34" charset="-120"/>
              </a:rPr>
              <a:t>Cortex Analyst reads at query time</a:t>
            </a:r>
            <a:endParaRPr lang="en-US" sz="1100" dirty="0"/>
          </a:p>
          <a:p>
            <a:pPr marL="342900" indent="-342900">
              <a:lnSpc>
                <a:spcPct val="160000"/>
              </a:lnSpc>
              <a:buSzPct val="100000"/>
              <a:buChar char="•"/>
            </a:pPr>
            <a:r>
              <a:rPr lang="en-US" sz="1100" dirty="0">
                <a:solidFill>
                  <a:srgbClr val="222730"/>
                </a:solidFill>
                <a:latin typeface="Arial" pitchFamily="34" charset="0"/>
                <a:ea typeface="Arial" pitchFamily="34" charset="-122"/>
                <a:cs typeface="Arial" pitchFamily="34" charset="-120"/>
              </a:rPr>
              <a:t>Snowflake RBAC enforced</a:t>
            </a:r>
            <a:endParaRPr lang="en-US" sz="1100" dirty="0"/>
          </a:p>
        </p:txBody>
      </p:sp>
      <p:sp>
        <p:nvSpPr>
          <p:cNvPr id="16" name="Shape 14"/>
          <p:cNvSpPr/>
          <p:nvPr/>
        </p:nvSpPr>
        <p:spPr>
          <a:xfrm>
            <a:off x="8046720" y="1280160"/>
            <a:ext cx="3474720" cy="4389120"/>
          </a:xfrm>
          <a:prstGeom prst="rect">
            <a:avLst/>
          </a:prstGeom>
          <a:solidFill>
            <a:srgbClr val="F3F4FB"/>
          </a:solidFill>
          <a:ln/>
          <a:effectLst>
            <a:outerShdw sx="100000" sy="100000" kx="0" ky="0" algn="bl" rotWithShape="0" blurRad="50800" dist="25400" dir="8100000">
              <a:srgbClr val="000000">
                <a:alpha val="8000"/>
              </a:srgbClr>
            </a:outerShdw>
          </a:effectLst>
        </p:spPr>
      </p:sp>
      <p:sp>
        <p:nvSpPr>
          <p:cNvPr id="17" name="Shape 15"/>
          <p:cNvSpPr/>
          <p:nvPr/>
        </p:nvSpPr>
        <p:spPr>
          <a:xfrm>
            <a:off x="8046720" y="1280160"/>
            <a:ext cx="3474720" cy="822960"/>
          </a:xfrm>
          <a:prstGeom prst="rect">
            <a:avLst/>
          </a:prstGeom>
          <a:solidFill>
            <a:srgbClr val="6B5CE7"/>
          </a:solidFill>
          <a:ln/>
        </p:spPr>
      </p:sp>
      <p:sp>
        <p:nvSpPr>
          <p:cNvPr id="18" name="Text 16"/>
          <p:cNvSpPr/>
          <p:nvPr/>
        </p:nvSpPr>
        <p:spPr>
          <a:xfrm>
            <a:off x="8046720" y="1280160"/>
            <a:ext cx="347472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Deploy</a:t>
            </a:r>
            <a:endParaRPr lang="en-US" sz="1800" dirty="0"/>
          </a:p>
        </p:txBody>
      </p:sp>
      <p:sp>
        <p:nvSpPr>
          <p:cNvPr id="19" name="Text 17"/>
          <p:cNvSpPr/>
          <p:nvPr/>
        </p:nvSpPr>
        <p:spPr>
          <a:xfrm>
            <a:off x="8046720" y="1691640"/>
            <a:ext cx="3474720" cy="36576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Fabric (Phase 2)</a:t>
            </a:r>
            <a:endParaRPr lang="en-US" sz="1200" dirty="0"/>
          </a:p>
        </p:txBody>
      </p:sp>
      <p:sp>
        <p:nvSpPr>
          <p:cNvPr id="20" name="Text 18"/>
          <p:cNvSpPr/>
          <p:nvPr/>
        </p:nvSpPr>
        <p:spPr>
          <a:xfrm>
            <a:off x="8321040" y="2377440"/>
            <a:ext cx="2926080" cy="3017520"/>
          </a:xfrm>
          <a:prstGeom prst="rect">
            <a:avLst/>
          </a:prstGeom>
          <a:noFill/>
          <a:ln/>
        </p:spPr>
        <p:txBody>
          <a:bodyPr wrap="square" rtlCol="0" anchor="ctr"/>
          <a:lstStyle/>
          <a:p>
            <a:pPr marL="342900" indent="-342900">
              <a:lnSpc>
                <a:spcPct val="160000"/>
              </a:lnSpc>
              <a:buSzPct val="100000"/>
              <a:buChar char="•"/>
            </a:pPr>
            <a:r>
              <a:rPr lang="en-US" sz="1100" dirty="0">
                <a:solidFill>
                  <a:srgbClr val="222730"/>
                </a:solidFill>
                <a:latin typeface="Arial" pitchFamily="34" charset="0"/>
                <a:ea typeface="Arial" pitchFamily="34" charset="-122"/>
                <a:cs typeface="Arial" pitchFamily="34" charset="-120"/>
              </a:rPr>
              <a:t>Import semantic model (Power BI)</a:t>
            </a:r>
            <a:endParaRPr lang="en-US" sz="1100" dirty="0"/>
          </a:p>
          <a:p>
            <a:pPr marL="342900" indent="-342900">
              <a:lnSpc>
                <a:spcPct val="160000"/>
              </a:lnSpc>
              <a:buSzPct val="100000"/>
              <a:buChar char="•"/>
            </a:pPr>
            <a:r>
              <a:rPr lang="en-US" sz="1100" dirty="0">
                <a:solidFill>
                  <a:srgbClr val="222730"/>
                </a:solidFill>
                <a:latin typeface="Arial" pitchFamily="34" charset="0"/>
                <a:ea typeface="Arial" pitchFamily="34" charset="-122"/>
                <a:cs typeface="Arial" pitchFamily="34" charset="-120"/>
              </a:rPr>
              <a:t>Sits on Delta copy in OneLake</a:t>
            </a:r>
            <a:endParaRPr lang="en-US" sz="1100" dirty="0"/>
          </a:p>
          <a:p>
            <a:pPr marL="342900" indent="-342900">
              <a:lnSpc>
                <a:spcPct val="160000"/>
              </a:lnSpc>
              <a:buSzPct val="100000"/>
              <a:buChar char="•"/>
            </a:pPr>
            <a:r>
              <a:rPr lang="en-US" sz="1100" dirty="0">
                <a:solidFill>
                  <a:srgbClr val="222730"/>
                </a:solidFill>
                <a:latin typeface="Arial" pitchFamily="34" charset="0"/>
                <a:ea typeface="Arial" pitchFamily="34" charset="-122"/>
                <a:cs typeface="Arial" pitchFamily="34" charset="-120"/>
              </a:rPr>
              <a:t>Fabric Data Agent reads at query time</a:t>
            </a:r>
            <a:endParaRPr lang="en-US" sz="1100" dirty="0"/>
          </a:p>
          <a:p>
            <a:pPr marL="342900" indent="-342900">
              <a:lnSpc>
                <a:spcPct val="160000"/>
              </a:lnSpc>
              <a:buSzPct val="100000"/>
              <a:buChar char="•"/>
            </a:pPr>
            <a:r>
              <a:rPr lang="en-US" sz="1100" dirty="0">
                <a:solidFill>
                  <a:srgbClr val="222730"/>
                </a:solidFill>
                <a:latin typeface="Arial" pitchFamily="34" charset="0"/>
                <a:ea typeface="Arial" pitchFamily="34" charset="-122"/>
                <a:cs typeface="Arial" pitchFamily="34" charset="-120"/>
              </a:rPr>
              <a:t>OneLake security + Purview enforced</a:t>
            </a:r>
            <a:endParaRPr lang="en-US" sz="1100" dirty="0"/>
          </a:p>
        </p:txBody>
      </p:sp>
      <p:sp>
        <p:nvSpPr>
          <p:cNvPr id="21" name="Text 19"/>
          <p:cNvSpPr/>
          <p:nvPr/>
        </p:nvSpPr>
        <p:spPr>
          <a:xfrm>
            <a:off x="548640" y="5943600"/>
            <a:ext cx="10972800" cy="365760"/>
          </a:xfrm>
          <a:prstGeom prst="rect">
            <a:avLst/>
          </a:prstGeom>
          <a:noFill/>
          <a:ln/>
        </p:spPr>
        <p:txBody>
          <a:bodyPr wrap="square" rtlCol="0" anchor="ctr"/>
          <a:lstStyle/>
          <a:p>
            <a:pPr algn="ctr" indent="0" marL="0">
              <a:buNone/>
            </a:pPr>
            <a:r>
              <a:rPr lang="en-US" sz="1300" b="1" i="1" dirty="0">
                <a:solidFill>
                  <a:srgbClr val="3068FF"/>
                </a:solidFill>
                <a:latin typeface="Arial" pitchFamily="34" charset="0"/>
                <a:ea typeface="Arial" pitchFamily="34" charset="-122"/>
                <a:cs typeface="Arial" pitchFamily="34" charset="-120"/>
              </a:rPr>
              <a:t>One definition → two deployments → consistent metrics everywhere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82880" y="45720"/>
            <a:ext cx="5486400" cy="182880"/>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3" name="Text 1"/>
          <p:cNvSpPr/>
          <p:nvPr/>
        </p:nvSpPr>
        <p:spPr>
          <a:xfrm>
            <a:off x="11704320" y="6583680"/>
            <a:ext cx="365760" cy="182880"/>
          </a:xfrm>
          <a:prstGeom prst="rect">
            <a:avLst/>
          </a:prstGeom>
          <a:noFill/>
          <a:ln/>
        </p:spPr>
        <p:txBody>
          <a:bodyPr wrap="square" rtlCol="0" anchor="ctr"/>
          <a:lstStyle/>
          <a:p>
            <a:pPr algn="r" indent="0" marL="0">
              <a:buNone/>
            </a:pPr>
            <a:r>
              <a:rPr lang="en-US" sz="900" dirty="0">
                <a:solidFill>
                  <a:srgbClr val="87AFBF"/>
                </a:solidFill>
                <a:latin typeface="Arial" pitchFamily="34" charset="0"/>
                <a:ea typeface="Arial" pitchFamily="34" charset="-122"/>
                <a:cs typeface="Arial" pitchFamily="34" charset="-120"/>
              </a:rPr>
              <a:t>06</a:t>
            </a:r>
            <a:endParaRPr lang="en-US" sz="900" dirty="0"/>
          </a:p>
        </p:txBody>
      </p:sp>
      <p:sp>
        <p:nvSpPr>
          <p:cNvPr id="4" name="Text 2"/>
          <p:cNvSpPr/>
          <p:nvPr/>
        </p:nvSpPr>
        <p:spPr>
          <a:xfrm>
            <a:off x="548640" y="365760"/>
            <a:ext cx="10972800" cy="548640"/>
          </a:xfrm>
          <a:prstGeom prst="rect">
            <a:avLst/>
          </a:prstGeom>
          <a:noFill/>
          <a:ln/>
        </p:spPr>
        <p:txBody>
          <a:bodyPr wrap="square" rtlCol="0" anchor="ctr"/>
          <a:lstStyle/>
          <a:p>
            <a:pPr indent="0" marL="0">
              <a:buNone/>
            </a:pPr>
            <a:r>
              <a:rPr lang="en-US" sz="2800" b="1" dirty="0">
                <a:solidFill>
                  <a:srgbClr val="003068"/>
                </a:solidFill>
                <a:latin typeface="Arial" pitchFamily="34" charset="0"/>
                <a:ea typeface="Arial" pitchFamily="34" charset="-122"/>
                <a:cs typeface="Arial" pitchFamily="34" charset="-120"/>
              </a:rPr>
              <a:t>FastAPI trust boundary</a:t>
            </a:r>
            <a:endParaRPr lang="en-US" sz="2800" dirty="0"/>
          </a:p>
        </p:txBody>
      </p:sp>
      <p:sp>
        <p:nvSpPr>
          <p:cNvPr id="5" name="Shape 3"/>
          <p:cNvSpPr/>
          <p:nvPr/>
        </p:nvSpPr>
        <p:spPr>
          <a:xfrm>
            <a:off x="548640" y="960120"/>
            <a:ext cx="10515600" cy="0"/>
          </a:xfrm>
          <a:prstGeom prst="line">
            <a:avLst/>
          </a:prstGeom>
          <a:noFill/>
          <a:ln w="12700">
            <a:solidFill>
              <a:srgbClr val="87AFBF"/>
            </a:solidFill>
            <a:prstDash val="solid"/>
          </a:ln>
        </p:spPr>
      </p:sp>
      <p:sp>
        <p:nvSpPr>
          <p:cNvPr id="6" name="Shape 4"/>
          <p:cNvSpPr/>
          <p:nvPr/>
        </p:nvSpPr>
        <p:spPr>
          <a:xfrm>
            <a:off x="548640" y="1280160"/>
            <a:ext cx="5486400" cy="4206240"/>
          </a:xfrm>
          <a:prstGeom prst="rect">
            <a:avLst/>
          </a:prstGeom>
          <a:solidFill>
            <a:srgbClr val="F3F4FB"/>
          </a:solidFill>
          <a:ln/>
          <a:effectLst>
            <a:outerShdw sx="100000" sy="100000" kx="0" ky="0" algn="bl" rotWithShape="0" blurRad="50800" dist="25400" dir="8100000">
              <a:srgbClr val="000000">
                <a:alpha val="8000"/>
              </a:srgbClr>
            </a:outerShdw>
          </a:effectLst>
        </p:spPr>
      </p:sp>
      <p:sp>
        <p:nvSpPr>
          <p:cNvPr id="7" name="Text 5"/>
          <p:cNvSpPr/>
          <p:nvPr/>
        </p:nvSpPr>
        <p:spPr>
          <a:xfrm>
            <a:off x="822960" y="1371600"/>
            <a:ext cx="4937760" cy="365760"/>
          </a:xfrm>
          <a:prstGeom prst="rect">
            <a:avLst/>
          </a:prstGeom>
          <a:noFill/>
          <a:ln/>
        </p:spPr>
        <p:txBody>
          <a:bodyPr wrap="square" rtlCol="0" anchor="ctr"/>
          <a:lstStyle/>
          <a:p>
            <a:pPr indent="0" marL="0">
              <a:buNone/>
            </a:pPr>
            <a:r>
              <a:rPr lang="en-US" sz="1600" b="1" dirty="0">
                <a:solidFill>
                  <a:srgbClr val="003068"/>
                </a:solidFill>
                <a:latin typeface="Arial" pitchFamily="34" charset="0"/>
                <a:ea typeface="Arial" pitchFamily="34" charset="-122"/>
                <a:cs typeface="Arial" pitchFamily="34" charset="-120"/>
              </a:rPr>
              <a:t>Responsibilities</a:t>
            </a:r>
            <a:endParaRPr lang="en-US" sz="1600" dirty="0"/>
          </a:p>
        </p:txBody>
      </p:sp>
      <p:sp>
        <p:nvSpPr>
          <p:cNvPr id="8" name="Shape 6"/>
          <p:cNvSpPr/>
          <p:nvPr/>
        </p:nvSpPr>
        <p:spPr>
          <a:xfrm>
            <a:off x="822960" y="1828800"/>
            <a:ext cx="4937760" cy="640080"/>
          </a:xfrm>
          <a:prstGeom prst="rect">
            <a:avLst>
              <a:gd name="adj" fmla="val 5714"/>
            </a:avLst>
          </a:prstGeom>
          <a:solidFill>
            <a:srgbClr val="FFFFFF"/>
          </a:solidFill>
          <a:ln/>
        </p:spPr>
      </p:sp>
      <p:sp>
        <p:nvSpPr>
          <p:cNvPr id="9" name="Shape 7"/>
          <p:cNvSpPr/>
          <p:nvPr/>
        </p:nvSpPr>
        <p:spPr>
          <a:xfrm>
            <a:off x="822960" y="1828800"/>
            <a:ext cx="54864" cy="640080"/>
          </a:xfrm>
          <a:prstGeom prst="rect">
            <a:avLst/>
          </a:prstGeom>
          <a:solidFill>
            <a:srgbClr val="3068FF"/>
          </a:solidFill>
          <a:ln/>
        </p:spPr>
      </p:sp>
      <p:sp>
        <p:nvSpPr>
          <p:cNvPr id="10" name="Text 8"/>
          <p:cNvSpPr/>
          <p:nvPr/>
        </p:nvSpPr>
        <p:spPr>
          <a:xfrm>
            <a:off x="1051560" y="1847088"/>
            <a:ext cx="4572000" cy="274320"/>
          </a:xfrm>
          <a:prstGeom prst="rect">
            <a:avLst/>
          </a:prstGeom>
          <a:noFill/>
          <a:ln/>
        </p:spPr>
        <p:txBody>
          <a:bodyPr wrap="square" lIns="0" tIns="0" rIns="0" bIns="0" rtlCol="0" anchor="ctr"/>
          <a:lstStyle/>
          <a:p>
            <a:pPr indent="0" marL="0">
              <a:buNone/>
            </a:pPr>
            <a:r>
              <a:rPr lang="en-US" sz="1200" b="1" dirty="0">
                <a:solidFill>
                  <a:srgbClr val="003068"/>
                </a:solidFill>
                <a:latin typeface="Arial" pitchFamily="34" charset="0"/>
                <a:ea typeface="Arial" pitchFamily="34" charset="-122"/>
                <a:cs typeface="Arial" pitchFamily="34" charset="-120"/>
              </a:rPr>
              <a:t>Orchestration</a:t>
            </a:r>
            <a:endParaRPr lang="en-US" sz="1200" dirty="0"/>
          </a:p>
        </p:txBody>
      </p:sp>
      <p:sp>
        <p:nvSpPr>
          <p:cNvPr id="11" name="Text 9"/>
          <p:cNvSpPr/>
          <p:nvPr/>
        </p:nvSpPr>
        <p:spPr>
          <a:xfrm>
            <a:off x="1051560" y="2121408"/>
            <a:ext cx="4572000" cy="320040"/>
          </a:xfrm>
          <a:prstGeom prst="rect">
            <a:avLst/>
          </a:prstGeom>
          <a:noFill/>
          <a:ln/>
        </p:spPr>
        <p:txBody>
          <a:bodyPr wrap="square" lIns="0" tIns="0" rIns="0" bIns="0" rtlCol="0" anchor="ctr"/>
          <a:lstStyle/>
          <a:p>
            <a:pPr indent="0" marL="0">
              <a:buNone/>
            </a:pPr>
            <a:r>
              <a:rPr lang="en-US" sz="1000" dirty="0">
                <a:solidFill>
                  <a:srgbClr val="555555"/>
                </a:solidFill>
                <a:latin typeface="Arial" pitchFamily="34" charset="0"/>
                <a:ea typeface="Arial" pitchFamily="34" charset="-122"/>
                <a:cs typeface="Arial" pitchFamily="34" charset="-120"/>
              </a:rPr>
              <a:t>LLM decides query intent and selects backend (Snowflake today, + Fabric later)</a:t>
            </a:r>
            <a:endParaRPr lang="en-US" sz="1000" dirty="0"/>
          </a:p>
        </p:txBody>
      </p:sp>
      <p:sp>
        <p:nvSpPr>
          <p:cNvPr id="12" name="Shape 10"/>
          <p:cNvSpPr/>
          <p:nvPr/>
        </p:nvSpPr>
        <p:spPr>
          <a:xfrm>
            <a:off x="822960" y="2606040"/>
            <a:ext cx="4937760" cy="640080"/>
          </a:xfrm>
          <a:prstGeom prst="rect">
            <a:avLst>
              <a:gd name="adj" fmla="val 5714"/>
            </a:avLst>
          </a:prstGeom>
          <a:solidFill>
            <a:srgbClr val="FFFFFF"/>
          </a:solidFill>
          <a:ln/>
        </p:spPr>
      </p:sp>
      <p:sp>
        <p:nvSpPr>
          <p:cNvPr id="13" name="Shape 11"/>
          <p:cNvSpPr/>
          <p:nvPr/>
        </p:nvSpPr>
        <p:spPr>
          <a:xfrm>
            <a:off x="822960" y="2606040"/>
            <a:ext cx="54864" cy="640080"/>
          </a:xfrm>
          <a:prstGeom prst="rect">
            <a:avLst/>
          </a:prstGeom>
          <a:solidFill>
            <a:srgbClr val="3068FF"/>
          </a:solidFill>
          <a:ln/>
        </p:spPr>
      </p:sp>
      <p:sp>
        <p:nvSpPr>
          <p:cNvPr id="14" name="Text 12"/>
          <p:cNvSpPr/>
          <p:nvPr/>
        </p:nvSpPr>
        <p:spPr>
          <a:xfrm>
            <a:off x="1051560" y="2624328"/>
            <a:ext cx="4572000" cy="274320"/>
          </a:xfrm>
          <a:prstGeom prst="rect">
            <a:avLst/>
          </a:prstGeom>
          <a:noFill/>
          <a:ln/>
        </p:spPr>
        <p:txBody>
          <a:bodyPr wrap="square" lIns="0" tIns="0" rIns="0" bIns="0" rtlCol="0" anchor="ctr"/>
          <a:lstStyle/>
          <a:p>
            <a:pPr indent="0" marL="0">
              <a:buNone/>
            </a:pPr>
            <a:r>
              <a:rPr lang="en-US" sz="1200" b="1" dirty="0">
                <a:solidFill>
                  <a:srgbClr val="003068"/>
                </a:solidFill>
                <a:latin typeface="Arial" pitchFamily="34" charset="0"/>
                <a:ea typeface="Arial" pitchFamily="34" charset="-122"/>
                <a:cs typeface="Arial" pitchFamily="34" charset="-120"/>
              </a:rPr>
              <a:t>Auth passthrough</a:t>
            </a:r>
            <a:endParaRPr lang="en-US" sz="1200" dirty="0"/>
          </a:p>
        </p:txBody>
      </p:sp>
      <p:sp>
        <p:nvSpPr>
          <p:cNvPr id="15" name="Text 13"/>
          <p:cNvSpPr/>
          <p:nvPr/>
        </p:nvSpPr>
        <p:spPr>
          <a:xfrm>
            <a:off x="1051560" y="2898648"/>
            <a:ext cx="4572000" cy="320040"/>
          </a:xfrm>
          <a:prstGeom prst="rect">
            <a:avLst/>
          </a:prstGeom>
          <a:noFill/>
          <a:ln/>
        </p:spPr>
        <p:txBody>
          <a:bodyPr wrap="square" lIns="0" tIns="0" rIns="0" bIns="0" rtlCol="0" anchor="ctr"/>
          <a:lstStyle/>
          <a:p>
            <a:pPr indent="0" marL="0">
              <a:buNone/>
            </a:pPr>
            <a:r>
              <a:rPr lang="en-US" sz="1000" dirty="0">
                <a:solidFill>
                  <a:srgbClr val="555555"/>
                </a:solidFill>
                <a:latin typeface="Arial" pitchFamily="34" charset="0"/>
                <a:ea typeface="Arial" pitchFamily="34" charset="-122"/>
                <a:cs typeface="Arial" pitchFamily="34" charset="-120"/>
              </a:rPr>
              <a:t>Acquires OBO token from Entra ID, scoped to Snowflake or Fabric</a:t>
            </a:r>
            <a:endParaRPr lang="en-US" sz="1000" dirty="0"/>
          </a:p>
        </p:txBody>
      </p:sp>
      <p:sp>
        <p:nvSpPr>
          <p:cNvPr id="16" name="Shape 14"/>
          <p:cNvSpPr/>
          <p:nvPr/>
        </p:nvSpPr>
        <p:spPr>
          <a:xfrm>
            <a:off x="822960" y="3383280"/>
            <a:ext cx="4937760" cy="640080"/>
          </a:xfrm>
          <a:prstGeom prst="rect">
            <a:avLst>
              <a:gd name="adj" fmla="val 5714"/>
            </a:avLst>
          </a:prstGeom>
          <a:solidFill>
            <a:srgbClr val="FFFFFF"/>
          </a:solidFill>
          <a:ln/>
        </p:spPr>
      </p:sp>
      <p:sp>
        <p:nvSpPr>
          <p:cNvPr id="17" name="Shape 15"/>
          <p:cNvSpPr/>
          <p:nvPr/>
        </p:nvSpPr>
        <p:spPr>
          <a:xfrm>
            <a:off x="822960" y="3383280"/>
            <a:ext cx="54864" cy="640080"/>
          </a:xfrm>
          <a:prstGeom prst="rect">
            <a:avLst/>
          </a:prstGeom>
          <a:solidFill>
            <a:srgbClr val="3068FF"/>
          </a:solidFill>
          <a:ln/>
        </p:spPr>
      </p:sp>
      <p:sp>
        <p:nvSpPr>
          <p:cNvPr id="18" name="Text 16"/>
          <p:cNvSpPr/>
          <p:nvPr/>
        </p:nvSpPr>
        <p:spPr>
          <a:xfrm>
            <a:off x="1051560" y="3401568"/>
            <a:ext cx="4572000" cy="274320"/>
          </a:xfrm>
          <a:prstGeom prst="rect">
            <a:avLst/>
          </a:prstGeom>
          <a:noFill/>
          <a:ln/>
        </p:spPr>
        <p:txBody>
          <a:bodyPr wrap="square" lIns="0" tIns="0" rIns="0" bIns="0" rtlCol="0" anchor="ctr"/>
          <a:lstStyle/>
          <a:p>
            <a:pPr indent="0" marL="0">
              <a:buNone/>
            </a:pPr>
            <a:r>
              <a:rPr lang="en-US" sz="1200" b="1" dirty="0">
                <a:solidFill>
                  <a:srgbClr val="003068"/>
                </a:solidFill>
                <a:latin typeface="Arial" pitchFamily="34" charset="0"/>
                <a:ea typeface="Arial" pitchFamily="34" charset="-122"/>
                <a:cs typeface="Arial" pitchFamily="34" charset="-120"/>
              </a:rPr>
              <a:t>Guardrails</a:t>
            </a:r>
            <a:endParaRPr lang="en-US" sz="1200" dirty="0"/>
          </a:p>
        </p:txBody>
      </p:sp>
      <p:sp>
        <p:nvSpPr>
          <p:cNvPr id="19" name="Text 17"/>
          <p:cNvSpPr/>
          <p:nvPr/>
        </p:nvSpPr>
        <p:spPr>
          <a:xfrm>
            <a:off x="1051560" y="3675888"/>
            <a:ext cx="4572000" cy="320040"/>
          </a:xfrm>
          <a:prstGeom prst="rect">
            <a:avLst/>
          </a:prstGeom>
          <a:noFill/>
          <a:ln/>
        </p:spPr>
        <p:txBody>
          <a:bodyPr wrap="square" lIns="0" tIns="0" rIns="0" bIns="0" rtlCol="0" anchor="ctr"/>
          <a:lstStyle/>
          <a:p>
            <a:pPr indent="0" marL="0">
              <a:buNone/>
            </a:pPr>
            <a:r>
              <a:rPr lang="en-US" sz="1000" dirty="0">
                <a:solidFill>
                  <a:srgbClr val="555555"/>
                </a:solidFill>
                <a:latin typeface="Arial" pitchFamily="34" charset="0"/>
                <a:ea typeface="Arial" pitchFamily="34" charset="-122"/>
                <a:cs typeface="Arial" pitchFamily="34" charset="-120"/>
              </a:rPr>
              <a:t>Prompt injection defense, PII masking, response validation</a:t>
            </a:r>
            <a:endParaRPr lang="en-US" sz="1000" dirty="0"/>
          </a:p>
        </p:txBody>
      </p:sp>
      <p:sp>
        <p:nvSpPr>
          <p:cNvPr id="20" name="Shape 18"/>
          <p:cNvSpPr/>
          <p:nvPr/>
        </p:nvSpPr>
        <p:spPr>
          <a:xfrm>
            <a:off x="822960" y="4160520"/>
            <a:ext cx="4937760" cy="640080"/>
          </a:xfrm>
          <a:prstGeom prst="rect">
            <a:avLst>
              <a:gd name="adj" fmla="val 5714"/>
            </a:avLst>
          </a:prstGeom>
          <a:solidFill>
            <a:srgbClr val="FFFFFF"/>
          </a:solidFill>
          <a:ln/>
        </p:spPr>
      </p:sp>
      <p:sp>
        <p:nvSpPr>
          <p:cNvPr id="21" name="Shape 19"/>
          <p:cNvSpPr/>
          <p:nvPr/>
        </p:nvSpPr>
        <p:spPr>
          <a:xfrm>
            <a:off x="822960" y="4160520"/>
            <a:ext cx="54864" cy="640080"/>
          </a:xfrm>
          <a:prstGeom prst="rect">
            <a:avLst/>
          </a:prstGeom>
          <a:solidFill>
            <a:srgbClr val="3068FF"/>
          </a:solidFill>
          <a:ln/>
        </p:spPr>
      </p:sp>
      <p:sp>
        <p:nvSpPr>
          <p:cNvPr id="22" name="Text 20"/>
          <p:cNvSpPr/>
          <p:nvPr/>
        </p:nvSpPr>
        <p:spPr>
          <a:xfrm>
            <a:off x="1051560" y="4178808"/>
            <a:ext cx="4572000" cy="274320"/>
          </a:xfrm>
          <a:prstGeom prst="rect">
            <a:avLst/>
          </a:prstGeom>
          <a:noFill/>
          <a:ln/>
        </p:spPr>
        <p:txBody>
          <a:bodyPr wrap="square" lIns="0" tIns="0" rIns="0" bIns="0" rtlCol="0" anchor="ctr"/>
          <a:lstStyle/>
          <a:p>
            <a:pPr indent="0" marL="0">
              <a:buNone/>
            </a:pPr>
            <a:r>
              <a:rPr lang="en-US" sz="1200" b="1" dirty="0">
                <a:solidFill>
                  <a:srgbClr val="003068"/>
                </a:solidFill>
                <a:latin typeface="Arial" pitchFamily="34" charset="0"/>
                <a:ea typeface="Arial" pitchFamily="34" charset="-122"/>
                <a:cs typeface="Arial" pitchFamily="34" charset="-120"/>
              </a:rPr>
              <a:t>Backend routing</a:t>
            </a:r>
            <a:endParaRPr lang="en-US" sz="1200" dirty="0"/>
          </a:p>
        </p:txBody>
      </p:sp>
      <p:sp>
        <p:nvSpPr>
          <p:cNvPr id="23" name="Text 21"/>
          <p:cNvSpPr/>
          <p:nvPr/>
        </p:nvSpPr>
        <p:spPr>
          <a:xfrm>
            <a:off x="1051560" y="4453128"/>
            <a:ext cx="4572000" cy="320040"/>
          </a:xfrm>
          <a:prstGeom prst="rect">
            <a:avLst/>
          </a:prstGeom>
          <a:noFill/>
          <a:ln/>
        </p:spPr>
        <p:txBody>
          <a:bodyPr wrap="square" lIns="0" tIns="0" rIns="0" bIns="0" rtlCol="0" anchor="ctr"/>
          <a:lstStyle/>
          <a:p>
            <a:pPr indent="0" marL="0">
              <a:buNone/>
            </a:pPr>
            <a:r>
              <a:rPr lang="en-US" sz="1000" dirty="0">
                <a:solidFill>
                  <a:srgbClr val="555555"/>
                </a:solidFill>
                <a:latin typeface="Arial" pitchFamily="34" charset="0"/>
                <a:ea typeface="Arial" pitchFamily="34" charset="-122"/>
                <a:cs typeface="Arial" pitchFamily="34" charset="-120"/>
              </a:rPr>
              <a:t>NL analytics → Cortex Analyst | BI surface → Fabric Data Agent</a:t>
            </a:r>
            <a:endParaRPr lang="en-US" sz="1000" dirty="0"/>
          </a:p>
        </p:txBody>
      </p:sp>
      <p:sp>
        <p:nvSpPr>
          <p:cNvPr id="24" name="Shape 22"/>
          <p:cNvSpPr/>
          <p:nvPr/>
        </p:nvSpPr>
        <p:spPr>
          <a:xfrm>
            <a:off x="822960" y="4937760"/>
            <a:ext cx="4937760" cy="640080"/>
          </a:xfrm>
          <a:prstGeom prst="rect">
            <a:avLst>
              <a:gd name="adj" fmla="val 5714"/>
            </a:avLst>
          </a:prstGeom>
          <a:solidFill>
            <a:srgbClr val="FFFFFF"/>
          </a:solidFill>
          <a:ln/>
        </p:spPr>
      </p:sp>
      <p:sp>
        <p:nvSpPr>
          <p:cNvPr id="25" name="Shape 23"/>
          <p:cNvSpPr/>
          <p:nvPr/>
        </p:nvSpPr>
        <p:spPr>
          <a:xfrm>
            <a:off x="822960" y="4937760"/>
            <a:ext cx="54864" cy="640080"/>
          </a:xfrm>
          <a:prstGeom prst="rect">
            <a:avLst/>
          </a:prstGeom>
          <a:solidFill>
            <a:srgbClr val="3068FF"/>
          </a:solidFill>
          <a:ln/>
        </p:spPr>
      </p:sp>
      <p:sp>
        <p:nvSpPr>
          <p:cNvPr id="26" name="Text 24"/>
          <p:cNvSpPr/>
          <p:nvPr/>
        </p:nvSpPr>
        <p:spPr>
          <a:xfrm>
            <a:off x="1051560" y="4956048"/>
            <a:ext cx="4572000" cy="274320"/>
          </a:xfrm>
          <a:prstGeom prst="rect">
            <a:avLst/>
          </a:prstGeom>
          <a:noFill/>
          <a:ln/>
        </p:spPr>
        <p:txBody>
          <a:bodyPr wrap="square" lIns="0" tIns="0" rIns="0" bIns="0" rtlCol="0" anchor="ctr"/>
          <a:lstStyle/>
          <a:p>
            <a:pPr indent="0" marL="0">
              <a:buNone/>
            </a:pPr>
            <a:r>
              <a:rPr lang="en-US" sz="1200" b="1" dirty="0">
                <a:solidFill>
                  <a:srgbClr val="003068"/>
                </a:solidFill>
                <a:latin typeface="Arial" pitchFamily="34" charset="0"/>
                <a:ea typeface="Arial" pitchFamily="34" charset="-122"/>
                <a:cs typeface="Arial" pitchFamily="34" charset="-120"/>
              </a:rPr>
              <a:t>Audit + compliance</a:t>
            </a:r>
            <a:endParaRPr lang="en-US" sz="1200" dirty="0"/>
          </a:p>
        </p:txBody>
      </p:sp>
      <p:sp>
        <p:nvSpPr>
          <p:cNvPr id="27" name="Text 25"/>
          <p:cNvSpPr/>
          <p:nvPr/>
        </p:nvSpPr>
        <p:spPr>
          <a:xfrm>
            <a:off x="1051560" y="5230368"/>
            <a:ext cx="4572000" cy="320040"/>
          </a:xfrm>
          <a:prstGeom prst="rect">
            <a:avLst/>
          </a:prstGeom>
          <a:noFill/>
          <a:ln/>
        </p:spPr>
        <p:txBody>
          <a:bodyPr wrap="square" lIns="0" tIns="0" rIns="0" bIns="0" rtlCol="0" anchor="ctr"/>
          <a:lstStyle/>
          <a:p>
            <a:pPr indent="0" marL="0">
              <a:buNone/>
            </a:pPr>
            <a:r>
              <a:rPr lang="en-US" sz="1000" dirty="0">
                <a:solidFill>
                  <a:srgbClr val="555555"/>
                </a:solidFill>
                <a:latin typeface="Arial" pitchFamily="34" charset="0"/>
                <a:ea typeface="Arial" pitchFamily="34" charset="-122"/>
                <a:cs typeface="Arial" pitchFamily="34" charset="-120"/>
              </a:rPr>
              <a:t>Logs every query, response, and backend call for OSFI B-13</a:t>
            </a:r>
            <a:endParaRPr lang="en-US" sz="1000" dirty="0"/>
          </a:p>
        </p:txBody>
      </p:sp>
      <p:sp>
        <p:nvSpPr>
          <p:cNvPr id="28" name="Shape 26"/>
          <p:cNvSpPr/>
          <p:nvPr/>
        </p:nvSpPr>
        <p:spPr>
          <a:xfrm>
            <a:off x="6400800" y="1280160"/>
            <a:ext cx="5212080" cy="4206240"/>
          </a:xfrm>
          <a:prstGeom prst="rect">
            <a:avLst/>
          </a:prstGeom>
          <a:solidFill>
            <a:srgbClr val="222730"/>
          </a:solidFill>
          <a:ln/>
          <a:effectLst>
            <a:outerShdw sx="100000" sy="100000" kx="0" ky="0" algn="bl" rotWithShape="0" blurRad="50800" dist="25400" dir="8100000">
              <a:srgbClr val="000000">
                <a:alpha val="8000"/>
              </a:srgbClr>
            </a:outerShdw>
          </a:effectLst>
        </p:spPr>
      </p:sp>
      <p:sp>
        <p:nvSpPr>
          <p:cNvPr id="29" name="Text 27"/>
          <p:cNvSpPr/>
          <p:nvPr/>
        </p:nvSpPr>
        <p:spPr>
          <a:xfrm>
            <a:off x="6675120" y="1371600"/>
            <a:ext cx="4663440" cy="365760"/>
          </a:xfrm>
          <a:prstGeom prst="rect">
            <a:avLst/>
          </a:prstGeom>
          <a:noFill/>
          <a:ln/>
        </p:spPr>
        <p:txBody>
          <a:bodyPr wrap="square" rtlCol="0" anchor="ctr"/>
          <a:lstStyle/>
          <a:p>
            <a:pPr indent="0" marL="0">
              <a:buNone/>
            </a:pPr>
            <a:r>
              <a:rPr lang="en-US" sz="1600" b="1" dirty="0">
                <a:solidFill>
                  <a:srgbClr val="2AD2C9"/>
                </a:solidFill>
                <a:latin typeface="Arial" pitchFamily="34" charset="0"/>
                <a:ea typeface="Arial" pitchFamily="34" charset="-122"/>
                <a:cs typeface="Arial" pitchFamily="34" charset="-120"/>
              </a:rPr>
              <a:t>API contract (OpenAPI 3.0)</a:t>
            </a:r>
            <a:endParaRPr lang="en-US" sz="1600" dirty="0"/>
          </a:p>
        </p:txBody>
      </p:sp>
      <p:sp>
        <p:nvSpPr>
          <p:cNvPr id="30" name="Text 28"/>
          <p:cNvSpPr/>
          <p:nvPr/>
        </p:nvSpPr>
        <p:spPr>
          <a:xfrm>
            <a:off x="6675120" y="1828800"/>
            <a:ext cx="4663440" cy="3474720"/>
          </a:xfrm>
          <a:prstGeom prst="rect">
            <a:avLst/>
          </a:prstGeom>
          <a:noFill/>
          <a:ln/>
        </p:spPr>
        <p:txBody>
          <a:bodyPr wrap="square" rtlCol="0" anchor="t"/>
          <a:lstStyle/>
          <a:p>
            <a:pPr indent="0" marL="0">
              <a:buNone/>
            </a:pPr>
            <a:r>
              <a:rPr lang="en-US" sz="1000" dirty="0">
                <a:solidFill>
                  <a:srgbClr val="FFFFFF"/>
                </a:solidFill>
                <a:latin typeface="Courier New" pitchFamily="34" charset="0"/>
                <a:ea typeface="Courier New" pitchFamily="34" charset="-122"/>
                <a:cs typeface="Courier New" pitchFamily="34" charset="-120"/>
              </a:rPr>
              <a:t>POST /v1/query</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NL question + user token</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routes to Snowflake or Fabric</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returns structured answer</a:t>
            </a:r>
            <a:endParaRPr lang="en-US" sz="1000" dirty="0"/>
          </a:p>
          <a:p>
            <a:pPr indent="0" marL="0">
              <a:buNone/>
            </a:pP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POST /v1/query/feedback</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user rating + correction</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logged for model improvement</a:t>
            </a:r>
            <a:endParaRPr lang="en-US" sz="1000" dirty="0"/>
          </a:p>
          <a:p>
            <a:pPr indent="0" marL="0">
              <a:buNone/>
            </a:pP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GET /v1/health</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backend connectivity status</a:t>
            </a:r>
            <a:endParaRPr lang="en-US" sz="1000" dirty="0"/>
          </a:p>
          <a:p>
            <a:pPr indent="0" marL="0">
              <a:buNone/>
            </a:pP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Auth: Bearer &lt;OBO token&gt;</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Entra ID on-behalf-of flow</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 scoped to data engine</a:t>
            </a:r>
            <a:endParaRPr lang="en-US" sz="1000" dirty="0"/>
          </a:p>
          <a:p>
            <a:pPr indent="0" marL="0">
              <a:buNone/>
            </a:pP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Headers:</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X-Backend-Hint: snowflake | fabric</a:t>
            </a:r>
            <a:endParaRPr lang="en-US" sz="1000" dirty="0"/>
          </a:p>
          <a:p>
            <a:pPr indent="0" marL="0">
              <a:buNone/>
            </a:pPr>
            <a:r>
              <a:rPr lang="en-US" sz="1000" dirty="0">
                <a:solidFill>
                  <a:srgbClr val="FFFFFF"/>
                </a:solidFill>
                <a:latin typeface="Courier New" pitchFamily="34" charset="0"/>
                <a:ea typeface="Courier New" pitchFamily="34" charset="-122"/>
                <a:cs typeface="Courier New" pitchFamily="34" charset="-120"/>
              </a:rPr>
              <a:t>  X-Trace-Id: &lt;correlation ID&gt;</a:t>
            </a:r>
            <a:endParaRPr lang="en-US" sz="1000" dirty="0"/>
          </a:p>
        </p:txBody>
      </p:sp>
      <p:sp>
        <p:nvSpPr>
          <p:cNvPr id="31" name="Text 29"/>
          <p:cNvSpPr/>
          <p:nvPr/>
        </p:nvSpPr>
        <p:spPr>
          <a:xfrm>
            <a:off x="548640" y="5669280"/>
            <a:ext cx="10972800" cy="365760"/>
          </a:xfrm>
          <a:prstGeom prst="rect">
            <a:avLst/>
          </a:prstGeom>
          <a:noFill/>
          <a:ln/>
        </p:spPr>
        <p:txBody>
          <a:bodyPr wrap="square" rtlCol="0" anchor="ctr"/>
          <a:lstStyle/>
          <a:p>
            <a:pPr algn="ctr" indent="0" marL="0">
              <a:buNone/>
            </a:pPr>
            <a:r>
              <a:rPr lang="en-US" sz="1100" i="1" dirty="0">
                <a:solidFill>
                  <a:srgbClr val="3068FF"/>
                </a:solidFill>
                <a:latin typeface="Arial" pitchFamily="34" charset="0"/>
                <a:ea typeface="Arial" pitchFamily="34" charset="-122"/>
                <a:cs typeface="Arial" pitchFamily="34" charset="-120"/>
              </a:rPr>
              <a:t>Full OpenAPI spec: docs/fastapi-trust-boundary-spec.yaml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82880" y="45720"/>
            <a:ext cx="5486400" cy="182880"/>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3" name="Text 1"/>
          <p:cNvSpPr/>
          <p:nvPr/>
        </p:nvSpPr>
        <p:spPr>
          <a:xfrm>
            <a:off x="11704320" y="6583680"/>
            <a:ext cx="365760" cy="182880"/>
          </a:xfrm>
          <a:prstGeom prst="rect">
            <a:avLst/>
          </a:prstGeom>
          <a:noFill/>
          <a:ln/>
        </p:spPr>
        <p:txBody>
          <a:bodyPr wrap="square" rtlCol="0" anchor="ctr"/>
          <a:lstStyle/>
          <a:p>
            <a:pPr algn="r" indent="0" marL="0">
              <a:buNone/>
            </a:pPr>
            <a:r>
              <a:rPr lang="en-US" sz="900" dirty="0">
                <a:solidFill>
                  <a:srgbClr val="87AFBF"/>
                </a:solidFill>
                <a:latin typeface="Arial" pitchFamily="34" charset="0"/>
                <a:ea typeface="Arial" pitchFamily="34" charset="-122"/>
                <a:cs typeface="Arial" pitchFamily="34" charset="-120"/>
              </a:rPr>
              <a:t>07</a:t>
            </a:r>
            <a:endParaRPr lang="en-US" sz="900" dirty="0"/>
          </a:p>
        </p:txBody>
      </p:sp>
      <p:sp>
        <p:nvSpPr>
          <p:cNvPr id="4" name="Text 2"/>
          <p:cNvSpPr/>
          <p:nvPr/>
        </p:nvSpPr>
        <p:spPr>
          <a:xfrm>
            <a:off x="548640" y="365760"/>
            <a:ext cx="10972800" cy="548640"/>
          </a:xfrm>
          <a:prstGeom prst="rect">
            <a:avLst/>
          </a:prstGeom>
          <a:noFill/>
          <a:ln/>
        </p:spPr>
        <p:txBody>
          <a:bodyPr wrap="square" rtlCol="0" anchor="ctr"/>
          <a:lstStyle/>
          <a:p>
            <a:pPr indent="0" marL="0">
              <a:buNone/>
            </a:pPr>
            <a:r>
              <a:rPr lang="en-US" sz="2800" b="1" dirty="0">
                <a:solidFill>
                  <a:srgbClr val="003068"/>
                </a:solidFill>
                <a:latin typeface="Arial" pitchFamily="34" charset="0"/>
                <a:ea typeface="Arial" pitchFamily="34" charset="-122"/>
                <a:cs typeface="Arial" pitchFamily="34" charset="-120"/>
              </a:rPr>
              <a:t>Phase 2: extending to Fabric</a:t>
            </a:r>
            <a:endParaRPr lang="en-US" sz="2800" dirty="0"/>
          </a:p>
        </p:txBody>
      </p:sp>
      <p:sp>
        <p:nvSpPr>
          <p:cNvPr id="5" name="Shape 3"/>
          <p:cNvSpPr/>
          <p:nvPr/>
        </p:nvSpPr>
        <p:spPr>
          <a:xfrm>
            <a:off x="548640" y="960120"/>
            <a:ext cx="10515600" cy="0"/>
          </a:xfrm>
          <a:prstGeom prst="line">
            <a:avLst/>
          </a:prstGeom>
          <a:noFill/>
          <a:ln w="12700">
            <a:solidFill>
              <a:srgbClr val="87AFBF"/>
            </a:solidFill>
            <a:prstDash val="solid"/>
          </a:ln>
        </p:spPr>
      </p:sp>
      <p:sp>
        <p:nvSpPr>
          <p:cNvPr id="6" name="Text 4"/>
          <p:cNvSpPr/>
          <p:nvPr/>
        </p:nvSpPr>
        <p:spPr>
          <a:xfrm>
            <a:off x="548640" y="1188720"/>
            <a:ext cx="4572000" cy="365760"/>
          </a:xfrm>
          <a:prstGeom prst="rect">
            <a:avLst/>
          </a:prstGeom>
          <a:noFill/>
          <a:ln/>
        </p:spPr>
        <p:txBody>
          <a:bodyPr wrap="square" rtlCol="0" anchor="ctr"/>
          <a:lstStyle/>
          <a:p>
            <a:pPr indent="0" marL="0">
              <a:buNone/>
            </a:pPr>
            <a:r>
              <a:rPr lang="en-US" sz="1800" b="1" dirty="0">
                <a:solidFill>
                  <a:srgbClr val="003068"/>
                </a:solidFill>
                <a:latin typeface="Arial" pitchFamily="34" charset="0"/>
                <a:ea typeface="Arial" pitchFamily="34" charset="-122"/>
                <a:cs typeface="Arial" pitchFamily="34" charset="-120"/>
              </a:rPr>
              <a:t>What changes</a:t>
            </a:r>
            <a:endParaRPr lang="en-US" sz="1800" dirty="0"/>
          </a:p>
        </p:txBody>
      </p:sp>
      <p:sp>
        <p:nvSpPr>
          <p:cNvPr id="7" name="Text 5"/>
          <p:cNvSpPr/>
          <p:nvPr/>
        </p:nvSpPr>
        <p:spPr>
          <a:xfrm>
            <a:off x="822960" y="1645920"/>
            <a:ext cx="5029200" cy="2743200"/>
          </a:xfrm>
          <a:prstGeom prst="rect">
            <a:avLst/>
          </a:prstGeom>
          <a:noFill/>
          <a:ln/>
        </p:spPr>
        <p:txBody>
          <a:bodyPr wrap="square" rtlCol="0" anchor="ctr"/>
          <a:lstStyle/>
          <a:p>
            <a:pPr marL="342900" indent="-342900">
              <a:lnSpc>
                <a:spcPct val="160000"/>
              </a:lnSpc>
              <a:buSzPct val="100000"/>
              <a:buChar char="•"/>
            </a:pPr>
            <a:r>
              <a:rPr lang="en-US" sz="1200" dirty="0">
                <a:solidFill>
                  <a:srgbClr val="222730"/>
                </a:solidFill>
                <a:latin typeface="Arial" pitchFamily="34" charset="0"/>
                <a:ea typeface="Arial" pitchFamily="34" charset="-122"/>
                <a:cs typeface="Arial" pitchFamily="34" charset="-120"/>
              </a:rPr>
              <a:t>FastAPI adds a second backend route (Fabric Data Agent REST API)</a:t>
            </a:r>
            <a:endParaRPr lang="en-US" sz="1200" dirty="0"/>
          </a:p>
          <a:p>
            <a:pPr marL="342900" indent="-342900">
              <a:lnSpc>
                <a:spcPct val="160000"/>
              </a:lnSpc>
              <a:buSzPct val="100000"/>
              <a:buChar char="•"/>
            </a:pPr>
            <a:r>
              <a:rPr lang="en-US" sz="1200" dirty="0">
                <a:solidFill>
                  <a:srgbClr val="222730"/>
                </a:solidFill>
                <a:latin typeface="Arial" pitchFamily="34" charset="0"/>
                <a:ea typeface="Arial" pitchFamily="34" charset="-122"/>
                <a:cs typeface="Arial" pitchFamily="34" charset="-120"/>
              </a:rPr>
              <a:t>CI/CD pipeline gains a Fabric deployment target (Import semantic model)</a:t>
            </a:r>
            <a:endParaRPr lang="en-US" sz="1200" dirty="0"/>
          </a:p>
          <a:p>
            <a:pPr marL="342900" indent="-342900">
              <a:lnSpc>
                <a:spcPct val="160000"/>
              </a:lnSpc>
              <a:buSzPct val="100000"/>
              <a:buChar char="•"/>
            </a:pPr>
            <a:r>
              <a:rPr lang="en-US" sz="1200" dirty="0">
                <a:solidFill>
                  <a:srgbClr val="222730"/>
                </a:solidFill>
                <a:latin typeface="Arial" pitchFamily="34" charset="0"/>
                <a:ea typeface="Arial" pitchFamily="34" charset="-122"/>
                <a:cs typeface="Arial" pitchFamily="34" charset="-120"/>
              </a:rPr>
              <a:t>Gold Iceberg gets a Delta copy synced to OneLake</a:t>
            </a:r>
            <a:endParaRPr lang="en-US" sz="1200" dirty="0"/>
          </a:p>
          <a:p>
            <a:pPr marL="342900" indent="-342900">
              <a:lnSpc>
                <a:spcPct val="160000"/>
              </a:lnSpc>
              <a:buSzPct val="100000"/>
              <a:buChar char="•"/>
            </a:pPr>
            <a:r>
              <a:rPr lang="en-US" sz="1200" dirty="0">
                <a:solidFill>
                  <a:srgbClr val="222730"/>
                </a:solidFill>
                <a:latin typeface="Arial" pitchFamily="34" charset="0"/>
                <a:ea typeface="Arial" pitchFamily="34" charset="-122"/>
                <a:cs typeface="Arial" pitchFamily="34" charset="-120"/>
              </a:rPr>
              <a:t>OneLake security (RLS/CLS) + Purview DLP added to governance stack</a:t>
            </a:r>
            <a:endParaRPr lang="en-US" sz="1200" dirty="0"/>
          </a:p>
          <a:p>
            <a:pPr marL="342900" indent="-342900">
              <a:lnSpc>
                <a:spcPct val="160000"/>
              </a:lnSpc>
              <a:buSzPct val="100000"/>
              <a:buChar char="•"/>
            </a:pPr>
            <a:r>
              <a:rPr lang="en-US" sz="1200" dirty="0">
                <a:solidFill>
                  <a:srgbClr val="222730"/>
                </a:solidFill>
                <a:latin typeface="Arial" pitchFamily="34" charset="0"/>
                <a:ea typeface="Arial" pitchFamily="34" charset="-122"/>
                <a:cs typeface="Arial" pitchFamily="34" charset="-120"/>
              </a:rPr>
              <a:t>Power BI connects directly to Import semantic model</a:t>
            </a:r>
            <a:endParaRPr lang="en-US" sz="1200" dirty="0"/>
          </a:p>
        </p:txBody>
      </p:sp>
      <p:sp>
        <p:nvSpPr>
          <p:cNvPr id="8" name="Text 6"/>
          <p:cNvSpPr/>
          <p:nvPr/>
        </p:nvSpPr>
        <p:spPr>
          <a:xfrm>
            <a:off x="6400800" y="1188720"/>
            <a:ext cx="4572000" cy="365760"/>
          </a:xfrm>
          <a:prstGeom prst="rect">
            <a:avLst/>
          </a:prstGeom>
          <a:noFill/>
          <a:ln/>
        </p:spPr>
        <p:txBody>
          <a:bodyPr wrap="square" rtlCol="0" anchor="ctr"/>
          <a:lstStyle/>
          <a:p>
            <a:pPr indent="0" marL="0">
              <a:buNone/>
            </a:pPr>
            <a:r>
              <a:rPr lang="en-US" sz="1800" b="1" dirty="0">
                <a:solidFill>
                  <a:srgbClr val="003068"/>
                </a:solidFill>
                <a:latin typeface="Arial" pitchFamily="34" charset="0"/>
                <a:ea typeface="Arial" pitchFamily="34" charset="-122"/>
                <a:cs typeface="Arial" pitchFamily="34" charset="-120"/>
              </a:rPr>
              <a:t>What stays the same</a:t>
            </a:r>
            <a:endParaRPr lang="en-US" sz="1800" dirty="0"/>
          </a:p>
        </p:txBody>
      </p:sp>
      <p:sp>
        <p:nvSpPr>
          <p:cNvPr id="9" name="Text 7"/>
          <p:cNvSpPr/>
          <p:nvPr/>
        </p:nvSpPr>
        <p:spPr>
          <a:xfrm>
            <a:off x="6675120" y="1645920"/>
            <a:ext cx="5029200" cy="2743200"/>
          </a:xfrm>
          <a:prstGeom prst="rect">
            <a:avLst/>
          </a:prstGeom>
          <a:noFill/>
          <a:ln/>
        </p:spPr>
        <p:txBody>
          <a:bodyPr wrap="square" rtlCol="0" anchor="ctr"/>
          <a:lstStyle/>
          <a:p>
            <a:pPr marL="342900" indent="-342900">
              <a:lnSpc>
                <a:spcPct val="160000"/>
              </a:lnSpc>
              <a:buSzPct val="100000"/>
              <a:buChar char="•"/>
            </a:pPr>
            <a:r>
              <a:rPr lang="en-US" sz="1200" dirty="0">
                <a:solidFill>
                  <a:srgbClr val="222730"/>
                </a:solidFill>
                <a:latin typeface="Arial" pitchFamily="34" charset="0"/>
                <a:ea typeface="Arial" pitchFamily="34" charset="-122"/>
                <a:cs typeface="Arial" pitchFamily="34" charset="-120"/>
              </a:rPr>
              <a:t>Gold Iceberg V2 remains the single source of truth</a:t>
            </a:r>
            <a:endParaRPr lang="en-US" sz="1200" dirty="0"/>
          </a:p>
          <a:p>
            <a:pPr marL="342900" indent="-342900">
              <a:lnSpc>
                <a:spcPct val="160000"/>
              </a:lnSpc>
              <a:buSzPct val="100000"/>
              <a:buChar char="•"/>
            </a:pPr>
            <a:r>
              <a:rPr lang="en-US" sz="1200" dirty="0">
                <a:solidFill>
                  <a:srgbClr val="222730"/>
                </a:solidFill>
                <a:latin typeface="Arial" pitchFamily="34" charset="0"/>
                <a:ea typeface="Arial" pitchFamily="34" charset="-122"/>
                <a:cs typeface="Arial" pitchFamily="34" charset="-120"/>
              </a:rPr>
              <a:t>Snowflake Cortex Analyst continues serving NL queries</a:t>
            </a:r>
            <a:endParaRPr lang="en-US" sz="1200" dirty="0"/>
          </a:p>
          <a:p>
            <a:pPr marL="342900" indent="-342900">
              <a:lnSpc>
                <a:spcPct val="160000"/>
              </a:lnSpc>
              <a:buSzPct val="100000"/>
              <a:buChar char="•"/>
            </a:pPr>
            <a:r>
              <a:rPr lang="en-US" sz="1200" dirty="0">
                <a:solidFill>
                  <a:srgbClr val="222730"/>
                </a:solidFill>
                <a:latin typeface="Arial" pitchFamily="34" charset="0"/>
                <a:ea typeface="Arial" pitchFamily="34" charset="-122"/>
                <a:cs typeface="Arial" pitchFamily="34" charset="-120"/>
              </a:rPr>
              <a:t>FastAPI trust boundary stays as the entry point</a:t>
            </a:r>
            <a:endParaRPr lang="en-US" sz="1200" dirty="0"/>
          </a:p>
          <a:p>
            <a:pPr marL="342900" indent="-342900">
              <a:lnSpc>
                <a:spcPct val="160000"/>
              </a:lnSpc>
              <a:buSzPct val="100000"/>
              <a:buChar char="•"/>
            </a:pPr>
            <a:r>
              <a:rPr lang="en-US" sz="1200" dirty="0">
                <a:solidFill>
                  <a:srgbClr val="222730"/>
                </a:solidFill>
                <a:latin typeface="Arial" pitchFamily="34" charset="0"/>
                <a:ea typeface="Arial" pitchFamily="34" charset="-122"/>
                <a:cs typeface="Arial" pitchFamily="34" charset="-120"/>
              </a:rPr>
              <a:t>Semantic model YAML in GitHub remains the canonical definition</a:t>
            </a:r>
            <a:endParaRPr lang="en-US" sz="1200" dirty="0"/>
          </a:p>
          <a:p>
            <a:pPr marL="342900" indent="-342900">
              <a:lnSpc>
                <a:spcPct val="160000"/>
              </a:lnSpc>
              <a:buSzPct val="100000"/>
              <a:buChar char="•"/>
            </a:pPr>
            <a:r>
              <a:rPr lang="en-US" sz="1200" dirty="0">
                <a:solidFill>
                  <a:srgbClr val="222730"/>
                </a:solidFill>
                <a:latin typeface="Arial" pitchFamily="34" charset="0"/>
                <a:ea typeface="Arial" pitchFamily="34" charset="-122"/>
                <a:cs typeface="Arial" pitchFamily="34" charset="-120"/>
              </a:rPr>
              <a:t>Consumer apps (RBC Assist, Borealis) see no change</a:t>
            </a:r>
            <a:endParaRPr lang="en-US" sz="1200" dirty="0"/>
          </a:p>
        </p:txBody>
      </p:sp>
      <p:sp>
        <p:nvSpPr>
          <p:cNvPr id="10" name="Shape 8"/>
          <p:cNvSpPr/>
          <p:nvPr/>
        </p:nvSpPr>
        <p:spPr>
          <a:xfrm>
            <a:off x="548640" y="4663440"/>
            <a:ext cx="11064240" cy="1645920"/>
          </a:xfrm>
          <a:prstGeom prst="rect">
            <a:avLst>
              <a:gd name="adj" fmla="val 3333"/>
            </a:avLst>
          </a:prstGeom>
          <a:solidFill>
            <a:srgbClr val="F3F4FB"/>
          </a:solidFill>
          <a:ln/>
        </p:spPr>
      </p:sp>
      <p:sp>
        <p:nvSpPr>
          <p:cNvPr id="11" name="Text 9"/>
          <p:cNvSpPr/>
          <p:nvPr/>
        </p:nvSpPr>
        <p:spPr>
          <a:xfrm>
            <a:off x="822960" y="4754880"/>
            <a:ext cx="3657600" cy="274320"/>
          </a:xfrm>
          <a:prstGeom prst="rect">
            <a:avLst/>
          </a:prstGeom>
          <a:noFill/>
          <a:ln/>
        </p:spPr>
        <p:txBody>
          <a:bodyPr wrap="square" rtlCol="0" anchor="ctr"/>
          <a:lstStyle/>
          <a:p>
            <a:pPr indent="0" marL="0">
              <a:buNone/>
            </a:pPr>
            <a:r>
              <a:rPr lang="en-US" sz="1200" b="1" dirty="0">
                <a:solidFill>
                  <a:srgbClr val="003068"/>
                </a:solidFill>
                <a:latin typeface="Arial" pitchFamily="34" charset="0"/>
                <a:ea typeface="Arial" pitchFamily="34" charset="-122"/>
                <a:cs typeface="Arial" pitchFamily="34" charset="-120"/>
              </a:rPr>
              <a:t>FastAPI routing logic</a:t>
            </a:r>
            <a:endParaRPr lang="en-US" sz="1200" dirty="0"/>
          </a:p>
        </p:txBody>
      </p:sp>
      <p:sp>
        <p:nvSpPr>
          <p:cNvPr id="12" name="Shape 10"/>
          <p:cNvSpPr/>
          <p:nvPr/>
        </p:nvSpPr>
        <p:spPr>
          <a:xfrm>
            <a:off x="914400" y="5212080"/>
            <a:ext cx="2286000" cy="548640"/>
          </a:xfrm>
          <a:prstGeom prst="rect">
            <a:avLst>
              <a:gd name="adj" fmla="val 8333"/>
            </a:avLst>
          </a:prstGeom>
          <a:solidFill>
            <a:srgbClr val="FAECE7"/>
          </a:solidFill>
          <a:ln/>
          <a:effectLst>
            <a:outerShdw sx="100000" sy="100000" kx="0" ky="0" algn="bl" rotWithShape="0" blurRad="50800" dist="25400" dir="8100000">
              <a:srgbClr val="000000">
                <a:alpha val="8000"/>
              </a:srgbClr>
            </a:outerShdw>
          </a:effectLst>
        </p:spPr>
      </p:sp>
      <p:sp>
        <p:nvSpPr>
          <p:cNvPr id="13" name="Text 11"/>
          <p:cNvSpPr/>
          <p:nvPr/>
        </p:nvSpPr>
        <p:spPr>
          <a:xfrm>
            <a:off x="914400" y="5212080"/>
            <a:ext cx="2286000" cy="548640"/>
          </a:xfrm>
          <a:prstGeom prst="rect">
            <a:avLst/>
          </a:prstGeom>
          <a:noFill/>
          <a:ln/>
        </p:spPr>
        <p:txBody>
          <a:bodyPr wrap="square" rtlCol="0" anchor="ctr"/>
          <a:lstStyle/>
          <a:p>
            <a:pPr algn="ctr" indent="0" marL="0">
              <a:buNone/>
            </a:pPr>
            <a:r>
              <a:rPr lang="en-US" sz="1100" b="1" dirty="0">
                <a:solidFill>
                  <a:srgbClr val="993C1D"/>
                </a:solidFill>
                <a:latin typeface="Arial" pitchFamily="34" charset="0"/>
                <a:ea typeface="Arial" pitchFamily="34" charset="-122"/>
                <a:cs typeface="Arial" pitchFamily="34" charset="-120"/>
              </a:rPr>
              <a:t>NL analytics query</a:t>
            </a:r>
            <a:endParaRPr lang="en-US" sz="1100" dirty="0"/>
          </a:p>
        </p:txBody>
      </p:sp>
      <p:sp>
        <p:nvSpPr>
          <p:cNvPr id="14" name="Shape 12"/>
          <p:cNvSpPr/>
          <p:nvPr/>
        </p:nvSpPr>
        <p:spPr>
          <a:xfrm>
            <a:off x="914400" y="5852160"/>
            <a:ext cx="2286000" cy="320040"/>
          </a:xfrm>
          <a:prstGeom prst="rect">
            <a:avLst>
              <a:gd name="adj" fmla="val 14286"/>
            </a:avLst>
          </a:prstGeom>
          <a:solidFill>
            <a:srgbClr val="D4F5F0"/>
          </a:solidFill>
          <a:ln/>
          <a:effectLst>
            <a:outerShdw sx="100000" sy="100000" kx="0" ky="0" algn="bl" rotWithShape="0" blurRad="50800" dist="25400" dir="8100000">
              <a:srgbClr val="000000">
                <a:alpha val="8000"/>
              </a:srgbClr>
            </a:outerShdw>
          </a:effectLst>
        </p:spPr>
      </p:sp>
      <p:sp>
        <p:nvSpPr>
          <p:cNvPr id="15" name="Text 13"/>
          <p:cNvSpPr/>
          <p:nvPr/>
        </p:nvSpPr>
        <p:spPr>
          <a:xfrm>
            <a:off x="914400" y="5852160"/>
            <a:ext cx="2286000" cy="320040"/>
          </a:xfrm>
          <a:prstGeom prst="rect">
            <a:avLst/>
          </a:prstGeom>
          <a:noFill/>
          <a:ln/>
        </p:spPr>
        <p:txBody>
          <a:bodyPr wrap="square" rtlCol="0" anchor="ctr"/>
          <a:lstStyle/>
          <a:p>
            <a:pPr algn="ctr" indent="0" marL="0">
              <a:buNone/>
            </a:pPr>
            <a:r>
              <a:rPr lang="en-US" sz="1100" b="1" dirty="0">
                <a:solidFill>
                  <a:srgbClr val="175E6B"/>
                </a:solidFill>
                <a:latin typeface="Arial" pitchFamily="34" charset="0"/>
                <a:ea typeface="Arial" pitchFamily="34" charset="-122"/>
                <a:cs typeface="Arial" pitchFamily="34" charset="-120"/>
              </a:rPr>
              <a:t>→ Snowflake Cortex</a:t>
            </a:r>
            <a:endParaRPr lang="en-US" sz="1100" dirty="0"/>
          </a:p>
        </p:txBody>
      </p:sp>
      <p:sp>
        <p:nvSpPr>
          <p:cNvPr id="16" name="Shape 14"/>
          <p:cNvSpPr/>
          <p:nvPr/>
        </p:nvSpPr>
        <p:spPr>
          <a:xfrm>
            <a:off x="3840480" y="5212080"/>
            <a:ext cx="2286000" cy="548640"/>
          </a:xfrm>
          <a:prstGeom prst="rect">
            <a:avLst>
              <a:gd name="adj" fmla="val 8333"/>
            </a:avLst>
          </a:prstGeom>
          <a:solidFill>
            <a:srgbClr val="FAECE7"/>
          </a:solidFill>
          <a:ln/>
          <a:effectLst>
            <a:outerShdw sx="100000" sy="100000" kx="0" ky="0" algn="bl" rotWithShape="0" blurRad="50800" dist="25400" dir="8100000">
              <a:srgbClr val="000000">
                <a:alpha val="8000"/>
              </a:srgbClr>
            </a:outerShdw>
          </a:effectLst>
        </p:spPr>
      </p:sp>
      <p:sp>
        <p:nvSpPr>
          <p:cNvPr id="17" name="Text 15"/>
          <p:cNvSpPr/>
          <p:nvPr/>
        </p:nvSpPr>
        <p:spPr>
          <a:xfrm>
            <a:off x="3840480" y="5212080"/>
            <a:ext cx="2286000" cy="548640"/>
          </a:xfrm>
          <a:prstGeom prst="rect">
            <a:avLst/>
          </a:prstGeom>
          <a:noFill/>
          <a:ln/>
        </p:spPr>
        <p:txBody>
          <a:bodyPr wrap="square" rtlCol="0" anchor="ctr"/>
          <a:lstStyle/>
          <a:p>
            <a:pPr algn="ctr" indent="0" marL="0">
              <a:buNone/>
            </a:pPr>
            <a:r>
              <a:rPr lang="en-US" sz="1100" b="1" dirty="0">
                <a:solidFill>
                  <a:srgbClr val="993C1D"/>
                </a:solidFill>
                <a:latin typeface="Arial" pitchFamily="34" charset="0"/>
                <a:ea typeface="Arial" pitchFamily="34" charset="-122"/>
                <a:cs typeface="Arial" pitchFamily="34" charset="-120"/>
              </a:rPr>
              <a:t>BI / AI surface query</a:t>
            </a:r>
            <a:endParaRPr lang="en-US" sz="1100" dirty="0"/>
          </a:p>
        </p:txBody>
      </p:sp>
      <p:sp>
        <p:nvSpPr>
          <p:cNvPr id="18" name="Shape 16"/>
          <p:cNvSpPr/>
          <p:nvPr/>
        </p:nvSpPr>
        <p:spPr>
          <a:xfrm>
            <a:off x="3840480" y="5852160"/>
            <a:ext cx="2286000" cy="320040"/>
          </a:xfrm>
          <a:prstGeom prst="rect">
            <a:avLst>
              <a:gd name="adj" fmla="val 14286"/>
            </a:avLst>
          </a:prstGeom>
          <a:solidFill>
            <a:srgbClr val="E8E3FD"/>
          </a:solidFill>
          <a:ln/>
          <a:effectLst>
            <a:outerShdw sx="100000" sy="100000" kx="0" ky="0" algn="bl" rotWithShape="0" blurRad="50800" dist="25400" dir="8100000">
              <a:srgbClr val="000000">
                <a:alpha val="8000"/>
              </a:srgbClr>
            </a:outerShdw>
          </a:effectLst>
        </p:spPr>
      </p:sp>
      <p:sp>
        <p:nvSpPr>
          <p:cNvPr id="19" name="Text 17"/>
          <p:cNvSpPr/>
          <p:nvPr/>
        </p:nvSpPr>
        <p:spPr>
          <a:xfrm>
            <a:off x="3840480" y="5852160"/>
            <a:ext cx="2286000" cy="320040"/>
          </a:xfrm>
          <a:prstGeom prst="rect">
            <a:avLst/>
          </a:prstGeom>
          <a:noFill/>
          <a:ln/>
        </p:spPr>
        <p:txBody>
          <a:bodyPr wrap="square" rtlCol="0" anchor="ctr"/>
          <a:lstStyle/>
          <a:p>
            <a:pPr algn="ctr" indent="0" marL="0">
              <a:buNone/>
            </a:pPr>
            <a:r>
              <a:rPr lang="en-US" sz="1100" b="1" dirty="0">
                <a:solidFill>
                  <a:srgbClr val="4B3FA0"/>
                </a:solidFill>
                <a:latin typeface="Arial" pitchFamily="34" charset="0"/>
                <a:ea typeface="Arial" pitchFamily="34" charset="-122"/>
                <a:cs typeface="Arial" pitchFamily="34" charset="-120"/>
              </a:rPr>
              <a:t>→ Fabric Data Agent</a:t>
            </a:r>
            <a:endParaRPr lang="en-US" sz="1100" dirty="0"/>
          </a:p>
        </p:txBody>
      </p:sp>
      <p:sp>
        <p:nvSpPr>
          <p:cNvPr id="20" name="Shape 18"/>
          <p:cNvSpPr/>
          <p:nvPr/>
        </p:nvSpPr>
        <p:spPr>
          <a:xfrm>
            <a:off x="6766560" y="5212080"/>
            <a:ext cx="2286000" cy="548640"/>
          </a:xfrm>
          <a:prstGeom prst="rect">
            <a:avLst>
              <a:gd name="adj" fmla="val 8333"/>
            </a:avLst>
          </a:prstGeom>
          <a:solidFill>
            <a:srgbClr val="FAECE7"/>
          </a:solidFill>
          <a:ln/>
          <a:effectLst>
            <a:outerShdw sx="100000" sy="100000" kx="0" ky="0" algn="bl" rotWithShape="0" blurRad="50800" dist="25400" dir="8100000">
              <a:srgbClr val="000000">
                <a:alpha val="8000"/>
              </a:srgbClr>
            </a:outerShdw>
          </a:effectLst>
        </p:spPr>
      </p:sp>
      <p:sp>
        <p:nvSpPr>
          <p:cNvPr id="21" name="Text 19"/>
          <p:cNvSpPr/>
          <p:nvPr/>
        </p:nvSpPr>
        <p:spPr>
          <a:xfrm>
            <a:off x="6766560" y="5212080"/>
            <a:ext cx="2286000" cy="548640"/>
          </a:xfrm>
          <a:prstGeom prst="rect">
            <a:avLst/>
          </a:prstGeom>
          <a:noFill/>
          <a:ln/>
        </p:spPr>
        <p:txBody>
          <a:bodyPr wrap="square" rtlCol="0" anchor="ctr"/>
          <a:lstStyle/>
          <a:p>
            <a:pPr algn="ctr" indent="0" marL="0">
              <a:buNone/>
            </a:pPr>
            <a:r>
              <a:rPr lang="en-US" sz="1100" b="1" dirty="0">
                <a:solidFill>
                  <a:srgbClr val="993C1D"/>
                </a:solidFill>
                <a:latin typeface="Arial" pitchFamily="34" charset="0"/>
                <a:ea typeface="Arial" pitchFamily="34" charset="-122"/>
                <a:cs typeface="Arial" pitchFamily="34" charset="-120"/>
              </a:rPr>
              <a:t>Unstructured / docs</a:t>
            </a:r>
            <a:endParaRPr lang="en-US" sz="1100" dirty="0"/>
          </a:p>
        </p:txBody>
      </p:sp>
      <p:sp>
        <p:nvSpPr>
          <p:cNvPr id="22" name="Shape 20"/>
          <p:cNvSpPr/>
          <p:nvPr/>
        </p:nvSpPr>
        <p:spPr>
          <a:xfrm>
            <a:off x="6766560" y="5852160"/>
            <a:ext cx="2286000" cy="320040"/>
          </a:xfrm>
          <a:prstGeom prst="rect">
            <a:avLst>
              <a:gd name="adj" fmla="val 14286"/>
            </a:avLst>
          </a:prstGeom>
          <a:solidFill>
            <a:srgbClr val="D4F5F0"/>
          </a:solidFill>
          <a:ln/>
          <a:effectLst>
            <a:outerShdw sx="100000" sy="100000" kx="0" ky="0" algn="bl" rotWithShape="0" blurRad="50800" dist="25400" dir="8100000">
              <a:srgbClr val="000000">
                <a:alpha val="8000"/>
              </a:srgbClr>
            </a:outerShdw>
          </a:effectLst>
        </p:spPr>
      </p:sp>
      <p:sp>
        <p:nvSpPr>
          <p:cNvPr id="23" name="Text 21"/>
          <p:cNvSpPr/>
          <p:nvPr/>
        </p:nvSpPr>
        <p:spPr>
          <a:xfrm>
            <a:off x="6766560" y="5852160"/>
            <a:ext cx="2286000" cy="320040"/>
          </a:xfrm>
          <a:prstGeom prst="rect">
            <a:avLst/>
          </a:prstGeom>
          <a:noFill/>
          <a:ln/>
        </p:spPr>
        <p:txBody>
          <a:bodyPr wrap="square" rtlCol="0" anchor="ctr"/>
          <a:lstStyle/>
          <a:p>
            <a:pPr algn="ctr" indent="0" marL="0">
              <a:buNone/>
            </a:pPr>
            <a:r>
              <a:rPr lang="en-US" sz="1100" b="1" dirty="0">
                <a:solidFill>
                  <a:srgbClr val="175E6B"/>
                </a:solidFill>
                <a:latin typeface="Arial" pitchFamily="34" charset="0"/>
                <a:ea typeface="Arial" pitchFamily="34" charset="-122"/>
                <a:cs typeface="Arial" pitchFamily="34" charset="-120"/>
              </a:rPr>
              <a:t>→ Cortex Search</a:t>
            </a:r>
            <a:endParaRPr lang="en-US" sz="1100" dirty="0"/>
          </a:p>
        </p:txBody>
      </p:sp>
      <p:sp>
        <p:nvSpPr>
          <p:cNvPr id="24" name="Shape 22"/>
          <p:cNvSpPr/>
          <p:nvPr/>
        </p:nvSpPr>
        <p:spPr>
          <a:xfrm>
            <a:off x="9326880" y="5212080"/>
            <a:ext cx="2011680" cy="548640"/>
          </a:xfrm>
          <a:prstGeom prst="rect">
            <a:avLst>
              <a:gd name="adj" fmla="val 8333"/>
            </a:avLst>
          </a:prstGeom>
          <a:solidFill>
            <a:srgbClr val="FAECE7"/>
          </a:solidFill>
          <a:ln/>
          <a:effectLst>
            <a:outerShdw sx="100000" sy="100000" kx="0" ky="0" algn="bl" rotWithShape="0" blurRad="50800" dist="25400" dir="8100000">
              <a:srgbClr val="000000">
                <a:alpha val="8000"/>
              </a:srgbClr>
            </a:outerShdw>
          </a:effectLst>
        </p:spPr>
      </p:sp>
      <p:sp>
        <p:nvSpPr>
          <p:cNvPr id="25" name="Text 23"/>
          <p:cNvSpPr/>
          <p:nvPr/>
        </p:nvSpPr>
        <p:spPr>
          <a:xfrm>
            <a:off x="9326880" y="5212080"/>
            <a:ext cx="2011680" cy="548640"/>
          </a:xfrm>
          <a:prstGeom prst="rect">
            <a:avLst/>
          </a:prstGeom>
          <a:noFill/>
          <a:ln/>
        </p:spPr>
        <p:txBody>
          <a:bodyPr wrap="square" rtlCol="0" anchor="ctr"/>
          <a:lstStyle/>
          <a:p>
            <a:pPr algn="ctr" indent="0" marL="0">
              <a:buNone/>
            </a:pPr>
            <a:r>
              <a:rPr lang="en-US" sz="1100" b="1" dirty="0">
                <a:solidFill>
                  <a:srgbClr val="993C1D"/>
                </a:solidFill>
                <a:latin typeface="Arial" pitchFamily="34" charset="0"/>
                <a:ea typeface="Arial" pitchFamily="34" charset="-122"/>
                <a:cs typeface="Arial" pitchFamily="34" charset="-120"/>
              </a:rPr>
              <a:t>Direct BI</a:t>
            </a:r>
            <a:endParaRPr lang="en-US" sz="1100" dirty="0"/>
          </a:p>
        </p:txBody>
      </p:sp>
      <p:sp>
        <p:nvSpPr>
          <p:cNvPr id="26" name="Shape 24"/>
          <p:cNvSpPr/>
          <p:nvPr/>
        </p:nvSpPr>
        <p:spPr>
          <a:xfrm>
            <a:off x="9326880" y="5852160"/>
            <a:ext cx="2011680" cy="320040"/>
          </a:xfrm>
          <a:prstGeom prst="rect">
            <a:avLst>
              <a:gd name="adj" fmla="val 14286"/>
            </a:avLst>
          </a:prstGeom>
          <a:solidFill>
            <a:srgbClr val="E8E3FD"/>
          </a:solidFill>
          <a:ln/>
          <a:effectLst>
            <a:outerShdw sx="100000" sy="100000" kx="0" ky="0" algn="bl" rotWithShape="0" blurRad="50800" dist="25400" dir="8100000">
              <a:srgbClr val="000000">
                <a:alpha val="8000"/>
              </a:srgbClr>
            </a:outerShdw>
          </a:effectLst>
        </p:spPr>
      </p:sp>
      <p:sp>
        <p:nvSpPr>
          <p:cNvPr id="27" name="Text 25"/>
          <p:cNvSpPr/>
          <p:nvPr/>
        </p:nvSpPr>
        <p:spPr>
          <a:xfrm>
            <a:off x="9326880" y="5852160"/>
            <a:ext cx="2011680" cy="320040"/>
          </a:xfrm>
          <a:prstGeom prst="rect">
            <a:avLst/>
          </a:prstGeom>
          <a:noFill/>
          <a:ln/>
        </p:spPr>
        <p:txBody>
          <a:bodyPr wrap="square" rtlCol="0" anchor="ctr"/>
          <a:lstStyle/>
          <a:p>
            <a:pPr algn="ctr" indent="0" marL="0">
              <a:buNone/>
            </a:pPr>
            <a:r>
              <a:rPr lang="en-US" sz="1100" b="1" dirty="0">
                <a:solidFill>
                  <a:srgbClr val="4B3FA0"/>
                </a:solidFill>
                <a:latin typeface="Arial" pitchFamily="34" charset="0"/>
                <a:ea typeface="Arial" pitchFamily="34" charset="-122"/>
                <a:cs typeface="Arial" pitchFamily="34" charset="-120"/>
              </a:rPr>
              <a:t>→ Power BI direct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82880" y="45720"/>
            <a:ext cx="5486400" cy="182880"/>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3" name="Text 1"/>
          <p:cNvSpPr/>
          <p:nvPr/>
        </p:nvSpPr>
        <p:spPr>
          <a:xfrm>
            <a:off x="11704320" y="6583680"/>
            <a:ext cx="365760" cy="182880"/>
          </a:xfrm>
          <a:prstGeom prst="rect">
            <a:avLst/>
          </a:prstGeom>
          <a:noFill/>
          <a:ln/>
        </p:spPr>
        <p:txBody>
          <a:bodyPr wrap="square" rtlCol="0" anchor="ctr"/>
          <a:lstStyle/>
          <a:p>
            <a:pPr algn="r" indent="0" marL="0">
              <a:buNone/>
            </a:pPr>
            <a:r>
              <a:rPr lang="en-US" sz="900" dirty="0">
                <a:solidFill>
                  <a:srgbClr val="87AFBF"/>
                </a:solidFill>
                <a:latin typeface="Arial" pitchFamily="34" charset="0"/>
                <a:ea typeface="Arial" pitchFamily="34" charset="-122"/>
                <a:cs typeface="Arial" pitchFamily="34" charset="-120"/>
              </a:rPr>
              <a:t>08</a:t>
            </a:r>
            <a:endParaRPr lang="en-US" sz="900" dirty="0"/>
          </a:p>
        </p:txBody>
      </p:sp>
      <p:sp>
        <p:nvSpPr>
          <p:cNvPr id="4" name="Text 2"/>
          <p:cNvSpPr/>
          <p:nvPr/>
        </p:nvSpPr>
        <p:spPr>
          <a:xfrm>
            <a:off x="548640" y="365760"/>
            <a:ext cx="10972800" cy="548640"/>
          </a:xfrm>
          <a:prstGeom prst="rect">
            <a:avLst/>
          </a:prstGeom>
          <a:noFill/>
          <a:ln/>
        </p:spPr>
        <p:txBody>
          <a:bodyPr wrap="square" rtlCol="0" anchor="ctr"/>
          <a:lstStyle/>
          <a:p>
            <a:pPr indent="0" marL="0">
              <a:buNone/>
            </a:pPr>
            <a:r>
              <a:rPr lang="en-US" sz="2800" b="1" dirty="0">
                <a:solidFill>
                  <a:srgbClr val="003068"/>
                </a:solidFill>
                <a:latin typeface="Arial" pitchFamily="34" charset="0"/>
                <a:ea typeface="Arial" pitchFamily="34" charset="-122"/>
                <a:cs typeface="Arial" pitchFamily="34" charset="-120"/>
              </a:rPr>
              <a:t>Governance considerations</a:t>
            </a:r>
            <a:endParaRPr lang="en-US" sz="2800" dirty="0"/>
          </a:p>
        </p:txBody>
      </p:sp>
      <p:sp>
        <p:nvSpPr>
          <p:cNvPr id="5" name="Shape 3"/>
          <p:cNvSpPr/>
          <p:nvPr/>
        </p:nvSpPr>
        <p:spPr>
          <a:xfrm>
            <a:off x="548640" y="960120"/>
            <a:ext cx="10515600" cy="0"/>
          </a:xfrm>
          <a:prstGeom prst="line">
            <a:avLst/>
          </a:prstGeom>
          <a:noFill/>
          <a:ln w="12700">
            <a:solidFill>
              <a:srgbClr val="87AFBF"/>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286000"/>
                <a:gridCol w="2926080"/>
                <a:gridCol w="2926080"/>
                <a:gridCol w="292608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Layer</a:t>
                      </a:r>
                      <a:endParaRPr lang="en-US" sz="12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solidFill>
                      <a:srgbClr val="00306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On-prem (Trino)</a:t>
                      </a:r>
                      <a:endParaRPr lang="en-US" sz="12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solidFill>
                      <a:srgbClr val="00306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Snowflake (Phase 1)</a:t>
                      </a:r>
                      <a:endParaRPr lang="en-US" sz="12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solidFill>
                      <a:srgbClr val="00306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Fabric (Phase 2)</a:t>
                      </a:r>
                      <a:endParaRPr lang="en-US" sz="12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solidFill>
                      <a:srgbClr val="003068"/>
                    </a:solidFill>
                  </a:tcPr>
                </a:tc>
              </a:tr>
              <a:tr h="411480">
                <a:tc>
                  <a:txBody>
                    <a:bodyPr/>
                    <a:lstStyle/>
                    <a:p>
                      <a:pPr indent="0" marL="0">
                        <a:buNone/>
                      </a:pPr>
                      <a:r>
                        <a:rPr lang="en-US" sz="1100" dirty="0">
                          <a:solidFill>
                            <a:srgbClr val="222730"/>
                          </a:solidFill>
                          <a:latin typeface="Arial" pitchFamily="34" charset="0"/>
                          <a:ea typeface="Arial" pitchFamily="34" charset="-122"/>
                          <a:cs typeface="Arial" pitchFamily="34" charset="-120"/>
                        </a:rPr>
                        <a:t>Policy authoring</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Gravitino</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Snowflake RBAC / Immuta</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OneLake security</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r>
              <a:tr h="411480">
                <a:tc>
                  <a:txBody>
                    <a:bodyPr/>
                    <a:lstStyle/>
                    <a:p>
                      <a:pPr indent="0" marL="0">
                        <a:buNone/>
                      </a:pPr>
                      <a:r>
                        <a:rPr lang="en-US" sz="1100" dirty="0">
                          <a:solidFill>
                            <a:srgbClr val="222730"/>
                          </a:solidFill>
                          <a:latin typeface="Arial" pitchFamily="34" charset="0"/>
                          <a:ea typeface="Arial" pitchFamily="34" charset="-122"/>
                          <a:cs typeface="Arial" pitchFamily="34" charset="-120"/>
                        </a:rPr>
                        <a:t>Enforcement</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Apache Ranger</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Snowflake row access policies</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OneLake RLS/CLS</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r>
              <a:tr h="411480">
                <a:tc>
                  <a:txBody>
                    <a:bodyPr/>
                    <a:lstStyle/>
                    <a:p>
                      <a:pPr indent="0" marL="0">
                        <a:buNone/>
                      </a:pPr>
                      <a:r>
                        <a:rPr lang="en-US" sz="1100" dirty="0">
                          <a:solidFill>
                            <a:srgbClr val="222730"/>
                          </a:solidFill>
                          <a:latin typeface="Arial" pitchFamily="34" charset="0"/>
                          <a:ea typeface="Arial" pitchFamily="34" charset="-122"/>
                          <a:cs typeface="Arial" pitchFamily="34" charset="-120"/>
                        </a:rPr>
                        <a:t>DLP / classification</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Manual tagging</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Immuta (evaluation)</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Microsoft Purview</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r>
              <a:tr h="411480">
                <a:tc>
                  <a:txBody>
                    <a:bodyPr/>
                    <a:lstStyle/>
                    <a:p>
                      <a:pPr indent="0" marL="0">
                        <a:buNone/>
                      </a:pPr>
                      <a:r>
                        <a:rPr lang="en-US" sz="1100" dirty="0">
                          <a:solidFill>
                            <a:srgbClr val="222730"/>
                          </a:solidFill>
                          <a:latin typeface="Arial" pitchFamily="34" charset="0"/>
                          <a:ea typeface="Arial" pitchFamily="34" charset="-122"/>
                          <a:cs typeface="Arial" pitchFamily="34" charset="-120"/>
                        </a:rPr>
                        <a:t>Audit logging</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Ranger audit</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Snowflake Access History</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Purview DSPM</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r>
              <a:tr h="411480">
                <a:tc>
                  <a:txBody>
                    <a:bodyPr/>
                    <a:lstStyle/>
                    <a:p>
                      <a:pPr indent="0" marL="0">
                        <a:buNone/>
                      </a:pPr>
                      <a:r>
                        <a:rPr lang="en-US" sz="1100" dirty="0">
                          <a:solidFill>
                            <a:srgbClr val="222730"/>
                          </a:solidFill>
                          <a:latin typeface="Arial" pitchFamily="34" charset="0"/>
                          <a:ea typeface="Arial" pitchFamily="34" charset="-122"/>
                          <a:cs typeface="Arial" pitchFamily="34" charset="-120"/>
                        </a:rPr>
                        <a:t>AI-specific controls</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FastAPI guardrails</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Cortex respects RBAC</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c>
                  <a:txBody>
                    <a:bodyPr/>
                    <a:lstStyle/>
                    <a:p>
                      <a:pPr indent="0" marL="0">
                        <a:buNone/>
                      </a:pPr>
                      <a:r>
                        <a:rPr lang="en-US" sz="1100" dirty="0">
                          <a:solidFill>
                            <a:srgbClr val="222730"/>
                          </a:solidFill>
                          <a:latin typeface="Arial" pitchFamily="34" charset="0"/>
                          <a:ea typeface="Arial" pitchFamily="34" charset="-122"/>
                          <a:cs typeface="Arial" pitchFamily="34" charset="-120"/>
                        </a:rPr>
                        <a:t>Data Agent + Purview DLP</a:t>
                      </a:r>
                      <a:endParaRPr lang="en-US" sz="1100" dirty="0">
                        <a:latin typeface="Arial" charset="0"/>
                        <a:ea typeface="Arial" charset="0"/>
                        <a:cs typeface="Arial" charset="0"/>
                      </a:endParaRPr>
                    </a:p>
                  </a:txBody>
                  <a:tcPr marL="91440" marR="91440" marT="45720" marB="45720">
                    <a:lnL w="6350" cap="flat" cmpd="sng" algn="ctr">
                      <a:solidFill>
                        <a:srgbClr val="87AFBF"/>
                      </a:solidFill>
                      <a:prstDash val="solid"/>
                      <a:round/>
                      <a:headEnd type="none" w="med" len="med"/>
                      <a:tailEnd type="none" w="med" len="med"/>
                    </a:lnL>
                    <a:lnR w="6350" cap="flat" cmpd="sng" algn="ctr">
                      <a:solidFill>
                        <a:srgbClr val="87AFBF"/>
                      </a:solidFill>
                      <a:prstDash val="solid"/>
                      <a:round/>
                      <a:headEnd type="none" w="med" len="med"/>
                      <a:tailEnd type="none" w="med" len="med"/>
                    </a:lnR>
                    <a:lnT w="6350" cap="flat" cmpd="sng" algn="ctr">
                      <a:solidFill>
                        <a:srgbClr val="87AFBF"/>
                      </a:solidFill>
                      <a:prstDash val="solid"/>
                      <a:round/>
                      <a:headEnd type="none" w="med" len="med"/>
                      <a:tailEnd type="none" w="med" len="med"/>
                    </a:lnT>
                    <a:lnB w="6350" cap="flat" cmpd="sng" algn="ctr">
                      <a:solidFill>
                        <a:srgbClr val="87AFBF"/>
                      </a:solidFill>
                      <a:prstDash val="solid"/>
                      <a:round/>
                      <a:headEnd type="none" w="med" len="med"/>
                      <a:tailEnd type="none" w="med" len="med"/>
                    </a:lnB>
                  </a:tcPr>
                </a:tc>
              </a:tr>
            </a:tbl>
          </a:graphicData>
        </a:graphic>
      </p:graphicFrame>
      <p:sp>
        <p:nvSpPr>
          <p:cNvPr id="7" name="Shape 4"/>
          <p:cNvSpPr/>
          <p:nvPr/>
        </p:nvSpPr>
        <p:spPr>
          <a:xfrm>
            <a:off x="548640" y="4389120"/>
            <a:ext cx="11064240" cy="1280160"/>
          </a:xfrm>
          <a:prstGeom prst="rect">
            <a:avLst>
              <a:gd name="adj" fmla="val 4286"/>
            </a:avLst>
          </a:prstGeom>
          <a:solidFill>
            <a:srgbClr val="FFF3E0"/>
          </a:solidFill>
          <a:ln w="12700">
            <a:solidFill>
              <a:srgbClr val="F26B43"/>
            </a:solidFill>
            <a:prstDash val="solid"/>
          </a:ln>
        </p:spPr>
      </p:sp>
      <p:sp>
        <p:nvSpPr>
          <p:cNvPr id="8" name="Text 5"/>
          <p:cNvSpPr/>
          <p:nvPr/>
        </p:nvSpPr>
        <p:spPr>
          <a:xfrm>
            <a:off x="822960" y="4480560"/>
            <a:ext cx="10515600" cy="1097280"/>
          </a:xfrm>
          <a:prstGeom prst="rect">
            <a:avLst/>
          </a:prstGeom>
          <a:noFill/>
          <a:ln/>
        </p:spPr>
        <p:txBody>
          <a:bodyPr wrap="square" rtlCol="0" anchor="t"/>
          <a:lstStyle/>
          <a:p>
            <a:pPr indent="0" marL="0">
              <a:buNone/>
            </a:pPr>
            <a:r>
              <a:rPr lang="en-US" sz="1100" b="1" dirty="0">
                <a:solidFill>
                  <a:srgbClr val="7A4400"/>
                </a:solidFill>
                <a:latin typeface="Arial" pitchFamily="34" charset="0"/>
                <a:ea typeface="Arial" pitchFamily="34" charset="-122"/>
                <a:cs typeface="Arial" pitchFamily="34" charset="-120"/>
              </a:rPr>
              <a:t>Open decision: </a:t>
            </a:r>
            <a:pPr indent="0" marL="0">
              <a:buNone/>
            </a:pPr>
            <a:r>
              <a:rPr lang="en-US" sz="1100" dirty="0">
                <a:solidFill>
                  <a:srgbClr val="7A4400"/>
                </a:solidFill>
                <a:latin typeface="Arial" pitchFamily="34" charset="0"/>
                <a:ea typeface="Arial" pitchFamily="34" charset="-122"/>
                <a:cs typeface="Arial" pitchFamily="34" charset="-120"/>
              </a:rPr>
              <a:t>Snowflake bypasses Trino/Ranger entirely. This was previously identified as a governance gap. Mitigation options: (1) Snowflake native RBAC mapped to the same role structure, (2) Immuta sitting in front of Snowflake to enforce consistent ABAC policies, or (3) accept dual governance with documented policy mapping. Immuta evaluation is already in flight.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82880" y="45720"/>
            <a:ext cx="5486400" cy="182880"/>
          </a:xfrm>
          <a:prstGeom prst="rect">
            <a:avLst/>
          </a:prstGeom>
          <a:noFill/>
          <a:ln/>
        </p:spPr>
        <p:txBody>
          <a:bodyPr wrap="square" rtlCol="0" anchor="ctr"/>
          <a:lstStyle/>
          <a:p>
            <a:pPr indent="0" marL="0">
              <a:buNone/>
            </a:pPr>
            <a:r>
              <a:rPr lang="en-US" sz="700" dirty="0">
                <a:solidFill>
                  <a:srgbClr val="87AFBF"/>
                </a:solidFill>
                <a:latin typeface="Arial" pitchFamily="34" charset="0"/>
                <a:ea typeface="Arial" pitchFamily="34" charset="-122"/>
                <a:cs typeface="Arial" pitchFamily="34" charset="-120"/>
              </a:rPr>
              <a:t>Confidential — Internal Use Only</a:t>
            </a:r>
            <a:endParaRPr lang="en-US" sz="700" dirty="0"/>
          </a:p>
        </p:txBody>
      </p:sp>
      <p:sp>
        <p:nvSpPr>
          <p:cNvPr id="3" name="Text 1"/>
          <p:cNvSpPr/>
          <p:nvPr/>
        </p:nvSpPr>
        <p:spPr>
          <a:xfrm>
            <a:off x="11704320" y="6583680"/>
            <a:ext cx="365760" cy="182880"/>
          </a:xfrm>
          <a:prstGeom prst="rect">
            <a:avLst/>
          </a:prstGeom>
          <a:noFill/>
          <a:ln/>
        </p:spPr>
        <p:txBody>
          <a:bodyPr wrap="square" rtlCol="0" anchor="ctr"/>
          <a:lstStyle/>
          <a:p>
            <a:pPr algn="r" indent="0" marL="0">
              <a:buNone/>
            </a:pPr>
            <a:r>
              <a:rPr lang="en-US" sz="900" dirty="0">
                <a:solidFill>
                  <a:srgbClr val="87AFBF"/>
                </a:solidFill>
                <a:latin typeface="Arial" pitchFamily="34" charset="0"/>
                <a:ea typeface="Arial" pitchFamily="34" charset="-122"/>
                <a:cs typeface="Arial" pitchFamily="34" charset="-120"/>
              </a:rPr>
              <a:t>09</a:t>
            </a:r>
            <a:endParaRPr lang="en-US" sz="900" dirty="0"/>
          </a:p>
        </p:txBody>
      </p:sp>
      <p:sp>
        <p:nvSpPr>
          <p:cNvPr id="4" name="Text 2"/>
          <p:cNvSpPr/>
          <p:nvPr/>
        </p:nvSpPr>
        <p:spPr>
          <a:xfrm>
            <a:off x="548640" y="365760"/>
            <a:ext cx="10972800" cy="548640"/>
          </a:xfrm>
          <a:prstGeom prst="rect">
            <a:avLst/>
          </a:prstGeom>
          <a:noFill/>
          <a:ln/>
        </p:spPr>
        <p:txBody>
          <a:bodyPr wrap="square" rtlCol="0" anchor="ctr"/>
          <a:lstStyle/>
          <a:p>
            <a:pPr indent="0" marL="0">
              <a:buNone/>
            </a:pPr>
            <a:r>
              <a:rPr lang="en-US" sz="2800" b="1" dirty="0">
                <a:solidFill>
                  <a:srgbClr val="003068"/>
                </a:solidFill>
                <a:latin typeface="Arial" pitchFamily="34" charset="0"/>
                <a:ea typeface="Arial" pitchFamily="34" charset="-122"/>
                <a:cs typeface="Arial" pitchFamily="34" charset="-120"/>
              </a:rPr>
              <a:t>Key decisions + next steps</a:t>
            </a:r>
            <a:endParaRPr lang="en-US" sz="2800" dirty="0"/>
          </a:p>
        </p:txBody>
      </p:sp>
      <p:sp>
        <p:nvSpPr>
          <p:cNvPr id="5" name="Shape 3"/>
          <p:cNvSpPr/>
          <p:nvPr/>
        </p:nvSpPr>
        <p:spPr>
          <a:xfrm>
            <a:off x="548640" y="960120"/>
            <a:ext cx="10515600" cy="0"/>
          </a:xfrm>
          <a:prstGeom prst="line">
            <a:avLst/>
          </a:prstGeom>
          <a:noFill/>
          <a:ln w="12700">
            <a:solidFill>
              <a:srgbClr val="87AFBF"/>
            </a:solidFill>
            <a:prstDash val="solid"/>
          </a:ln>
        </p:spPr>
      </p:sp>
      <p:sp>
        <p:nvSpPr>
          <p:cNvPr id="6" name="Shape 4"/>
          <p:cNvSpPr/>
          <p:nvPr/>
        </p:nvSpPr>
        <p:spPr>
          <a:xfrm>
            <a:off x="548640" y="1188720"/>
            <a:ext cx="11064240" cy="868680"/>
          </a:xfrm>
          <a:prstGeom prst="rect">
            <a:avLst>
              <a:gd name="adj" fmla="val 4211"/>
            </a:avLst>
          </a:prstGeom>
          <a:solidFill>
            <a:srgbClr val="F3F4FB"/>
          </a:solidFill>
          <a:ln/>
        </p:spPr>
      </p:sp>
      <p:sp>
        <p:nvSpPr>
          <p:cNvPr id="7" name="Shape 5"/>
          <p:cNvSpPr/>
          <p:nvPr/>
        </p:nvSpPr>
        <p:spPr>
          <a:xfrm>
            <a:off x="777240" y="1353312"/>
            <a:ext cx="502920" cy="502920"/>
          </a:xfrm>
          <a:prstGeom prst="ellipse">
            <a:avLst/>
          </a:prstGeom>
          <a:solidFill>
            <a:srgbClr val="3068FF"/>
          </a:solidFill>
          <a:ln/>
        </p:spPr>
      </p:sp>
      <p:sp>
        <p:nvSpPr>
          <p:cNvPr id="8" name="Text 6"/>
          <p:cNvSpPr/>
          <p:nvPr/>
        </p:nvSpPr>
        <p:spPr>
          <a:xfrm>
            <a:off x="777240" y="1353312"/>
            <a:ext cx="502920" cy="5029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01</a:t>
            </a:r>
            <a:endParaRPr lang="en-US" sz="1400" dirty="0"/>
          </a:p>
        </p:txBody>
      </p:sp>
      <p:sp>
        <p:nvSpPr>
          <p:cNvPr id="9" name="Text 7"/>
          <p:cNvSpPr/>
          <p:nvPr/>
        </p:nvSpPr>
        <p:spPr>
          <a:xfrm>
            <a:off x="1463040" y="1234440"/>
            <a:ext cx="7772400" cy="320040"/>
          </a:xfrm>
          <a:prstGeom prst="rect">
            <a:avLst/>
          </a:prstGeom>
          <a:noFill/>
          <a:ln/>
        </p:spPr>
        <p:txBody>
          <a:bodyPr wrap="square" lIns="0" tIns="0" rIns="0" bIns="0" rtlCol="0" anchor="ctr"/>
          <a:lstStyle/>
          <a:p>
            <a:pPr indent="0" marL="0">
              <a:buNone/>
            </a:pPr>
            <a:r>
              <a:rPr lang="en-US" sz="1400" b="1" dirty="0">
                <a:solidFill>
                  <a:srgbClr val="003068"/>
                </a:solidFill>
                <a:latin typeface="Arial" pitchFamily="34" charset="0"/>
                <a:ea typeface="Arial" pitchFamily="34" charset="-122"/>
                <a:cs typeface="Arial" pitchFamily="34" charset="-120"/>
              </a:rPr>
              <a:t>Snowflake as access layer — not a data store</a:t>
            </a:r>
            <a:endParaRPr lang="en-US" sz="1400" dirty="0"/>
          </a:p>
        </p:txBody>
      </p:sp>
      <p:sp>
        <p:nvSpPr>
          <p:cNvPr id="10" name="Text 8"/>
          <p:cNvSpPr/>
          <p:nvPr/>
        </p:nvSpPr>
        <p:spPr>
          <a:xfrm>
            <a:off x="1463040" y="1572768"/>
            <a:ext cx="7772400" cy="411480"/>
          </a:xfrm>
          <a:prstGeom prst="rect">
            <a:avLst/>
          </a:prstGeom>
          <a:noFill/>
          <a:ln/>
        </p:spPr>
        <p:txBody>
          <a:bodyPr wrap="square" lIns="0" tIns="0" rIns="0" bIns="0" rtlCol="0" anchor="ctr"/>
          <a:lstStyle/>
          <a:p>
            <a:pPr indent="0" marL="0">
              <a:buNone/>
            </a:pPr>
            <a:r>
              <a:rPr lang="en-US" sz="1000" dirty="0">
                <a:solidFill>
                  <a:srgbClr val="555555"/>
                </a:solidFill>
                <a:latin typeface="Arial" pitchFamily="34" charset="0"/>
                <a:ea typeface="Arial" pitchFamily="34" charset="-122"/>
                <a:cs typeface="Arial" pitchFamily="34" charset="-120"/>
              </a:rPr>
              <a:t>Snowflake reads Iceberg via external volumes. No data duplication. Gold stays on-prem.</a:t>
            </a:r>
            <a:endParaRPr lang="en-US" sz="1000" dirty="0"/>
          </a:p>
        </p:txBody>
      </p:sp>
      <p:sp>
        <p:nvSpPr>
          <p:cNvPr id="11" name="Shape 9"/>
          <p:cNvSpPr/>
          <p:nvPr/>
        </p:nvSpPr>
        <p:spPr>
          <a:xfrm>
            <a:off x="10058400" y="1444752"/>
            <a:ext cx="1188720" cy="320040"/>
          </a:xfrm>
          <a:prstGeom prst="rect">
            <a:avLst>
              <a:gd name="adj" fmla="val 42857"/>
            </a:avLst>
          </a:prstGeom>
          <a:solidFill>
            <a:srgbClr val="00B050"/>
          </a:solidFill>
          <a:ln/>
        </p:spPr>
      </p:sp>
      <p:sp>
        <p:nvSpPr>
          <p:cNvPr id="12" name="Text 10"/>
          <p:cNvSpPr/>
          <p:nvPr/>
        </p:nvSpPr>
        <p:spPr>
          <a:xfrm>
            <a:off x="10058400" y="1444752"/>
            <a:ext cx="1188720" cy="32004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Decided</a:t>
            </a:r>
            <a:endParaRPr lang="en-US" sz="1000" dirty="0"/>
          </a:p>
        </p:txBody>
      </p:sp>
      <p:sp>
        <p:nvSpPr>
          <p:cNvPr id="13" name="Shape 11"/>
          <p:cNvSpPr/>
          <p:nvPr/>
        </p:nvSpPr>
        <p:spPr>
          <a:xfrm>
            <a:off x="548640" y="2194560"/>
            <a:ext cx="11064240" cy="868680"/>
          </a:xfrm>
          <a:prstGeom prst="rect">
            <a:avLst>
              <a:gd name="adj" fmla="val 4211"/>
            </a:avLst>
          </a:prstGeom>
          <a:solidFill>
            <a:srgbClr val="F3F4FB"/>
          </a:solidFill>
          <a:ln/>
        </p:spPr>
      </p:sp>
      <p:sp>
        <p:nvSpPr>
          <p:cNvPr id="14" name="Shape 12"/>
          <p:cNvSpPr/>
          <p:nvPr/>
        </p:nvSpPr>
        <p:spPr>
          <a:xfrm>
            <a:off x="777240" y="2359152"/>
            <a:ext cx="502920" cy="502920"/>
          </a:xfrm>
          <a:prstGeom prst="ellipse">
            <a:avLst/>
          </a:prstGeom>
          <a:solidFill>
            <a:srgbClr val="3068FF"/>
          </a:solidFill>
          <a:ln/>
        </p:spPr>
      </p:sp>
      <p:sp>
        <p:nvSpPr>
          <p:cNvPr id="15" name="Text 13"/>
          <p:cNvSpPr/>
          <p:nvPr/>
        </p:nvSpPr>
        <p:spPr>
          <a:xfrm>
            <a:off x="777240" y="2359152"/>
            <a:ext cx="502920" cy="5029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16" name="Text 14"/>
          <p:cNvSpPr/>
          <p:nvPr/>
        </p:nvSpPr>
        <p:spPr>
          <a:xfrm>
            <a:off x="1463040" y="2240280"/>
            <a:ext cx="7772400" cy="320040"/>
          </a:xfrm>
          <a:prstGeom prst="rect">
            <a:avLst/>
          </a:prstGeom>
          <a:noFill/>
          <a:ln/>
        </p:spPr>
        <p:txBody>
          <a:bodyPr wrap="square" lIns="0" tIns="0" rIns="0" bIns="0" rtlCol="0" anchor="ctr"/>
          <a:lstStyle/>
          <a:p>
            <a:pPr indent="0" marL="0">
              <a:buNone/>
            </a:pPr>
            <a:r>
              <a:rPr lang="en-US" sz="1400" b="1" dirty="0">
                <a:solidFill>
                  <a:srgbClr val="003068"/>
                </a:solidFill>
                <a:latin typeface="Arial" pitchFamily="34" charset="0"/>
                <a:ea typeface="Arial" pitchFamily="34" charset="-122"/>
                <a:cs typeface="Arial" pitchFamily="34" charset="-120"/>
              </a:rPr>
              <a:t>Semantic model in GitHub — deployed to engines</a:t>
            </a:r>
            <a:endParaRPr lang="en-US" sz="1400" dirty="0"/>
          </a:p>
        </p:txBody>
      </p:sp>
      <p:sp>
        <p:nvSpPr>
          <p:cNvPr id="17" name="Text 15"/>
          <p:cNvSpPr/>
          <p:nvPr/>
        </p:nvSpPr>
        <p:spPr>
          <a:xfrm>
            <a:off x="1463040" y="2578608"/>
            <a:ext cx="7772400" cy="411480"/>
          </a:xfrm>
          <a:prstGeom prst="rect">
            <a:avLst/>
          </a:prstGeom>
          <a:noFill/>
          <a:ln/>
        </p:spPr>
        <p:txBody>
          <a:bodyPr wrap="square" lIns="0" tIns="0" rIns="0" bIns="0" rtlCol="0" anchor="ctr"/>
          <a:lstStyle/>
          <a:p>
            <a:pPr indent="0" marL="0">
              <a:buNone/>
            </a:pPr>
            <a:r>
              <a:rPr lang="en-US" sz="1000" dirty="0">
                <a:solidFill>
                  <a:srgbClr val="555555"/>
                </a:solidFill>
                <a:latin typeface="Arial" pitchFamily="34" charset="0"/>
                <a:ea typeface="Arial" pitchFamily="34" charset="-122"/>
                <a:cs typeface="Arial" pitchFamily="34" charset="-120"/>
              </a:rPr>
              <a:t>YAML is the canonical definition. CI/CD deploys to Snowflake semantic views (and later Fabric).</a:t>
            </a:r>
            <a:endParaRPr lang="en-US" sz="1000" dirty="0"/>
          </a:p>
        </p:txBody>
      </p:sp>
      <p:sp>
        <p:nvSpPr>
          <p:cNvPr id="18" name="Shape 16"/>
          <p:cNvSpPr/>
          <p:nvPr/>
        </p:nvSpPr>
        <p:spPr>
          <a:xfrm>
            <a:off x="10058400" y="2450592"/>
            <a:ext cx="1188720" cy="320040"/>
          </a:xfrm>
          <a:prstGeom prst="rect">
            <a:avLst>
              <a:gd name="adj" fmla="val 42857"/>
            </a:avLst>
          </a:prstGeom>
          <a:solidFill>
            <a:srgbClr val="00B050"/>
          </a:solidFill>
          <a:ln/>
        </p:spPr>
      </p:sp>
      <p:sp>
        <p:nvSpPr>
          <p:cNvPr id="19" name="Text 17"/>
          <p:cNvSpPr/>
          <p:nvPr/>
        </p:nvSpPr>
        <p:spPr>
          <a:xfrm>
            <a:off x="10058400" y="2450592"/>
            <a:ext cx="1188720" cy="32004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Decided</a:t>
            </a:r>
            <a:endParaRPr lang="en-US" sz="1000" dirty="0"/>
          </a:p>
        </p:txBody>
      </p:sp>
      <p:sp>
        <p:nvSpPr>
          <p:cNvPr id="20" name="Shape 18"/>
          <p:cNvSpPr/>
          <p:nvPr/>
        </p:nvSpPr>
        <p:spPr>
          <a:xfrm>
            <a:off x="548640" y="3200400"/>
            <a:ext cx="11064240" cy="868680"/>
          </a:xfrm>
          <a:prstGeom prst="rect">
            <a:avLst>
              <a:gd name="adj" fmla="val 4211"/>
            </a:avLst>
          </a:prstGeom>
          <a:solidFill>
            <a:srgbClr val="F3F4FB"/>
          </a:solidFill>
          <a:ln/>
        </p:spPr>
      </p:sp>
      <p:sp>
        <p:nvSpPr>
          <p:cNvPr id="21" name="Shape 19"/>
          <p:cNvSpPr/>
          <p:nvPr/>
        </p:nvSpPr>
        <p:spPr>
          <a:xfrm>
            <a:off x="777240" y="3364992"/>
            <a:ext cx="502920" cy="502920"/>
          </a:xfrm>
          <a:prstGeom prst="ellipse">
            <a:avLst/>
          </a:prstGeom>
          <a:solidFill>
            <a:srgbClr val="3068FF"/>
          </a:solidFill>
          <a:ln/>
        </p:spPr>
      </p:sp>
      <p:sp>
        <p:nvSpPr>
          <p:cNvPr id="22" name="Text 20"/>
          <p:cNvSpPr/>
          <p:nvPr/>
        </p:nvSpPr>
        <p:spPr>
          <a:xfrm>
            <a:off x="777240" y="3364992"/>
            <a:ext cx="502920" cy="5029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03</a:t>
            </a:r>
            <a:endParaRPr lang="en-US" sz="1400" dirty="0"/>
          </a:p>
        </p:txBody>
      </p:sp>
      <p:sp>
        <p:nvSpPr>
          <p:cNvPr id="23" name="Text 21"/>
          <p:cNvSpPr/>
          <p:nvPr/>
        </p:nvSpPr>
        <p:spPr>
          <a:xfrm>
            <a:off x="1463040" y="3246120"/>
            <a:ext cx="7772400" cy="320040"/>
          </a:xfrm>
          <a:prstGeom prst="rect">
            <a:avLst/>
          </a:prstGeom>
          <a:noFill/>
          <a:ln/>
        </p:spPr>
        <p:txBody>
          <a:bodyPr wrap="square" lIns="0" tIns="0" rIns="0" bIns="0" rtlCol="0" anchor="ctr"/>
          <a:lstStyle/>
          <a:p>
            <a:pPr indent="0" marL="0">
              <a:buNone/>
            </a:pPr>
            <a:r>
              <a:rPr lang="en-US" sz="1400" b="1" dirty="0">
                <a:solidFill>
                  <a:srgbClr val="003068"/>
                </a:solidFill>
                <a:latin typeface="Arial" pitchFamily="34" charset="0"/>
                <a:ea typeface="Arial" pitchFamily="34" charset="-122"/>
                <a:cs typeface="Arial" pitchFamily="34" charset="-120"/>
              </a:rPr>
              <a:t>FastAPI as the single trust boundary</a:t>
            </a:r>
            <a:endParaRPr lang="en-US" sz="1400" dirty="0"/>
          </a:p>
        </p:txBody>
      </p:sp>
      <p:sp>
        <p:nvSpPr>
          <p:cNvPr id="24" name="Text 22"/>
          <p:cNvSpPr/>
          <p:nvPr/>
        </p:nvSpPr>
        <p:spPr>
          <a:xfrm>
            <a:off x="1463040" y="3584448"/>
            <a:ext cx="7772400" cy="411480"/>
          </a:xfrm>
          <a:prstGeom prst="rect">
            <a:avLst/>
          </a:prstGeom>
          <a:noFill/>
          <a:ln/>
        </p:spPr>
        <p:txBody>
          <a:bodyPr wrap="square" lIns="0" tIns="0" rIns="0" bIns="0" rtlCol="0" anchor="ctr"/>
          <a:lstStyle/>
          <a:p>
            <a:pPr indent="0" marL="0">
              <a:buNone/>
            </a:pPr>
            <a:r>
              <a:rPr lang="en-US" sz="1000" dirty="0">
                <a:solidFill>
                  <a:srgbClr val="555555"/>
                </a:solidFill>
                <a:latin typeface="Arial" pitchFamily="34" charset="0"/>
                <a:ea typeface="Arial" pitchFamily="34" charset="-122"/>
                <a:cs typeface="Arial" pitchFamily="34" charset="-120"/>
              </a:rPr>
              <a:t>All AI agent queries flow through FastAPI. No direct LLM-to-database access. OBO token flow.</a:t>
            </a:r>
            <a:endParaRPr lang="en-US" sz="1000" dirty="0"/>
          </a:p>
        </p:txBody>
      </p:sp>
      <p:sp>
        <p:nvSpPr>
          <p:cNvPr id="25" name="Shape 23"/>
          <p:cNvSpPr/>
          <p:nvPr/>
        </p:nvSpPr>
        <p:spPr>
          <a:xfrm>
            <a:off x="10058400" y="3456432"/>
            <a:ext cx="1188720" cy="320040"/>
          </a:xfrm>
          <a:prstGeom prst="rect">
            <a:avLst>
              <a:gd name="adj" fmla="val 42857"/>
            </a:avLst>
          </a:prstGeom>
          <a:solidFill>
            <a:srgbClr val="00B050"/>
          </a:solidFill>
          <a:ln/>
        </p:spPr>
      </p:sp>
      <p:sp>
        <p:nvSpPr>
          <p:cNvPr id="26" name="Text 24"/>
          <p:cNvSpPr/>
          <p:nvPr/>
        </p:nvSpPr>
        <p:spPr>
          <a:xfrm>
            <a:off x="10058400" y="3456432"/>
            <a:ext cx="1188720" cy="32004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Decided</a:t>
            </a:r>
            <a:endParaRPr lang="en-US" sz="1000" dirty="0"/>
          </a:p>
        </p:txBody>
      </p:sp>
      <p:sp>
        <p:nvSpPr>
          <p:cNvPr id="27" name="Shape 25"/>
          <p:cNvSpPr/>
          <p:nvPr/>
        </p:nvSpPr>
        <p:spPr>
          <a:xfrm>
            <a:off x="548640" y="4206240"/>
            <a:ext cx="11064240" cy="868680"/>
          </a:xfrm>
          <a:prstGeom prst="rect">
            <a:avLst>
              <a:gd name="adj" fmla="val 4211"/>
            </a:avLst>
          </a:prstGeom>
          <a:solidFill>
            <a:srgbClr val="F3F4FB"/>
          </a:solidFill>
          <a:ln/>
        </p:spPr>
      </p:sp>
      <p:sp>
        <p:nvSpPr>
          <p:cNvPr id="28" name="Shape 26"/>
          <p:cNvSpPr/>
          <p:nvPr/>
        </p:nvSpPr>
        <p:spPr>
          <a:xfrm>
            <a:off x="777240" y="4370832"/>
            <a:ext cx="502920" cy="502920"/>
          </a:xfrm>
          <a:prstGeom prst="ellipse">
            <a:avLst/>
          </a:prstGeom>
          <a:solidFill>
            <a:srgbClr val="3068FF"/>
          </a:solidFill>
          <a:ln/>
        </p:spPr>
      </p:sp>
      <p:sp>
        <p:nvSpPr>
          <p:cNvPr id="29" name="Text 27"/>
          <p:cNvSpPr/>
          <p:nvPr/>
        </p:nvSpPr>
        <p:spPr>
          <a:xfrm>
            <a:off x="777240" y="4370832"/>
            <a:ext cx="502920" cy="5029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04</a:t>
            </a:r>
            <a:endParaRPr lang="en-US" sz="1400" dirty="0"/>
          </a:p>
        </p:txBody>
      </p:sp>
      <p:sp>
        <p:nvSpPr>
          <p:cNvPr id="30" name="Text 28"/>
          <p:cNvSpPr/>
          <p:nvPr/>
        </p:nvSpPr>
        <p:spPr>
          <a:xfrm>
            <a:off x="1463040" y="4251960"/>
            <a:ext cx="7772400" cy="320040"/>
          </a:xfrm>
          <a:prstGeom prst="rect">
            <a:avLst/>
          </a:prstGeom>
          <a:noFill/>
          <a:ln/>
        </p:spPr>
        <p:txBody>
          <a:bodyPr wrap="square" lIns="0" tIns="0" rIns="0" bIns="0" rtlCol="0" anchor="ctr"/>
          <a:lstStyle/>
          <a:p>
            <a:pPr indent="0" marL="0">
              <a:buNone/>
            </a:pPr>
            <a:r>
              <a:rPr lang="en-US" sz="1400" b="1" dirty="0">
                <a:solidFill>
                  <a:srgbClr val="003068"/>
                </a:solidFill>
                <a:latin typeface="Arial" pitchFamily="34" charset="0"/>
                <a:ea typeface="Arial" pitchFamily="34" charset="-122"/>
                <a:cs typeface="Arial" pitchFamily="34" charset="-120"/>
              </a:rPr>
              <a:t>Governance: Snowflake RBAC vs Immuta</a:t>
            </a:r>
            <a:endParaRPr lang="en-US" sz="1400" dirty="0"/>
          </a:p>
        </p:txBody>
      </p:sp>
      <p:sp>
        <p:nvSpPr>
          <p:cNvPr id="31" name="Text 29"/>
          <p:cNvSpPr/>
          <p:nvPr/>
        </p:nvSpPr>
        <p:spPr>
          <a:xfrm>
            <a:off x="1463040" y="4590288"/>
            <a:ext cx="7772400" cy="411480"/>
          </a:xfrm>
          <a:prstGeom prst="rect">
            <a:avLst/>
          </a:prstGeom>
          <a:noFill/>
          <a:ln/>
        </p:spPr>
        <p:txBody>
          <a:bodyPr wrap="square" lIns="0" tIns="0" rIns="0" bIns="0" rtlCol="0" anchor="ctr"/>
          <a:lstStyle/>
          <a:p>
            <a:pPr indent="0" marL="0">
              <a:buNone/>
            </a:pPr>
            <a:r>
              <a:rPr lang="en-US" sz="1000" dirty="0">
                <a:solidFill>
                  <a:srgbClr val="555555"/>
                </a:solidFill>
                <a:latin typeface="Arial" pitchFamily="34" charset="0"/>
                <a:ea typeface="Arial" pitchFamily="34" charset="-122"/>
                <a:cs typeface="Arial" pitchFamily="34" charset="-120"/>
              </a:rPr>
              <a:t>Need to resolve whether Snowflake native RBAC is sufficient or Immuta is required for parity with Ranger.</a:t>
            </a:r>
            <a:endParaRPr lang="en-US" sz="1000" dirty="0"/>
          </a:p>
        </p:txBody>
      </p:sp>
      <p:sp>
        <p:nvSpPr>
          <p:cNvPr id="32" name="Shape 30"/>
          <p:cNvSpPr/>
          <p:nvPr/>
        </p:nvSpPr>
        <p:spPr>
          <a:xfrm>
            <a:off x="10058400" y="4462272"/>
            <a:ext cx="1188720" cy="320040"/>
          </a:xfrm>
          <a:prstGeom prst="rect">
            <a:avLst>
              <a:gd name="adj" fmla="val 42857"/>
            </a:avLst>
          </a:prstGeom>
          <a:solidFill>
            <a:srgbClr val="F26B43"/>
          </a:solidFill>
          <a:ln/>
        </p:spPr>
      </p:sp>
      <p:sp>
        <p:nvSpPr>
          <p:cNvPr id="33" name="Text 31"/>
          <p:cNvSpPr/>
          <p:nvPr/>
        </p:nvSpPr>
        <p:spPr>
          <a:xfrm>
            <a:off x="10058400" y="4462272"/>
            <a:ext cx="1188720" cy="32004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Open</a:t>
            </a:r>
            <a:endParaRPr lang="en-US" sz="1000" dirty="0"/>
          </a:p>
        </p:txBody>
      </p:sp>
      <p:sp>
        <p:nvSpPr>
          <p:cNvPr id="34" name="Shape 32"/>
          <p:cNvSpPr/>
          <p:nvPr/>
        </p:nvSpPr>
        <p:spPr>
          <a:xfrm>
            <a:off x="548640" y="5212080"/>
            <a:ext cx="11064240" cy="868680"/>
          </a:xfrm>
          <a:prstGeom prst="rect">
            <a:avLst>
              <a:gd name="adj" fmla="val 4211"/>
            </a:avLst>
          </a:prstGeom>
          <a:solidFill>
            <a:srgbClr val="F3F4FB"/>
          </a:solidFill>
          <a:ln/>
        </p:spPr>
      </p:sp>
      <p:sp>
        <p:nvSpPr>
          <p:cNvPr id="35" name="Shape 33"/>
          <p:cNvSpPr/>
          <p:nvPr/>
        </p:nvSpPr>
        <p:spPr>
          <a:xfrm>
            <a:off x="777240" y="5376672"/>
            <a:ext cx="502920" cy="502920"/>
          </a:xfrm>
          <a:prstGeom prst="ellipse">
            <a:avLst/>
          </a:prstGeom>
          <a:solidFill>
            <a:srgbClr val="3068FF"/>
          </a:solidFill>
          <a:ln/>
        </p:spPr>
      </p:sp>
      <p:sp>
        <p:nvSpPr>
          <p:cNvPr id="36" name="Text 34"/>
          <p:cNvSpPr/>
          <p:nvPr/>
        </p:nvSpPr>
        <p:spPr>
          <a:xfrm>
            <a:off x="777240" y="5376672"/>
            <a:ext cx="502920" cy="5029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05</a:t>
            </a:r>
            <a:endParaRPr lang="en-US" sz="1400" dirty="0"/>
          </a:p>
        </p:txBody>
      </p:sp>
      <p:sp>
        <p:nvSpPr>
          <p:cNvPr id="37" name="Text 35"/>
          <p:cNvSpPr/>
          <p:nvPr/>
        </p:nvSpPr>
        <p:spPr>
          <a:xfrm>
            <a:off x="1463040" y="5257800"/>
            <a:ext cx="7772400" cy="320040"/>
          </a:xfrm>
          <a:prstGeom prst="rect">
            <a:avLst/>
          </a:prstGeom>
          <a:noFill/>
          <a:ln/>
        </p:spPr>
        <p:txBody>
          <a:bodyPr wrap="square" lIns="0" tIns="0" rIns="0" bIns="0" rtlCol="0" anchor="ctr"/>
          <a:lstStyle/>
          <a:p>
            <a:pPr indent="0" marL="0">
              <a:buNone/>
            </a:pPr>
            <a:r>
              <a:rPr lang="en-US" sz="1400" b="1" dirty="0">
                <a:solidFill>
                  <a:srgbClr val="003068"/>
                </a:solidFill>
                <a:latin typeface="Arial" pitchFamily="34" charset="0"/>
                <a:ea typeface="Arial" pitchFamily="34" charset="-122"/>
                <a:cs typeface="Arial" pitchFamily="34" charset="-120"/>
              </a:rPr>
              <a:t>Fabric timeline and trigger</a:t>
            </a:r>
            <a:endParaRPr lang="en-US" sz="1400" dirty="0"/>
          </a:p>
        </p:txBody>
      </p:sp>
      <p:sp>
        <p:nvSpPr>
          <p:cNvPr id="38" name="Text 36"/>
          <p:cNvSpPr/>
          <p:nvPr/>
        </p:nvSpPr>
        <p:spPr>
          <a:xfrm>
            <a:off x="1463040" y="5596128"/>
            <a:ext cx="7772400" cy="411480"/>
          </a:xfrm>
          <a:prstGeom prst="rect">
            <a:avLst/>
          </a:prstGeom>
          <a:noFill/>
          <a:ln/>
        </p:spPr>
        <p:txBody>
          <a:bodyPr wrap="square" lIns="0" tIns="0" rIns="0" bIns="0" rtlCol="0" anchor="ctr"/>
          <a:lstStyle/>
          <a:p>
            <a:pPr indent="0" marL="0">
              <a:buNone/>
            </a:pPr>
            <a:r>
              <a:rPr lang="en-US" sz="1000" dirty="0">
                <a:solidFill>
                  <a:srgbClr val="555555"/>
                </a:solidFill>
                <a:latin typeface="Arial" pitchFamily="34" charset="0"/>
                <a:ea typeface="Arial" pitchFamily="34" charset="-122"/>
                <a:cs typeface="Arial" pitchFamily="34" charset="-120"/>
              </a:rPr>
              <a:t>Define the criteria that triggers Phase 2 (e.g., Power BI migration complete, Fabric capacity provisioned).</a:t>
            </a:r>
            <a:endParaRPr lang="en-US" sz="1000" dirty="0"/>
          </a:p>
        </p:txBody>
      </p:sp>
      <p:sp>
        <p:nvSpPr>
          <p:cNvPr id="39" name="Shape 37"/>
          <p:cNvSpPr/>
          <p:nvPr/>
        </p:nvSpPr>
        <p:spPr>
          <a:xfrm>
            <a:off x="10058400" y="5468112"/>
            <a:ext cx="1188720" cy="320040"/>
          </a:xfrm>
          <a:prstGeom prst="rect">
            <a:avLst>
              <a:gd name="adj" fmla="val 42857"/>
            </a:avLst>
          </a:prstGeom>
          <a:solidFill>
            <a:srgbClr val="F26B43"/>
          </a:solidFill>
          <a:ln/>
        </p:spPr>
      </p:sp>
      <p:sp>
        <p:nvSpPr>
          <p:cNvPr id="40" name="Text 38"/>
          <p:cNvSpPr/>
          <p:nvPr/>
        </p:nvSpPr>
        <p:spPr>
          <a:xfrm>
            <a:off x="10058400" y="5468112"/>
            <a:ext cx="1188720" cy="32004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Open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3068"/>
        </a:solidFill>
      </p:bgPr>
    </p:bg>
    <p:spTree>
      <p:nvGrpSpPr>
        <p:cNvPr id="1" name=""/>
        <p:cNvGrpSpPr/>
        <p:nvPr/>
      </p:nvGrpSpPr>
      <p:grpSpPr>
        <a:xfrm>
          <a:off x="0" y="0"/>
          <a:ext cx="0" cy="0"/>
          <a:chOff x="0" y="0"/>
          <a:chExt cx="0" cy="0"/>
        </a:xfrm>
      </p:grpSpPr>
      <p:sp>
        <p:nvSpPr>
          <p:cNvPr id="2" name="Text 0"/>
          <p:cNvSpPr/>
          <p:nvPr/>
        </p:nvSpPr>
        <p:spPr>
          <a:xfrm>
            <a:off x="731520" y="731520"/>
            <a:ext cx="9144000" cy="73152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References + repo artifacts</a:t>
            </a:r>
            <a:endParaRPr lang="en-US" sz="3000" dirty="0"/>
          </a:p>
        </p:txBody>
      </p:sp>
      <p:sp>
        <p:nvSpPr>
          <p:cNvPr id="3" name="Shape 1"/>
          <p:cNvSpPr/>
          <p:nvPr/>
        </p:nvSpPr>
        <p:spPr>
          <a:xfrm>
            <a:off x="731520" y="1554480"/>
            <a:ext cx="2286000" cy="54864"/>
          </a:xfrm>
          <a:prstGeom prst="rect">
            <a:avLst/>
          </a:prstGeom>
          <a:solidFill>
            <a:srgbClr val="2AD2C9"/>
          </a:solidFill>
          <a:ln/>
        </p:spPr>
      </p:sp>
      <p:sp>
        <p:nvSpPr>
          <p:cNvPr id="4" name="Text 2"/>
          <p:cNvSpPr/>
          <p:nvPr/>
        </p:nvSpPr>
        <p:spPr>
          <a:xfrm>
            <a:off x="731520" y="1828800"/>
            <a:ext cx="10058400" cy="365760"/>
          </a:xfrm>
          <a:prstGeom prst="rect">
            <a:avLst/>
          </a:prstGeom>
          <a:noFill/>
          <a:ln/>
        </p:spPr>
        <p:txBody>
          <a:bodyPr wrap="square" rtlCol="0" anchor="ctr"/>
          <a:lstStyle/>
          <a:p>
            <a:pPr indent="0" marL="0">
              <a:buNone/>
            </a:pPr>
            <a:r>
              <a:rPr lang="en-US" sz="1100" dirty="0">
                <a:solidFill>
                  <a:srgbClr val="2AD2C9"/>
                </a:solidFill>
                <a:latin typeface="Courier New" pitchFamily="34" charset="0"/>
                <a:ea typeface="Courier New" pitchFamily="34" charset="-122"/>
                <a:cs typeface="Courier New" pitchFamily="34" charset="-120"/>
              </a:rPr>
              <a:t>Snowflake Cortex Analyst → docs.snowflake.com/en/user-guide/snowflake-cortex/cortex-analyst</a:t>
            </a:r>
            <a:endParaRPr lang="en-US" sz="1100" dirty="0"/>
          </a:p>
        </p:txBody>
      </p:sp>
      <p:sp>
        <p:nvSpPr>
          <p:cNvPr id="5" name="Text 3"/>
          <p:cNvSpPr/>
          <p:nvPr/>
        </p:nvSpPr>
        <p:spPr>
          <a:xfrm>
            <a:off x="731520" y="2286000"/>
            <a:ext cx="10058400" cy="365760"/>
          </a:xfrm>
          <a:prstGeom prst="rect">
            <a:avLst/>
          </a:prstGeom>
          <a:noFill/>
          <a:ln/>
        </p:spPr>
        <p:txBody>
          <a:bodyPr wrap="square" rtlCol="0" anchor="ctr"/>
          <a:lstStyle/>
          <a:p>
            <a:pPr indent="0" marL="0">
              <a:buNone/>
            </a:pPr>
            <a:r>
              <a:rPr lang="en-US" sz="1100" dirty="0">
                <a:solidFill>
                  <a:srgbClr val="2AD2C9"/>
                </a:solidFill>
                <a:latin typeface="Courier New" pitchFamily="34" charset="0"/>
                <a:ea typeface="Courier New" pitchFamily="34" charset="-122"/>
                <a:cs typeface="Courier New" pitchFamily="34" charset="-120"/>
              </a:rPr>
              <a:t>Cortex Analyst REST API → docs.snowflake.com/.../cortex-analyst/rest-api</a:t>
            </a:r>
            <a:endParaRPr lang="en-US" sz="1100" dirty="0"/>
          </a:p>
        </p:txBody>
      </p:sp>
      <p:sp>
        <p:nvSpPr>
          <p:cNvPr id="6" name="Text 4"/>
          <p:cNvSpPr/>
          <p:nvPr/>
        </p:nvSpPr>
        <p:spPr>
          <a:xfrm>
            <a:off x="731520" y="2743200"/>
            <a:ext cx="10058400" cy="365760"/>
          </a:xfrm>
          <a:prstGeom prst="rect">
            <a:avLst/>
          </a:prstGeom>
          <a:noFill/>
          <a:ln/>
        </p:spPr>
        <p:txBody>
          <a:bodyPr wrap="square" rtlCol="0" anchor="ctr"/>
          <a:lstStyle/>
          <a:p>
            <a:pPr indent="0" marL="0">
              <a:buNone/>
            </a:pPr>
            <a:r>
              <a:rPr lang="en-US" sz="1100" dirty="0">
                <a:solidFill>
                  <a:srgbClr val="2AD2C9"/>
                </a:solidFill>
                <a:latin typeface="Courier New" pitchFamily="34" charset="0"/>
                <a:ea typeface="Courier New" pitchFamily="34" charset="-122"/>
                <a:cs typeface="Courier New" pitchFamily="34" charset="-120"/>
              </a:rPr>
              <a:t>Semantic Views → docs.snowflake.com/en/user-guide/views-semantic/overview</a:t>
            </a:r>
            <a:endParaRPr lang="en-US" sz="1100" dirty="0"/>
          </a:p>
        </p:txBody>
      </p:sp>
      <p:sp>
        <p:nvSpPr>
          <p:cNvPr id="7" name="Text 5"/>
          <p:cNvSpPr/>
          <p:nvPr/>
        </p:nvSpPr>
        <p:spPr>
          <a:xfrm>
            <a:off x="731520" y="3200400"/>
            <a:ext cx="10058400" cy="365760"/>
          </a:xfrm>
          <a:prstGeom prst="rect">
            <a:avLst/>
          </a:prstGeom>
          <a:noFill/>
          <a:ln/>
        </p:spPr>
        <p:txBody>
          <a:bodyPr wrap="square" rtlCol="0" anchor="ctr"/>
          <a:lstStyle/>
          <a:p>
            <a:pPr indent="0" marL="0">
              <a:buNone/>
            </a:pPr>
            <a:r>
              <a:rPr lang="en-US" sz="1100" dirty="0">
                <a:solidFill>
                  <a:srgbClr val="2AD2C9"/>
                </a:solidFill>
                <a:latin typeface="Courier New" pitchFamily="34" charset="0"/>
                <a:ea typeface="Courier New" pitchFamily="34" charset="-122"/>
                <a:cs typeface="Courier New" pitchFamily="34" charset="-120"/>
              </a:rPr>
              <a:t>Cortex Agents → docs.snowflake.com/en/user-guide/snowflake-cortex/cortex-agents</a:t>
            </a:r>
            <a:endParaRPr lang="en-US" sz="1100" dirty="0"/>
          </a:p>
        </p:txBody>
      </p:sp>
      <p:sp>
        <p:nvSpPr>
          <p:cNvPr id="8" name="Text 6"/>
          <p:cNvSpPr/>
          <p:nvPr/>
        </p:nvSpPr>
        <p:spPr>
          <a:xfrm>
            <a:off x="731520" y="3657600"/>
            <a:ext cx="10058400" cy="365760"/>
          </a:xfrm>
          <a:prstGeom prst="rect">
            <a:avLst/>
          </a:prstGeom>
          <a:noFill/>
          <a:ln/>
        </p:spPr>
        <p:txBody>
          <a:bodyPr wrap="square" rtlCol="0" anchor="ctr"/>
          <a:lstStyle/>
          <a:p>
            <a:pPr indent="0" marL="0">
              <a:buNone/>
            </a:pPr>
            <a:r>
              <a:rPr lang="en-US" sz="1100" dirty="0">
                <a:solidFill>
                  <a:srgbClr val="2AD2C9"/>
                </a:solidFill>
                <a:latin typeface="Courier New" pitchFamily="34" charset="0"/>
                <a:ea typeface="Courier New" pitchFamily="34" charset="-122"/>
                <a:cs typeface="Courier New" pitchFamily="34" charset="-120"/>
              </a:rPr>
              <a:t>Fabric Data Agent (GA) → learn.microsoft.com/en-us/fabric/data-science/concept-data-agent</a:t>
            </a:r>
            <a:endParaRPr lang="en-US" sz="1100" dirty="0"/>
          </a:p>
        </p:txBody>
      </p:sp>
      <p:sp>
        <p:nvSpPr>
          <p:cNvPr id="9" name="Text 7"/>
          <p:cNvSpPr/>
          <p:nvPr/>
        </p:nvSpPr>
        <p:spPr>
          <a:xfrm>
            <a:off x="731520" y="4114800"/>
            <a:ext cx="10058400" cy="365760"/>
          </a:xfrm>
          <a:prstGeom prst="rect">
            <a:avLst/>
          </a:prstGeom>
          <a:noFill/>
          <a:ln/>
        </p:spPr>
        <p:txBody>
          <a:bodyPr wrap="square" rtlCol="0" anchor="ctr"/>
          <a:lstStyle/>
          <a:p>
            <a:pPr indent="0" marL="0">
              <a:buNone/>
            </a:pPr>
            <a:r>
              <a:rPr lang="en-US" sz="1100" dirty="0">
                <a:solidFill>
                  <a:srgbClr val="2AD2C9"/>
                </a:solidFill>
                <a:latin typeface="Courier New" pitchFamily="34" charset="0"/>
                <a:ea typeface="Courier New" pitchFamily="34" charset="-122"/>
                <a:cs typeface="Courier New" pitchFamily="34" charset="-120"/>
              </a:rPr>
              <a:t>Fabric + Foundry Integration → learn.microsoft.com/en-us/azure/foundry/agents/how-to/tools/fabric</a:t>
            </a:r>
            <a:endParaRPr lang="en-US" sz="1100" dirty="0"/>
          </a:p>
        </p:txBody>
      </p:sp>
      <p:sp>
        <p:nvSpPr>
          <p:cNvPr id="10" name="Text 8"/>
          <p:cNvSpPr/>
          <p:nvPr/>
        </p:nvSpPr>
        <p:spPr>
          <a:xfrm>
            <a:off x="731520" y="4572000"/>
            <a:ext cx="10058400" cy="365760"/>
          </a:xfrm>
          <a:prstGeom prst="rect">
            <a:avLst/>
          </a:prstGeom>
          <a:noFill/>
          <a:ln/>
        </p:spPr>
        <p:txBody>
          <a:bodyPr wrap="square" rtlCol="0" anchor="ctr"/>
          <a:lstStyle/>
          <a:p>
            <a:pPr indent="0" marL="0">
              <a:buNone/>
            </a:pPr>
            <a:r>
              <a:rPr lang="en-US" sz="1100" dirty="0">
                <a:solidFill>
                  <a:srgbClr val="2AD2C9"/>
                </a:solidFill>
                <a:latin typeface="Courier New" pitchFamily="34" charset="0"/>
                <a:ea typeface="Courier New" pitchFamily="34" charset="-122"/>
                <a:cs typeface="Courier New" pitchFamily="34" charset="-120"/>
              </a:rPr>
              <a:t>Cloud Adoption Framework: Data for AI Agents → learn.microsoft.com/.../ai-agents/data-architecture-plan</a:t>
            </a:r>
            <a:endParaRPr lang="en-US" sz="1100" dirty="0"/>
          </a:p>
        </p:txBody>
      </p:sp>
      <p:sp>
        <p:nvSpPr>
          <p:cNvPr id="11" name="Text 9"/>
          <p:cNvSpPr/>
          <p:nvPr/>
        </p:nvSpPr>
        <p:spPr>
          <a:xfrm>
            <a:off x="731520" y="5303520"/>
            <a:ext cx="365760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Repo artifacts:</a:t>
            </a:r>
            <a:endParaRPr lang="en-US" sz="1400" dirty="0"/>
          </a:p>
        </p:txBody>
      </p:sp>
      <p:sp>
        <p:nvSpPr>
          <p:cNvPr id="12" name="Text 10"/>
          <p:cNvSpPr/>
          <p:nvPr/>
        </p:nvSpPr>
        <p:spPr>
          <a:xfrm>
            <a:off x="731520" y="5669280"/>
            <a:ext cx="10058400" cy="914400"/>
          </a:xfrm>
          <a:prstGeom prst="rect">
            <a:avLst/>
          </a:prstGeom>
          <a:noFill/>
          <a:ln/>
        </p:spPr>
        <p:txBody>
          <a:bodyPr wrap="square" rtlCol="0" anchor="ctr"/>
          <a:lstStyle/>
          <a:p>
            <a:pPr indent="0" marL="0">
              <a:lnSpc>
                <a:spcPct val="140000"/>
              </a:lnSpc>
              <a:buNone/>
            </a:pPr>
            <a:r>
              <a:rPr lang="en-US" sz="1100" dirty="0">
                <a:solidFill>
                  <a:srgbClr val="2AD2C9"/>
                </a:solidFill>
                <a:latin typeface="Courier New" pitchFamily="34" charset="0"/>
                <a:ea typeface="Courier New" pitchFamily="34" charset="-122"/>
                <a:cs typeface="Courier New" pitchFamily="34" charset="-120"/>
              </a:rPr>
              <a:t>docs/fastapi-trust-boundary-spec.yaml</a:t>
            </a:r>
            <a:endParaRPr lang="en-US" sz="1100" dirty="0"/>
          </a:p>
          <a:p>
            <a:pPr indent="0" marL="0">
              <a:lnSpc>
                <a:spcPct val="140000"/>
              </a:lnSpc>
              <a:buNone/>
            </a:pPr>
            <a:r>
              <a:rPr lang="en-US" sz="1100" dirty="0">
                <a:solidFill>
                  <a:srgbClr val="2AD2C9"/>
                </a:solidFill>
                <a:latin typeface="Courier New" pitchFamily="34" charset="0"/>
                <a:ea typeface="Courier New" pitchFamily="34" charset="-122"/>
                <a:cs typeface="Courier New" pitchFamily="34" charset="-120"/>
              </a:rPr>
              <a:t>docs/semantic-model-template.yaml</a:t>
            </a:r>
            <a:endParaRPr lang="en-US" sz="1100" dirty="0"/>
          </a:p>
          <a:p>
            <a:pPr indent="0" marL="0">
              <a:lnSpc>
                <a:spcPct val="140000"/>
              </a:lnSpc>
              <a:buNone/>
            </a:pPr>
            <a:r>
              <a:rPr lang="en-US" sz="1100" dirty="0">
                <a:solidFill>
                  <a:srgbClr val="2AD2C9"/>
                </a:solidFill>
                <a:latin typeface="Courier New" pitchFamily="34" charset="0"/>
                <a:ea typeface="Courier New" pitchFamily="34" charset="-122"/>
                <a:cs typeface="Courier New" pitchFamily="34" charset="-120"/>
              </a:rPr>
              <a:t>decks/rbc-assist-semantic-layer-architecture.pptx</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RBC Assist — Snowflake Semantic Layer Architecture</dc:title>
  <dc:subject>PptxGenJS Presentation</dc:subject>
  <dc:creator>George Chilakos</dc:creator>
  <cp:lastModifiedBy>George Chilakos</cp:lastModifiedBy>
  <cp:revision>1</cp:revision>
  <dcterms:created xsi:type="dcterms:W3CDTF">2026-04-15T22:14:22Z</dcterms:created>
  <dcterms:modified xsi:type="dcterms:W3CDTF">2026-04-15T22:14:22Z</dcterms:modified>
</cp:coreProperties>
</file>